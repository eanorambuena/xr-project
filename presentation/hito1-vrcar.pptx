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85455" y="2651760"/>
            <a:ext cx="5669280" cy="5669280"/>
          </a:xfrm>
          <a:prstGeom prst="ellipse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99855" y="3566160"/>
            <a:ext cx="3840480" cy="384048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57055" y="3977640"/>
            <a:ext cx="1828800" cy="1828800"/>
          </a:xfrm>
          <a:prstGeom prst="ellipse">
            <a:avLst/>
          </a:prstGeom>
          <a:solidFill>
            <a:srgbClr val="111B2E"/>
          </a:solidFill>
          <a:ln w="19050">
            <a:solidFill>
              <a:srgbClr val="35D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704527" y="4782312"/>
            <a:ext cx="1133856" cy="384048"/>
          </a:xfrm>
          <a:prstGeom prst="roundRect">
            <a:avLst>
              <a:gd name="adj" fmla="val 50000"/>
            </a:avLst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978847" y="4581144"/>
            <a:ext cx="585216" cy="256032"/>
          </a:xfrm>
          <a:prstGeom prst="roundRect">
            <a:avLst>
              <a:gd name="adj" fmla="val 50000"/>
            </a:avLst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50831" y="5056632"/>
            <a:ext cx="219456" cy="2194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472623" y="5056632"/>
            <a:ext cx="219456" cy="219456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173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spc="240">
                <a:solidFill>
                  <a:srgbClr val="35D0C7"/>
                </a:solidFill>
                <a:latin typeface="Calibri"/>
              </a:rPr>
              <a:t>IDI 3185 · REALIDAD EXTENDIDA — HITO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8778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F4F6FB"/>
                </a:solidFill>
                <a:latin typeface="Calibri"/>
              </a:rPr>
              <a:t>VR Car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75895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A9B4C9"/>
                </a:solidFill>
                <a:latin typeface="Calibri"/>
              </a:rPr>
              <a:t>Un simulador de conducción en realidad virtual para aprender, con el propio cuerpo, el tamaño real del auto y el juicio de distancias.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617720"/>
            <a:ext cx="2194560" cy="25400"/>
          </a:xfrm>
          <a:prstGeom prst="rect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84632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6FB"/>
                </a:solidFill>
                <a:latin typeface="Calibri"/>
              </a:rPr>
              <a:t>Estefanía Pakarati  ·  Emmanuel Norambuena  ·  Matías Harrison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A9B4C9"/>
                </a:solidFill>
                <a:latin typeface="Calibri"/>
              </a:rPr>
              <a:t>Pontificia Universidad Católica de Chile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57784"/>
            <a:ext cx="256032" cy="91440"/>
          </a:xfrm>
          <a:prstGeom prst="rect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48056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220">
                <a:solidFill>
                  <a:srgbClr val="35D0C7"/>
                </a:solidFill>
                <a:latin typeface="Calibri"/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4F6FB"/>
                </a:solidFill>
                <a:latin typeface="Calibri"/>
              </a:rPr>
              <a:t>Aprender a conducir es aprender a
sentir el tamaño del auto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A9B4C9"/>
                </a:solidFill>
                <a:latin typeface="Calibri"/>
              </a:rPr>
              <a:t>02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A9B4C9"/>
                </a:solidFill>
                <a:latin typeface="Calibri"/>
              </a:rPr>
              <a:t>VR CAR · IDI 3185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3310128" cy="356616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2350008"/>
            <a:ext cx="457200" cy="38100"/>
          </a:xfrm>
          <a:prstGeom prst="rect">
            <a:avLst/>
          </a:prstGeom>
          <a:solidFill>
            <a:srgbClr val="35D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560320"/>
            <a:ext cx="279806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4F6FB"/>
                </a:solidFill>
                <a:latin typeface="Calibri"/>
              </a:rPr>
              <a:t>¿Dónde termina el auto?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474720"/>
            <a:ext cx="2798064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9B4C9"/>
                </a:solidFill>
                <a:latin typeface="Calibri"/>
              </a:rPr>
              <a:t>Conductores novatos no saben, con su cuerpo, dónde terminan las esquinas del vehículo ni qué tan cerca pasan de un obstáculo.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057400"/>
            <a:ext cx="3310128" cy="356616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62272" y="2350008"/>
            <a:ext cx="457200" cy="38100"/>
          </a:xfrm>
          <a:prstGeom prst="rect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2560320"/>
            <a:ext cx="279806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4F6FB"/>
                </a:solidFill>
                <a:latin typeface="Calibri"/>
              </a:rPr>
              <a:t>Solo se aprende adentro del auto real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3474720"/>
            <a:ext cx="2798064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9B4C9"/>
                </a:solidFill>
                <a:latin typeface="Calibri"/>
              </a:rPr>
              <a:t>Ese sentido propioceptivo hoy se adquiere en clases prácticas: caras, de disponibilidad limitada y con margen de error nulo.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2057400"/>
            <a:ext cx="3310128" cy="356616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8432" y="2350008"/>
            <a:ext cx="457200" cy="38100"/>
          </a:xfrm>
          <a:prstGeom prst="rect">
            <a:avLst/>
          </a:prstGeom>
          <a:solidFill>
            <a:srgbClr val="35D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432" y="2560320"/>
            <a:ext cx="279806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4F6FB"/>
                </a:solidFill>
                <a:latin typeface="Calibri"/>
              </a:rPr>
              <a:t>Los simuladores 2D no alcanzan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2" y="3474720"/>
            <a:ext cx="2798064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9B4C9"/>
                </a:solidFill>
                <a:latin typeface="Calibri"/>
              </a:rPr>
              <a:t>Pantalla plana, sin escala 1:1 ni profundidad estereoscópica — entrenan reglas y reacciones, no el juicio corporal de espacio.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57784"/>
            <a:ext cx="256032" cy="91440"/>
          </a:xfrm>
          <a:prstGeom prst="rect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48056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220">
                <a:solidFill>
                  <a:srgbClr val="35D0C7"/>
                </a:solidFill>
                <a:latin typeface="Calibri"/>
              </a:rPr>
              <a:t>POR QUÉ VR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4F6FB"/>
                </a:solidFill>
                <a:latin typeface="Calibri"/>
              </a:rPr>
              <a:t>2D entrena reacciones. VR entrena percepción.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A9B4C9"/>
                </a:solidFill>
                <a:latin typeface="Calibri"/>
              </a:rPr>
              <a:t>03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A9B4C9"/>
                </a:solidFill>
                <a:latin typeface="Calibri"/>
              </a:rPr>
              <a:t>VR CAR · IDI 3185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5120640" cy="33832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89320" y="2148840"/>
            <a:ext cx="5120640" cy="3383280"/>
          </a:xfrm>
          <a:prstGeom prst="roundRect">
            <a:avLst>
              <a:gd name="adj" fmla="val 5000"/>
            </a:avLst>
          </a:prstGeom>
          <a:solidFill>
            <a:srgbClr val="0E2A28"/>
          </a:solidFill>
          <a:ln w="12700">
            <a:solidFill>
              <a:srgbClr val="35D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 spc="150">
                <a:solidFill>
                  <a:srgbClr val="A9B4C9"/>
                </a:solidFill>
                <a:latin typeface="Calibri"/>
              </a:rPr>
              <a:t>SIMULADOR 2D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17520"/>
            <a:ext cx="44805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  <a:buClr>
                <a:srgbClr val="A9B4C9"/>
              </a:buClr>
              <a:buFont typeface="Calibri"/>
              <a:buChar char="—"/>
            </a:pPr>
            <a:r>
              <a:rPr sz="1600" b="0" i="0">
                <a:solidFill>
                  <a:srgbClr val="F4F6FB"/>
                </a:solidFill>
                <a:latin typeface="Calibri"/>
              </a:rPr>
              <a:t>Pantalla plana, sin estereopsis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  <a:buClr>
                <a:srgbClr val="A9B4C9"/>
              </a:buClr>
              <a:buFont typeface="Calibri"/>
              <a:buChar char="—"/>
            </a:pPr>
            <a:r>
              <a:rPr sz="1600" b="0" i="0">
                <a:solidFill>
                  <a:srgbClr val="F4F6FB"/>
                </a:solidFill>
                <a:latin typeface="Calibri"/>
              </a:rPr>
              <a:t>Escala del auto no es 1:1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  <a:buClr>
                <a:srgbClr val="A9B4C9"/>
              </a:buClr>
              <a:buFont typeface="Calibri"/>
              <a:buChar char="—"/>
            </a:pPr>
            <a:r>
              <a:rPr sz="1600" b="0" i="0">
                <a:solidFill>
                  <a:srgbClr val="F4F6FB"/>
                </a:solidFill>
                <a:latin typeface="Calibri"/>
              </a:rPr>
              <a:t>Sin tracking de cabeza/cuerpo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  <a:buClr>
                <a:srgbClr val="A9B4C9"/>
              </a:buClr>
              <a:buFont typeface="Calibri"/>
              <a:buChar char="—"/>
            </a:pPr>
            <a:r>
              <a:rPr sz="1600" b="0" i="0">
                <a:solidFill>
                  <a:srgbClr val="F4F6FB"/>
                </a:solidFill>
                <a:latin typeface="Calibri"/>
              </a:rPr>
              <a:t>Entrena reglas y tiempos de reacción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42316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 spc="150">
                <a:solidFill>
                  <a:srgbClr val="35D0C7"/>
                </a:solidFill>
                <a:latin typeface="Calibri"/>
              </a:rPr>
              <a:t>SIMULADOR VR (PROPUESTA)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017520"/>
            <a:ext cx="44805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  <a:buClr>
                <a:srgbClr val="FF7A33"/>
              </a:buClr>
              <a:buFont typeface="Calibri"/>
              <a:buChar char="—"/>
            </a:pPr>
            <a:r>
              <a:rPr sz="1600" b="0" i="0">
                <a:solidFill>
                  <a:srgbClr val="F4F6FB"/>
                </a:solidFill>
                <a:latin typeface="Calibri"/>
              </a:rPr>
              <a:t>Estereopsis + paralaje de movimiento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  <a:buClr>
                <a:srgbClr val="FF7A33"/>
              </a:buClr>
              <a:buFont typeface="Calibri"/>
              <a:buChar char="—"/>
            </a:pPr>
            <a:r>
              <a:rPr sz="1600" b="0" i="0">
                <a:solidFill>
                  <a:srgbClr val="F4F6FB"/>
                </a:solidFill>
                <a:latin typeface="Calibri"/>
              </a:rPr>
              <a:t>Habitáculo y auto a escala real 1:1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  <a:buClr>
                <a:srgbClr val="FF7A33"/>
              </a:buClr>
              <a:buFont typeface="Calibri"/>
              <a:buChar char="—"/>
            </a:pPr>
            <a:r>
              <a:rPr sz="1600" b="0" i="0">
                <a:solidFill>
                  <a:srgbClr val="F4F6FB"/>
                </a:solidFill>
                <a:latin typeface="Calibri"/>
              </a:rPr>
              <a:t>Tracking de cabeza como referencia corporal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  <a:buClr>
                <a:srgbClr val="FF7A33"/>
              </a:buClr>
              <a:buFont typeface="Calibri"/>
              <a:buChar char="—"/>
            </a:pPr>
            <a:r>
              <a:rPr sz="1600" b="0" i="0">
                <a:solidFill>
                  <a:srgbClr val="F4F6FB"/>
                </a:solidFill>
                <a:latin typeface="Calibri"/>
              </a:rPr>
              <a:t>Entrena juicio espacial del propio cuerpo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57784"/>
            <a:ext cx="256032" cy="91440"/>
          </a:xfrm>
          <a:prstGeom prst="rect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48056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220">
                <a:solidFill>
                  <a:srgbClr val="35D0C7"/>
                </a:solidFill>
                <a:latin typeface="Calibri"/>
              </a:rPr>
              <a:t>ESTADO DEL ARTE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4F6FB"/>
                </a:solidFill>
                <a:latin typeface="Calibri"/>
              </a:rPr>
              <a:t>Se entrena para anticipar riesgos —
no para juzgar tamaño y distancia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A9B4C9"/>
                </a:solidFill>
                <a:latin typeface="Calibri"/>
              </a:rPr>
              <a:t>04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A9B4C9"/>
                </a:solidFill>
                <a:latin typeface="Calibri"/>
              </a:rPr>
              <a:t>VR CAR · IDI 3185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148840"/>
            <a:ext cx="457200" cy="457200"/>
          </a:xfrm>
          <a:prstGeom prst="ellipse">
            <a:avLst/>
          </a:prstGeom>
          <a:solidFill>
            <a:srgbClr val="111B2E"/>
          </a:solidFill>
          <a:ln w="19050">
            <a:solidFill>
              <a:srgbClr val="35D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5D0C7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10312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4F6FB"/>
                </a:solidFill>
                <a:latin typeface="Calibri"/>
              </a:rPr>
              <a:t>Agrawal et al. (2018)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532888"/>
            <a:ext cx="8778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9B4C9"/>
                </a:solidFill>
                <a:latin typeface="Calibri"/>
              </a:rPr>
              <a:t>Entrenamiento VR mejora la anticipación de peligros latentes en conductores jóvenes.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111B2E"/>
          </a:solidFill>
          <a:ln w="19050">
            <a:solidFill>
              <a:srgbClr val="35D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5D0C7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33756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4F6FB"/>
                </a:solidFill>
                <a:latin typeface="Calibri"/>
              </a:rPr>
              <a:t>Chidambaram et al. (2025) — DriveSimQuest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767328"/>
            <a:ext cx="8778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9B4C9"/>
                </a:solidFill>
                <a:latin typeface="Calibri"/>
              </a:rPr>
              <a:t>Plataforma de simulación en Meta Quest + Unity que captura mirada y gestos del usuario.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892040"/>
            <a:ext cx="9692640" cy="1234440"/>
          </a:xfrm>
          <a:prstGeom prst="roundRect">
            <a:avLst>
              <a:gd name="adj" fmla="val 8000"/>
            </a:avLst>
          </a:prstGeom>
          <a:solidFill>
            <a:srgbClr val="2A1E12"/>
          </a:solidFill>
          <a:ln w="12700">
            <a:solidFill>
              <a:srgbClr val="FF7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074920"/>
            <a:ext cx="9052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FF7A33"/>
                </a:solidFill>
                <a:latin typeface="Calibri"/>
              </a:rPr>
              <a:t>LA BRECHA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550" b="0" i="0">
                <a:solidFill>
                  <a:srgbClr val="F4F6FB"/>
                </a:solidFill>
                <a:latin typeface="Calibri"/>
              </a:rPr>
              <a:t>Ninguno evalúa ni entrena explícitamente el juicio de tamaño del vehículo o de distancias a escala 1:1 — el problema que aborda este proyecto.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57784"/>
            <a:ext cx="256032" cy="91440"/>
          </a:xfrm>
          <a:prstGeom prst="rect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48056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220">
                <a:solidFill>
                  <a:srgbClr val="35D0C7"/>
                </a:solidFill>
                <a:latin typeface="Calibri"/>
              </a:rPr>
              <a:t>MARCO TEÓRICO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4F6FB"/>
                </a:solidFill>
                <a:latin typeface="Calibri"/>
              </a:rPr>
              <a:t>Tres razones por las que el cuerpo
aprende mejor en VR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A9B4C9"/>
                </a:solidFill>
                <a:latin typeface="Calibri"/>
              </a:rPr>
              <a:t>05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A9B4C9"/>
                </a:solidFill>
                <a:latin typeface="Calibri"/>
              </a:rPr>
              <a:t>VR CAR · IDI 3185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310128" cy="352044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423160"/>
            <a:ext cx="384048" cy="384048"/>
          </a:xfrm>
          <a:prstGeom prst="ellipse">
            <a:avLst/>
          </a:prstGeom>
          <a:solidFill>
            <a:srgbClr val="35D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231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220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017520"/>
            <a:ext cx="27980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4F6FB"/>
                </a:solidFill>
                <a:latin typeface="Calibri"/>
              </a:rPr>
              <a:t>Presencia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566160"/>
            <a:ext cx="27980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FF7A33"/>
                </a:solidFill>
                <a:latin typeface="Calibri"/>
              </a:rPr>
              <a:t>Slater (2018)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931920"/>
            <a:ext cx="2798064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9B4C9"/>
                </a:solidFill>
                <a:latin typeface="Calibri"/>
              </a:rPr>
              <a:t>Mayor inmersión (FOV, tracking) habilita mayor presencia — la sensación subjetiva de “estar ahí” que un monitor 2D no puede dar.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148840"/>
            <a:ext cx="3310128" cy="352044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62272" y="2423160"/>
            <a:ext cx="384048" cy="384048"/>
          </a:xfrm>
          <a:prstGeom prst="ellipse">
            <a:avLst/>
          </a:prstGeom>
          <a:solidFill>
            <a:srgbClr val="35D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24231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220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3017520"/>
            <a:ext cx="27980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4F6FB"/>
                </a:solidFill>
                <a:latin typeface="Calibri"/>
              </a:rPr>
              <a:t>Percepción de profundidad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3566160"/>
            <a:ext cx="27980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FF7A33"/>
                </a:solidFill>
                <a:latin typeface="Calibri"/>
              </a:rPr>
              <a:t>El Jamiy &amp; Marsh (2019)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3931920"/>
            <a:ext cx="2798064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9B4C9"/>
                </a:solidFill>
                <a:latin typeface="Calibri"/>
              </a:rPr>
              <a:t>Los HMD proveen estereopsis y paralaje de movimiento — señales de profundidad ausentes en pantalla plana.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2148840"/>
            <a:ext cx="3310128" cy="352044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28432" y="2423160"/>
            <a:ext cx="384048" cy="384048"/>
          </a:xfrm>
          <a:prstGeom prst="ellipse">
            <a:avLst/>
          </a:prstGeom>
          <a:solidFill>
            <a:srgbClr val="35D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28432" y="24231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1220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432" y="3017520"/>
            <a:ext cx="27980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4F6FB"/>
                </a:solidFill>
                <a:latin typeface="Calibri"/>
              </a:rPr>
              <a:t>Escalamiento corporal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2" y="3566160"/>
            <a:ext cx="27980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FF7A33"/>
                </a:solidFill>
                <a:latin typeface="Calibri"/>
              </a:rPr>
              <a:t>Pouke et al. (2022)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2" y="3931920"/>
            <a:ext cx="2798064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9B4C9"/>
                </a:solidFill>
                <a:latin typeface="Calibri"/>
              </a:rPr>
              <a:t>El propio cuerpo del usuario es la referencia perceptual para estimar tamaños y distancias del entorno virtual.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A9B4C9"/>
                </a:solidFill>
                <a:latin typeface="Calibri"/>
              </a:rPr>
              <a:t>+ fundamentos de VR de LaValle (2016) — bibliografía base del curso.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57784"/>
            <a:ext cx="256032" cy="91440"/>
          </a:xfrm>
          <a:prstGeom prst="rect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48056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220">
                <a:solidFill>
                  <a:srgbClr val="35D0C7"/>
                </a:solidFill>
                <a:latin typeface="Calibri"/>
              </a:rPr>
              <a:t>LA PROPUESTA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4F6FB"/>
                </a:solidFill>
                <a:latin typeface="Calibri"/>
              </a:rPr>
              <a:t>Arquitectura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A9B4C9"/>
                </a:solidFill>
                <a:latin typeface="Calibri"/>
              </a:rPr>
              <a:t>06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A9B4C9"/>
                </a:solidFill>
                <a:latin typeface="Calibri"/>
              </a:rPr>
              <a:t>VR CAR · IDI 3185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027" y="288036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111B2E"/>
          </a:solidFill>
          <a:ln w="12700">
            <a:solidFill>
              <a:srgbClr val="35D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2619" y="3044952"/>
            <a:ext cx="2002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6FB"/>
                </a:solidFill>
                <a:latin typeface="Calibri"/>
              </a:rPr>
              <a:t>Meta Quest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2619" y="3474720"/>
            <a:ext cx="2002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B4C9"/>
                </a:solidFill>
                <a:latin typeface="Calibri"/>
              </a:rPr>
              <a:t>visor + controles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09747.5" y="3406140.0"/>
            <a:ext cx="502920.0" cy="0.0"/>
          </a:xfrm>
          <a:prstGeom prst="line">
            <a:avLst/>
          </a:prstGeom>
          <a:ln w="25400">
            <a:solidFill>
              <a:srgbClr val="A9B4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12667" y="288036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111B2E"/>
          </a:solidFill>
          <a:ln w="12700">
            <a:solidFill>
              <a:srgbClr val="FF7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7259" y="3044952"/>
            <a:ext cx="2002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6FB"/>
                </a:solidFill>
                <a:latin typeface="Calibri"/>
              </a:rPr>
              <a:t>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7259" y="3474720"/>
            <a:ext cx="2002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B4C9"/>
                </a:solidFill>
                <a:latin typeface="Calibri"/>
              </a:rPr>
              <a:t>XR Interaction Toolkit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44387.5" y="3406140.0"/>
            <a:ext cx="502920.0" cy="0.0"/>
          </a:xfrm>
          <a:prstGeom prst="line">
            <a:avLst/>
          </a:prstGeom>
          <a:ln w="25400">
            <a:solidFill>
              <a:srgbClr val="A9B4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47307" y="288036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111B2E"/>
          </a:solidFill>
          <a:ln w="12700">
            <a:solidFill>
              <a:srgbClr val="35D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1899" y="3044952"/>
            <a:ext cx="2002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6FB"/>
                </a:solidFill>
                <a:latin typeface="Calibri"/>
              </a:rPr>
              <a:t>Física del vehículo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1899" y="3474720"/>
            <a:ext cx="2002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B4C9"/>
                </a:solidFill>
                <a:latin typeface="Calibri"/>
              </a:rPr>
              <a:t>posición y colisiones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79027.5" y="3406140.0"/>
            <a:ext cx="502920.0" cy="0.0"/>
          </a:xfrm>
          <a:prstGeom prst="line">
            <a:avLst/>
          </a:prstGeom>
          <a:ln w="25400">
            <a:solidFill>
              <a:srgbClr val="A9B4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81947" y="288036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111B2E"/>
          </a:solidFill>
          <a:ln w="12700">
            <a:solidFill>
              <a:srgbClr val="FF7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6539" y="3044952"/>
            <a:ext cx="2002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6FB"/>
                </a:solidFill>
                <a:latin typeface="Calibri"/>
              </a:rPr>
              <a:t>Render del entorno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6539" y="3474720"/>
            <a:ext cx="2002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B4C9"/>
                </a:solidFill>
                <a:latin typeface="Calibri"/>
              </a:rPr>
              <a:t>escala real 1:1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347807.5" y="3931920"/>
            <a:ext cx="0.0" cy="502920"/>
          </a:xfrm>
          <a:prstGeom prst="line">
            <a:avLst/>
          </a:prstGeom>
          <a:ln w="22225">
            <a:solidFill>
              <a:srgbClr val="35D0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843887.5" y="4434840"/>
            <a:ext cx="8503920.0" cy="0"/>
          </a:xfrm>
          <a:prstGeom prst="line">
            <a:avLst/>
          </a:prstGeom>
          <a:ln w="22225">
            <a:solidFill>
              <a:srgbClr val="35D0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843887.5" y="3931920"/>
            <a:ext cx="0.0" cy="502920"/>
          </a:xfrm>
          <a:prstGeom prst="line">
            <a:avLst/>
          </a:prstGeom>
          <a:ln w="22225">
            <a:solidFill>
              <a:srgbClr val="35D0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8027" y="4507992"/>
            <a:ext cx="10835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35D0C7"/>
                </a:solidFill>
                <a:latin typeface="Calibri"/>
              </a:rPr>
              <a:t>frames estéreo de vuelta al visor, en tiempo real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9496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9B4C9"/>
                </a:solidFill>
                <a:latin typeface="Calibri"/>
              </a:rPr>
              <a:t>Asiento físico como referencia postural · gatillos para acelerar/frenar · joystick para girar · HUD minimalista de distancia al obstáculo más cercano.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57784"/>
            <a:ext cx="256032" cy="91440"/>
          </a:xfrm>
          <a:prstGeom prst="rect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48056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220">
                <a:solidFill>
                  <a:srgbClr val="35D0C7"/>
                </a:solidFill>
                <a:latin typeface="Calibri"/>
              </a:rPr>
              <a:t>CASOS DE USO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4F6FB"/>
                </a:solidFill>
                <a:latin typeface="Calibri"/>
              </a:rPr>
              <a:t>3 tareas que el sistema permitirá practicar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A9B4C9"/>
                </a:solidFill>
                <a:latin typeface="Calibri"/>
              </a:rPr>
              <a:t>07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A9B4C9"/>
                </a:solidFill>
                <a:latin typeface="Calibri"/>
              </a:rPr>
              <a:t>VR CAR · IDI 3185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310128" cy="352044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242316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23160"/>
            <a:ext cx="868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220"/>
                </a:solidFill>
                <a:latin typeface="Calibri"/>
              </a:rPr>
              <a:t>CU1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044952"/>
            <a:ext cx="27980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F4F6FB"/>
                </a:solidFill>
                <a:latin typeface="Calibri"/>
              </a:rPr>
              <a:t>Juicio de esquinas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749040"/>
            <a:ext cx="279806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9B4C9"/>
                </a:solidFill>
                <a:latin typeface="Calibri"/>
              </a:rPr>
              <a:t>Pasar el auto por un espacio angosto (conos, portón) sin golpear las esquinas.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2148840"/>
            <a:ext cx="3310128" cy="352044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62272" y="242316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35D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2423160"/>
            <a:ext cx="868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220"/>
                </a:solidFill>
                <a:latin typeface="Calibri"/>
              </a:rPr>
              <a:t>CU2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3044952"/>
            <a:ext cx="27980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F4F6FB"/>
                </a:solidFill>
                <a:latin typeface="Calibri"/>
              </a:rPr>
              <a:t>Estacionamiento y obstáculo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3749040"/>
            <a:ext cx="279806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9B4C9"/>
                </a:solidFill>
                <a:latin typeface="Calibri"/>
              </a:rPr>
              <a:t>Detenerse a una distancia segura de un obstáculo, en maniobras frontales y en reversa.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2148840"/>
            <a:ext cx="3310128" cy="352044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28432" y="242316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8432" y="2423160"/>
            <a:ext cx="868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220"/>
                </a:solidFill>
                <a:latin typeface="Calibri"/>
              </a:rPr>
              <a:t>CU3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2" y="3044952"/>
            <a:ext cx="27980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F4F6FB"/>
                </a:solidFill>
                <a:latin typeface="Calibri"/>
              </a:rPr>
              <a:t>Manejo básico en circuito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432" y="3749040"/>
            <a:ext cx="279806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9B4C9"/>
                </a:solidFill>
                <a:latin typeface="Calibri"/>
              </a:rPr>
              <a:t>Acelerar, frenar y girar en un circuito simple con curvas y un cruce.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57784"/>
            <a:ext cx="256032" cy="91440"/>
          </a:xfrm>
          <a:prstGeom prst="rect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48056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220">
                <a:solidFill>
                  <a:srgbClr val="35D0C7"/>
                </a:solidFill>
                <a:latin typeface="Calibri"/>
              </a:rPr>
              <a:t>TECNOLOGÍAS Y ALCANCE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4F6FB"/>
                </a:solidFill>
                <a:latin typeface="Calibri"/>
              </a:rPr>
              <a:t>Quest 3 + Unity, y qué entra en el prototipo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A9B4C9"/>
                </a:solidFill>
                <a:latin typeface="Calibri"/>
              </a:rPr>
              <a:t>08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A9B4C9"/>
                </a:solidFill>
                <a:latin typeface="Calibri"/>
              </a:rPr>
              <a:t>VR CAR · IDI 3185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5120640" cy="196596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340864"/>
            <a:ext cx="4535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 spc="120">
                <a:solidFill>
                  <a:srgbClr val="35D0C7"/>
                </a:solidFill>
                <a:latin typeface="Calibri"/>
              </a:rPr>
              <a:t>HARDWARE: META QUEST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743200"/>
            <a:ext cx="453542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9B4C9"/>
                </a:solidFill>
                <a:latin typeface="Calibri"/>
              </a:rPr>
              <a:t>Standalone (sin PC dedicado), controles físicos para acelerar/frenar/girar, costo muy inferior a Vision Pro o PC VR — descartados por eso.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2103120"/>
            <a:ext cx="5120640" cy="196596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2700">
            <a:solidFill>
              <a:srgbClr val="27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8" y="2340864"/>
            <a:ext cx="4535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 spc="120">
                <a:solidFill>
                  <a:srgbClr val="FF7A33"/>
                </a:solidFill>
                <a:latin typeface="Calibri"/>
              </a:rPr>
              <a:t>MOTOR: UNITY + XR TOOLKIT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2743200"/>
            <a:ext cx="453542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9B4C9"/>
                </a:solidFill>
                <a:latin typeface="Calibri"/>
              </a:rPr>
              <a:t>Soporte nativo y maduro para Quest, documentación extensa para interacción en VR.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43400"/>
            <a:ext cx="5120640" cy="1280160"/>
          </a:xfrm>
          <a:prstGeom prst="roundRect">
            <a:avLst>
              <a:gd name="adj" fmla="val 6000"/>
            </a:avLst>
          </a:prstGeom>
          <a:solidFill>
            <a:srgbClr val="0E2A28"/>
          </a:solidFill>
          <a:ln w="12700">
            <a:solidFill>
              <a:srgbClr val="35D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507992"/>
            <a:ext cx="4535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35D0C7"/>
                </a:solidFill>
                <a:latin typeface="Calibri"/>
              </a:rPr>
              <a:t>DENTRO DEL ALCANCE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846320"/>
            <a:ext cx="4535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6FB"/>
                </a:solidFill>
                <a:latin typeface="Calibri"/>
              </a:rPr>
              <a:t>Manejo básico en circuito + percepción de escala 1:1 + los 3 casos de uso.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4343400"/>
            <a:ext cx="5120640" cy="1280160"/>
          </a:xfrm>
          <a:prstGeom prst="roundRect">
            <a:avLst>
              <a:gd name="adj" fmla="val 6000"/>
            </a:avLst>
          </a:prstGeom>
          <a:solidFill>
            <a:srgbClr val="2A1E12"/>
          </a:solidFill>
          <a:ln w="12700">
            <a:solidFill>
              <a:srgbClr val="FF7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4507992"/>
            <a:ext cx="4535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FF7A33"/>
                </a:solidFill>
                <a:latin typeface="Calibri"/>
              </a:rPr>
              <a:t>FUERA DE ALCANCE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4846320"/>
            <a:ext cx="4535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6FB"/>
                </a:solidFill>
                <a:latin typeface="Calibri"/>
              </a:rPr>
              <a:t>Tránsito con otros vehículos/peatones, física vehicular avanzada, reglas de tránsito complejas.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57784"/>
            <a:ext cx="256032" cy="91440"/>
          </a:xfrm>
          <a:prstGeom prst="rect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48056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220">
                <a:solidFill>
                  <a:srgbClr val="35D0C7"/>
                </a:solidFill>
                <a:latin typeface="Calibri"/>
              </a:rPr>
              <a:t>PLAN DE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4F6FB"/>
                </a:solidFill>
                <a:latin typeface="Calibri"/>
              </a:rPr>
              <a:t>Camino hacia el prototipo lo-fi y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A9B4C9"/>
                </a:solidFill>
                <a:latin typeface="Calibri"/>
              </a:rPr>
              <a:t>09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A9B4C9"/>
                </a:solidFill>
                <a:latin typeface="Calibri"/>
              </a:rPr>
              <a:t>VR CAR · IDI 3185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75710"/>
            <a:ext cx="10362895" cy="38100"/>
          </a:xfrm>
          <a:prstGeom prst="rect">
            <a:avLst/>
          </a:prstGeom>
          <a:solidFill>
            <a:srgbClr val="27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3816" y="3694176"/>
            <a:ext cx="201168" cy="201168"/>
          </a:xfrm>
          <a:prstGeom prst="ellipse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2560320"/>
            <a:ext cx="1645920" cy="10058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FF7A33"/>
                </a:solidFill>
                <a:latin typeface="Calibri"/>
              </a:rPr>
              <a:t>HITO 1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4F6FB"/>
                </a:solidFill>
                <a:latin typeface="Calibri"/>
              </a:rPr>
              <a:t>Definición del proyecto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9593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B4C9"/>
                </a:solidFill>
                <a:latin typeface="Calibri"/>
              </a:rPr>
              <a:t>08-sep</a:t>
            </a:r>
          </a:p>
        </p:txBody>
      </p:sp>
      <p:sp>
        <p:nvSpPr>
          <p:cNvPr id="11" name="Oval 10"/>
          <p:cNvSpPr/>
          <p:nvPr/>
        </p:nvSpPr>
        <p:spPr>
          <a:xfrm>
            <a:off x="2918399" y="3726180"/>
            <a:ext cx="137160" cy="137160"/>
          </a:xfrm>
          <a:prstGeom prst="ellipse">
            <a:avLst/>
          </a:prstGeom>
          <a:solidFill>
            <a:srgbClr val="A9B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38339" y="335584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B4C9"/>
                </a:solidFill>
                <a:latin typeface="Calibri"/>
              </a:rPr>
              <a:t>06-oct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4019" y="3995928"/>
            <a:ext cx="1645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9B4C9"/>
                </a:solidFill>
                <a:latin typeface="Calibri"/>
              </a:rPr>
              <a:t>CU1 + HUD</a:t>
            </a:r>
          </a:p>
        </p:txBody>
      </p:sp>
      <p:sp>
        <p:nvSpPr>
          <p:cNvPr id="14" name="Oval 13"/>
          <p:cNvSpPr/>
          <p:nvPr/>
        </p:nvSpPr>
        <p:spPr>
          <a:xfrm>
            <a:off x="4958974" y="3694176"/>
            <a:ext cx="201168" cy="201168"/>
          </a:xfrm>
          <a:prstGeom prst="ellipse">
            <a:avLst/>
          </a:prstGeom>
          <a:solidFill>
            <a:srgbClr val="35D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36598" y="2560320"/>
            <a:ext cx="1645920" cy="10058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35D0C7"/>
                </a:solidFill>
                <a:latin typeface="Calibri"/>
              </a:rPr>
              <a:t>HITO 2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4F6FB"/>
                </a:solidFill>
                <a:latin typeface="Calibri"/>
              </a:rPr>
              <a:t>Prototipo lo-fi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0918" y="39593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B4C9"/>
                </a:solidFill>
                <a:latin typeface="Calibri"/>
              </a:rPr>
              <a:t>13-oct</a:t>
            </a:r>
          </a:p>
        </p:txBody>
      </p:sp>
      <p:sp>
        <p:nvSpPr>
          <p:cNvPr id="17" name="Oval 16"/>
          <p:cNvSpPr/>
          <p:nvPr/>
        </p:nvSpPr>
        <p:spPr>
          <a:xfrm>
            <a:off x="7063557" y="3726180"/>
            <a:ext cx="137160" cy="137160"/>
          </a:xfrm>
          <a:prstGeom prst="ellipse">
            <a:avLst/>
          </a:prstGeom>
          <a:solidFill>
            <a:srgbClr val="A9B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497" y="335584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B4C9"/>
                </a:solidFill>
                <a:latin typeface="Calibri"/>
              </a:rPr>
              <a:t>27-oct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177" y="3995928"/>
            <a:ext cx="1645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9B4C9"/>
                </a:solidFill>
                <a:latin typeface="Calibri"/>
              </a:rPr>
              <a:t>CU2 + CU3</a:t>
            </a:r>
          </a:p>
        </p:txBody>
      </p:sp>
      <p:sp>
        <p:nvSpPr>
          <p:cNvPr id="20" name="Oval 19"/>
          <p:cNvSpPr/>
          <p:nvPr/>
        </p:nvSpPr>
        <p:spPr>
          <a:xfrm>
            <a:off x="9136136" y="3726180"/>
            <a:ext cx="137160" cy="137160"/>
          </a:xfrm>
          <a:prstGeom prst="ellipse">
            <a:avLst/>
          </a:prstGeom>
          <a:solidFill>
            <a:srgbClr val="A9B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1756" y="2560320"/>
            <a:ext cx="1645920" cy="10058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9B4C9"/>
                </a:solidFill>
                <a:latin typeface="Calibri"/>
              </a:rPr>
              <a:t>Arte final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6076" y="39593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B4C9"/>
                </a:solidFill>
                <a:latin typeface="Calibri"/>
              </a:rPr>
              <a:t>10-nov</a:t>
            </a:r>
          </a:p>
        </p:txBody>
      </p:sp>
      <p:sp>
        <p:nvSpPr>
          <p:cNvPr id="23" name="Oval 22"/>
          <p:cNvSpPr/>
          <p:nvPr/>
        </p:nvSpPr>
        <p:spPr>
          <a:xfrm>
            <a:off x="11176711" y="3694176"/>
            <a:ext cx="201168" cy="201168"/>
          </a:xfrm>
          <a:prstGeom prst="ellipse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28655" y="335584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B4C9"/>
                </a:solidFill>
                <a:latin typeface="Calibri"/>
              </a:rPr>
              <a:t>24-nov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54335" y="3995928"/>
            <a:ext cx="1645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FF7A33"/>
                </a:solidFill>
                <a:latin typeface="Calibri"/>
              </a:rPr>
              <a:t>HITO 3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4F6FB"/>
                </a:solidFill>
                <a:latin typeface="Calibri"/>
              </a:rPr>
              <a:t>Prototipo final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52160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A9B4C9"/>
                </a:solidFill>
                <a:latin typeface="Calibri"/>
              </a:rPr>
              <a:t>Actividades semanales alineadas a la sesión de cátedra (martes).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5D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463040"/>
            <a:ext cx="4754880" cy="4754880"/>
          </a:xfrm>
          <a:prstGeom prst="ellipse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spc="240">
                <a:solidFill>
                  <a:srgbClr val="35D0C7"/>
                </a:solidFill>
                <a:latin typeface="Calibri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4F6FB"/>
                </a:solidFill>
                <a:latin typeface="Calibri"/>
              </a:rPr>
              <a:t>¿Preguntas?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977639"/>
            <a:ext cx="2194560" cy="25400"/>
          </a:xfrm>
          <a:prstGeom prst="rect">
            <a:avLst/>
          </a:prstGeom>
          <a:solidFill>
            <a:srgbClr val="F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9144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6FB"/>
                </a:solidFill>
                <a:latin typeface="Calibri"/>
              </a:rPr>
              <a:t>Estefanía Pakarati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500" b="1" i="0">
                <a:solidFill>
                  <a:srgbClr val="F4F6FB"/>
                </a:solidFill>
                <a:latin typeface="Calibri"/>
              </a:rPr>
              <a:t>Emmanuel Norambuena  ·  eanorambuena@uc.cl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500" b="1" i="0">
                <a:solidFill>
                  <a:srgbClr val="F4F6FB"/>
                </a:solidFill>
                <a:latin typeface="Calibri"/>
              </a:rPr>
              <a:t>Matías Harrison</a:t>
            </a:r>
          </a:p>
          <a:p>
            <a:pPr algn="l">
              <a:spcBef>
                <a:spcPts val="1800"/>
              </a:spcBef>
              <a:spcAft>
                <a:spcPts val="0"/>
              </a:spcAft>
            </a:pPr>
            <a:r>
              <a:rPr sz="1300" b="0" i="0">
                <a:solidFill>
                  <a:srgbClr val="A9B4C9"/>
                </a:solidFill>
                <a:latin typeface="Calibri"/>
              </a:rPr>
              <a:t>VR Car — IDI 3185 Realidad Extendida, PUC Chile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