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7" r:id="rId92"/>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2.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573210"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62450" y="1041275"/>
            <a:ext cx="7836900" cy="1391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600"/>
              <a:t>Las herramientas existentes de visualización situada no promueven agilidad y ofrecen limitado soporte en:</a:t>
            </a:r>
            <a:endParaRPr sz="1600"/>
          </a:p>
        </p:txBody>
      </p:sp>
      <p:graphicFrame>
        <p:nvGraphicFramePr>
          <p:cNvPr id="662" name="Google Shape;662;p83"/>
          <p:cNvGraphicFramePr/>
          <p:nvPr/>
        </p:nvGraphicFramePr>
        <p:xfrm>
          <a:off x="431800" y="1905000"/>
          <a:ext cx="3000000" cy="3000000"/>
        </p:xfrm>
        <a:graphic>
          <a:graphicData uri="http://schemas.openxmlformats.org/drawingml/2006/table">
            <a:tbl>
              <a:tblPr bandRow="1">
                <a:noFill/>
                <a:tableStyleId>{644D82D1-A5CC-4578-84F6-CFC42621E0DF}</a:tableStyleId>
              </a:tblPr>
              <a:tblGrid>
                <a:gridCol w="2024850">
                  <a:extLst>
                    <a:ext uri="{9D8B030D-6E8A-4147-A177-3AD203B41FA5}">
                      <a16:colId xmlns:a16="http://schemas.microsoft.com/office/drawing/2014/main" val="20000"/>
                    </a:ext>
                  </a:extLst>
                </a:gridCol>
                <a:gridCol w="5666375">
                  <a:extLst>
                    <a:ext uri="{9D8B030D-6E8A-4147-A177-3AD203B41FA5}">
                      <a16:colId xmlns:a16="http://schemas.microsoft.com/office/drawing/2014/main" val="20001"/>
                    </a:ext>
                  </a:extLst>
                </a:gridCol>
              </a:tblGrid>
              <a:tr h="1189725">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89475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99775">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311699" y="1202300"/>
            <a:ext cx="7502034" cy="386454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311699" y="1202300"/>
            <a:ext cx="7502034" cy="386454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473936" y="1103788"/>
            <a:ext cx="3915205" cy="3361660"/>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5975877" y="1103788"/>
            <a:ext cx="2728800" cy="3361800"/>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991972" y="4499025"/>
            <a:ext cx="6852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11824" y="4489475"/>
            <a:ext cx="8358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89542" y="3398857"/>
            <a:ext cx="428338" cy="428338"/>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737994" y="1316794"/>
            <a:ext cx="999310" cy="2935397"/>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189482" y="1821907"/>
            <a:ext cx="999310" cy="553979"/>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Elipse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189482" y="1312277"/>
            <a:ext cx="999310" cy="268605"/>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189482" y="2616910"/>
            <a:ext cx="999310" cy="6207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189482" y="3478723"/>
            <a:ext cx="999310" cy="268605"/>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189482" y="3988353"/>
            <a:ext cx="999310" cy="268605"/>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843753" y="1803005"/>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843753" y="2118678"/>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843753" y="2789249"/>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843753" y="3474971"/>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840681" y="1312277"/>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840681" y="1803005"/>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498700" y="2797779"/>
            <a:ext cx="999300" cy="36690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840681" y="3478723"/>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50761" y="3271177"/>
            <a:ext cx="514260" cy="621385"/>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60325" y="1253025"/>
            <a:ext cx="614250" cy="62137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901751" y="1898425"/>
            <a:ext cx="6213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51425" y="3953850"/>
            <a:ext cx="6963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26167" y="2282229"/>
            <a:ext cx="428338" cy="428338"/>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91581" y="1438456"/>
            <a:ext cx="1665949"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237096" y="1126813"/>
            <a:ext cx="1452231" cy="183406"/>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742281" y="4122656"/>
            <a:ext cx="441808"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742281" y="3613026"/>
            <a:ext cx="441808"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990121" y="2109153"/>
            <a:ext cx="19396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990121" y="2932067"/>
            <a:ext cx="19396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991968" y="2109229"/>
            <a:ext cx="0" cy="827946"/>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742489" y="2496398"/>
            <a:ext cx="248040"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86823" y="2089371"/>
            <a:ext cx="621186"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90306" y="2922542"/>
            <a:ext cx="61422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86823" y="3613026"/>
            <a:ext cx="409797"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86823" y="4122656"/>
            <a:ext cx="621186"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803711" y="3824220"/>
            <a:ext cx="0" cy="297180"/>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803711" y="2090911"/>
            <a:ext cx="0" cy="1310673"/>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4011741" y="3613026"/>
            <a:ext cx="835942"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57825" y="1446600"/>
            <a:ext cx="1381200" cy="1200"/>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340336" y="1581453"/>
            <a:ext cx="0" cy="220980"/>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340336" y="2071682"/>
            <a:ext cx="0" cy="211455"/>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555137" y="2496398"/>
            <a:ext cx="441808"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14734" y="2496398"/>
            <a:ext cx="409797"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7998361" y="2496398"/>
            <a:ext cx="0" cy="290617"/>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14703" y="2496398"/>
            <a:ext cx="0" cy="304935"/>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14703" y="3071182"/>
            <a:ext cx="0" cy="192300"/>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7998350" y="3164679"/>
            <a:ext cx="0" cy="98700"/>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14381" y="3266727"/>
            <a:ext cx="1289100"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340336" y="3270165"/>
            <a:ext cx="0" cy="201930"/>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72806" y="3618875"/>
            <a:ext cx="1466177"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779270" y="2273125"/>
            <a:ext cx="4098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469718" y="2313550"/>
            <a:ext cx="5142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165975" y="2805175"/>
            <a:ext cx="999300" cy="36690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65" name="Google Shape;765;p89"/>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77" name="Google Shape;777;p90"/>
          <p:cNvSpPr/>
          <p:nvPr/>
        </p:nvSpPr>
        <p:spPr>
          <a:xfrm>
            <a:off x="5247547" y="3423242"/>
            <a:ext cx="3403055" cy="1393746"/>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267325" y="4051522"/>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267325" y="4408738"/>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267325" y="3694306"/>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95" name="Google Shape;795;p91"/>
          <p:cNvSpPr/>
          <p:nvPr/>
        </p:nvSpPr>
        <p:spPr>
          <a:xfrm>
            <a:off x="7091610" y="2798738"/>
            <a:ext cx="306014" cy="58534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14" name="Google Shape;814;p92"/>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091610" y="2798738"/>
            <a:ext cx="306014" cy="58534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34" name="Google Shape;834;p93"/>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46" name="Google Shape;846;p94"/>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64" name="Google Shape;864;p95"/>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805836" y="1866768"/>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726711"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647587"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68461"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939350" y="2199105"/>
            <a:ext cx="775178"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768997" y="2607822"/>
            <a:ext cx="12477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870913" y="21991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802476" y="21991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349857" y="3218468"/>
            <a:ext cx="6264300"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1958" y="1684581"/>
            <a:ext cx="422163" cy="93375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759625" y="26078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64948" y="26078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3039" y="2820494"/>
            <a:ext cx="0" cy="395700"/>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348925" y="29670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93266" y="29670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64262" y="2967078"/>
            <a:ext cx="0" cy="257400"/>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461229" y="1426992"/>
            <a:ext cx="865015" cy="75810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390987" y="1381628"/>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308163" y="1391153"/>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234863" y="1394505"/>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3027313" y="2144493"/>
            <a:ext cx="3089360" cy="2479192"/>
          </a:xfrm>
          <a:prstGeom prst="rect">
            <a:avLst/>
          </a:prstGeom>
          <a:noFill/>
          <a:ln>
            <a:noFill/>
          </a:ln>
        </p:spPr>
      </p:pic>
      <p:sp>
        <p:nvSpPr>
          <p:cNvPr id="908" name="Google Shape;908;p97"/>
          <p:cNvSpPr/>
          <p:nvPr/>
        </p:nvSpPr>
        <p:spPr>
          <a:xfrm>
            <a:off x="723162" y="685668"/>
            <a:ext cx="1142706" cy="64562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44037" y="695193"/>
            <a:ext cx="1142706" cy="64562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64913" y="6951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485787" y="6951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56676" y="1018005"/>
            <a:ext cx="775177"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8239" y="10180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19802" y="10180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67183" y="2037368"/>
            <a:ext cx="6264300"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319283" y="503481"/>
            <a:ext cx="422164" cy="93375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78555" y="245892"/>
            <a:ext cx="865015" cy="75810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308313" y="200528"/>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25489" y="210053"/>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52189" y="213405"/>
            <a:ext cx="833966"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42125" y="42125"/>
            <a:ext cx="9101875" cy="511980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67183" y="2038227"/>
            <a:ext cx="6264300"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3060614" y="2122234"/>
            <a:ext cx="3022663" cy="2293749"/>
          </a:xfrm>
          <a:prstGeom prst="rect">
            <a:avLst/>
          </a:prstGeom>
          <a:noFill/>
          <a:ln>
            <a:noFill/>
          </a:ln>
        </p:spPr>
      </p:pic>
      <p:sp>
        <p:nvSpPr>
          <p:cNvPr id="939" name="Google Shape;939;p99"/>
          <p:cNvSpPr/>
          <p:nvPr/>
        </p:nvSpPr>
        <p:spPr>
          <a:xfrm>
            <a:off x="723162" y="685668"/>
            <a:ext cx="1142700" cy="645600"/>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44037" y="695193"/>
            <a:ext cx="1142700" cy="645600"/>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64913"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485787"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56676" y="1018005"/>
            <a:ext cx="775200"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8239" y="1018005"/>
            <a:ext cx="775200"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19802" y="1018005"/>
            <a:ext cx="775200"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319283" y="503481"/>
            <a:ext cx="422160" cy="93376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78551" y="245892"/>
            <a:ext cx="865018" cy="75809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308308" y="200523"/>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25484" y="210048"/>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52184" y="213401"/>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3069098" y="2196628"/>
            <a:ext cx="2926425" cy="2210171"/>
          </a:xfrm>
          <a:prstGeom prst="rect">
            <a:avLst/>
          </a:prstGeom>
          <a:noFill/>
          <a:ln>
            <a:noFill/>
          </a:ln>
        </p:spPr>
      </p:pic>
      <p:sp>
        <p:nvSpPr>
          <p:cNvPr id="968" name="Google Shape;968;p101"/>
          <p:cNvSpPr/>
          <p:nvPr/>
        </p:nvSpPr>
        <p:spPr>
          <a:xfrm>
            <a:off x="723162" y="685668"/>
            <a:ext cx="1142700" cy="645600"/>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44037" y="695193"/>
            <a:ext cx="1142700" cy="645600"/>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64913"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485787"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56676" y="1018005"/>
            <a:ext cx="775200"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8239" y="1018005"/>
            <a:ext cx="775200"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19802" y="1018005"/>
            <a:ext cx="775200"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319283" y="503481"/>
            <a:ext cx="422160" cy="93376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78551" y="245892"/>
            <a:ext cx="865018" cy="75809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308308" y="200523"/>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25484" y="210048"/>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52184" y="213401"/>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67183" y="2038227"/>
            <a:ext cx="6264300"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213725" cy="51827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933299" y="831111"/>
            <a:ext cx="2782851" cy="3884871"/>
          </a:xfrm>
          <a:prstGeom prst="rect">
            <a:avLst/>
          </a:prstGeom>
          <a:noFill/>
          <a:ln>
            <a:noFill/>
          </a:ln>
        </p:spPr>
      </p:pic>
      <p:graphicFrame>
        <p:nvGraphicFramePr>
          <p:cNvPr id="1005" name="Google Shape;1005;p104"/>
          <p:cNvGraphicFramePr/>
          <p:nvPr/>
        </p:nvGraphicFramePr>
        <p:xfrm>
          <a:off x="393700" y="1135911"/>
          <a:ext cx="3000000" cy="3000000"/>
        </p:xfrm>
        <a:graphic>
          <a:graphicData uri="http://schemas.openxmlformats.org/drawingml/2006/table">
            <a:tbl>
              <a:tblPr bandRow="1">
                <a:noFill/>
                <a:tableStyleId>{644D82D1-A5CC-4578-84F6-CFC42621E0DF}</a:tableStyleId>
              </a:tblPr>
              <a:tblGrid>
                <a:gridCol w="1258175">
                  <a:extLst>
                    <a:ext uri="{9D8B030D-6E8A-4147-A177-3AD203B41FA5}">
                      <a16:colId xmlns:a16="http://schemas.microsoft.com/office/drawing/2014/main" val="20000"/>
                    </a:ext>
                  </a:extLst>
                </a:gridCol>
                <a:gridCol w="4233800">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7 programadores expertos en Smalltalk</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Conjunto de datos de vinos (~1’000 registros)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a:stretch/>
        </p:blipFill>
        <p:spPr>
          <a:xfrm>
            <a:off x="566738" y="-6037101"/>
            <a:ext cx="8010405" cy="11182548"/>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247650" y="1331650"/>
            <a:ext cx="7401000" cy="29451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1600"/>
              <a:t>Los usuarios se beneficiaron de la </a:t>
            </a:r>
            <a:r>
              <a:rPr lang="en-GB" sz="1600" b="1"/>
              <a:t>expresividad</a:t>
            </a:r>
            <a:r>
              <a:rPr lang="en-GB" sz="16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1600"/>
              <a:t>La herramienta </a:t>
            </a:r>
            <a:r>
              <a:rPr lang="en-GB" sz="1600" b="1"/>
              <a:t>comprehensiva</a:t>
            </a:r>
            <a:r>
              <a:rPr lang="en-GB" sz="1600"/>
              <a:t> permitió a los usuarios mantener la inmersión en realidad aumentada en largas sesiones (&gt;1.5 hrs.)  </a:t>
            </a:r>
            <a:endParaRPr sz="1600"/>
          </a:p>
          <a:p>
            <a:pPr marL="254000" lvl="0" indent="-241300" algn="l" rtl="0">
              <a:lnSpc>
                <a:spcPct val="100000"/>
              </a:lnSpc>
              <a:spcBef>
                <a:spcPts val="500"/>
              </a:spcBef>
              <a:spcAft>
                <a:spcPts val="0"/>
              </a:spcAft>
              <a:buSzPts val="1600"/>
              <a:buChar char="●"/>
            </a:pPr>
            <a:r>
              <a:rPr lang="en-GB" sz="1600"/>
              <a:t>Las sesiones fueron altamente interactivas gracias a la facilidad de aplicar cambios </a:t>
            </a:r>
            <a:r>
              <a:rPr lang="en-GB" sz="1600" b="1"/>
              <a:t>en tiempo real</a:t>
            </a:r>
            <a:r>
              <a:rPr lang="en-GB" sz="16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Cierre del caso AVAR</a:t>
            </a:r>
          </a:p>
        </p:txBody>
      </p:sp>
      <p:sp>
        <p:nvSpPr>
          <p:cNvPr id="3" name="Text Placeholder 2"/>
          <p:cNvSpPr>
            <a:spLocks noGrp="1"/>
          </p:cNvSpPr>
          <p:nvPr>
            <p:ph type="body" idx="1"/>
          </p:nvPr>
        </p:nvSpPr>
        <p:spPr/>
        <p:txBody>
          <a:bodyPr/>
          <a:lstStyle/>
          <a:p>
            <a:r>
              <a:t>AVAR muestra que se puede crear y modificar visualizaciones situadas en AR en tiempo real, sin salir de la inmersión</a:t>
            </a:r>
          </a:p>
          <a:p>
            <a:r>
              <a:t>Lo que funcionó: expresividad (ejemplos y funciones) y sesiones largas (&gt;1,5 hrs.) e interactivas</a:t>
            </a:r>
          </a:p>
          <a:p>
            <a:r>
              <a:t>Limitación: estudio pequeño (7 usuarios) y herramienta de nicho (HoloLens + Pharo)</a:t>
            </a:r>
          </a:p>
          <a:p>
            <a:r>
              <a:t>Idea para llevarse: la visualización situada es útil cuando la información se ve en el lugar y el momento donde se necesita</a:t>
            </a:r>
          </a:p>
          <a:p>
            <a:r>
              <a:t>Pregunta 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Aplicación a nuestro proyecto</a:t>
            </a:r>
          </a:p>
        </p:txBody>
      </p:sp>
      <p:sp>
        <p:nvSpPr>
          <p:cNvPr id="3" name="Text Placeholder 2"/>
          <p:cNvSpPr>
            <a:spLocks noGrp="1"/>
          </p:cNvSpPr>
          <p:nvPr>
            <p:ph type="body" idx="1"/>
          </p:nvPr>
        </p:nvSpPr>
        <p:spPr/>
        <p:txBody>
          <a:bodyPr/>
          <a:lstStyle/>
          <a:p>
            <a:r>
              <a:t>Nuestro simulador VR (Quest 3 + Unity) enseña a juzgar el tamaño del vehículo y las distancias a obstáculos</a:t>
            </a:r>
          </a:p>
          <a:p>
            <a:r>
              <a:t>Visualización situada: el HUD de distancia y las etiquetas se muestran sobre el propio vehículo y el obstáculo, donde el usuario mira</a:t>
            </a:r>
          </a:p>
          <a:p>
            <a:r>
              <a:t>Módulo de distancia por raycasting: calcula la distancia a las esquinas y la muestra en vivo (HUD y audio)</a:t>
            </a:r>
          </a:p>
          <a:p>
            <a:r>
              <a:t>Como en AVAR, la información cambia en tiempo real según la acción del usuario</a:t>
            </a:r>
          </a:p>
          <a:p>
            <a:r>
              <a:t>Cuidado (lección de la clase): demasiadas etiquetas saturan la vista, así que hay que filtrar y mostrar solo lo relevante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687422"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