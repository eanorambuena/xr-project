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8" name="Google Shape;238;p40"/>
          <p:cNvSpPr txBox="1"/>
          <p:nvPr/>
        </p:nvSpPr>
        <p:spPr>
          <a:xfrm>
            <a:off x="7814320" y="4963717"/>
            <a:ext cx="179289" cy="1750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808080"/>
              </a:buClr>
              <a:buSzPts val="800"/>
              <a:buFont typeface="Arial"/>
              <a:buNone/>
            </a:pPr>
            <a:r>
              <a:rPr lang="en-GB" sz="800" b="1" i="0" u="none" strike="noStrike" cap="none">
                <a:solidFill>
                  <a:srgbClr val="808080"/>
                </a:solidFill>
                <a:latin typeface="Arial"/>
                <a:ea typeface="Arial"/>
                <a:cs typeface="Arial"/>
                <a:sym typeface="Arial"/>
              </a:rPr>
              <a:t>12</a:t>
            </a:r>
            <a:endParaRPr sz="500"/>
          </a:p>
        </p:txBody>
      </p:sp>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573210" y="3482305"/>
            <a:ext cx="5773795" cy="577081"/>
          </a:xfrm>
          <a:prstGeom prst="rect">
            <a:avLst/>
          </a:prstGeom>
          <a:noFill/>
        </p:spPr>
        <p:txBody>
          <a:bodyPr wrap="square">
            <a:spAutoFit/>
          </a:bodyPr>
          <a:lstStyle/>
          <a:p>
            <a:r>
              <a:rPr lang="en-CL" sz="1050" b="0" i="0" dirty="0">
                <a:solidFill>
                  <a:srgbClr val="000000"/>
                </a:solidFill>
                <a:effectLst/>
                <a:latin typeface="Arial"/>
              </a:rPr>
              <a:t>Merino, L., Sotomayor-Gómez, B., Yu, X., Salgado, R., Bergel, A., Sedlmair, M., &amp; Weiskopf, D. (2020, April). Toward agile situated visualization: An exploratory user study. In </a:t>
            </a:r>
            <a:r>
              <a:rPr lang="en-CL" sz="1050" b="0" i="1" dirty="0">
                <a:solidFill>
                  <a:srgbClr val="000000"/>
                </a:solidFill>
                <a:effectLst/>
                <a:latin typeface="Arial"/>
              </a:rPr>
              <a:t>Extended Abstracts of the 2020 CHI Conference on Human Factors in Computing Systems</a:t>
            </a:r>
            <a:r>
              <a:rPr lang="en-CL" sz="105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62450" y="1041275"/>
            <a:ext cx="7836900" cy="1391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600"/>
              <a:t>Las herramientas existentes de visualización situada no promueven agilidad y ofrecen limitado soporte en:</a:t>
            </a:r>
            <a:endParaRPr sz="1600"/>
          </a:p>
        </p:txBody>
      </p:sp>
      <p:sp>
        <p:nvSpPr>
          <p:cNvPr id="661" name="Google Shape;661;p83"/>
          <p:cNvSpPr txBox="1">
            <a:spLocks noGrp="1"/>
          </p:cNvSpPr>
          <p:nvPr>
            <p:ph type="sldNum" idx="12"/>
          </p:nvPr>
        </p:nvSpPr>
        <p:spPr>
          <a:xfrm>
            <a:off x="8472458" y="4663217"/>
            <a:ext cx="548700" cy="284700"/>
          </a:xfrm>
          <a:prstGeom prst="rect">
            <a:avLst/>
          </a:prstGeom>
          <a:noFill/>
          <a:ln>
            <a:noFill/>
          </a:ln>
        </p:spPr>
        <p:txBody>
          <a:bodyPr spcFirstLastPara="1" wrap="square" lIns="34275" tIns="34275" rIns="34275" bIns="34275" anchor="ctr" anchorCtr="0">
            <a:spAutoFit/>
          </a:bodyPr>
          <a:lstStyle/>
          <a:p>
            <a:pPr marL="0" lvl="0" indent="0" algn="r" rtl="0">
              <a:spcBef>
                <a:spcPts val="0"/>
              </a:spcBef>
              <a:spcAft>
                <a:spcPts val="0"/>
              </a:spcAft>
              <a:buNone/>
            </a:pPr>
            <a:fld id="{00000000-1234-1234-1234-123412341234}" type="slidenum">
              <a:rPr lang="en-GB"/>
              <a:t>56</a:t>
            </a:fld>
            <a:endParaRPr/>
          </a:p>
        </p:txBody>
      </p:sp>
      <p:graphicFrame>
        <p:nvGraphicFramePr>
          <p:cNvPr id="662" name="Google Shape;662;p83"/>
          <p:cNvGraphicFramePr/>
          <p:nvPr/>
        </p:nvGraphicFramePr>
        <p:xfrm>
          <a:off x="431800" y="1905000"/>
          <a:ext cx="3000000" cy="3000000"/>
        </p:xfrm>
        <a:graphic>
          <a:graphicData uri="http://schemas.openxmlformats.org/drawingml/2006/table">
            <a:tbl>
              <a:tblPr bandRow="1">
                <a:noFill/>
                <a:tableStyleId>{644D82D1-A5CC-4578-84F6-CFC42621E0DF}</a:tableStyleId>
              </a:tblPr>
              <a:tblGrid>
                <a:gridCol w="2024850">
                  <a:extLst>
                    <a:ext uri="{9D8B030D-6E8A-4147-A177-3AD203B41FA5}">
                      <a16:colId xmlns:a16="http://schemas.microsoft.com/office/drawing/2014/main" val="20000"/>
                    </a:ext>
                  </a:extLst>
                </a:gridCol>
                <a:gridCol w="5666375">
                  <a:extLst>
                    <a:ext uri="{9D8B030D-6E8A-4147-A177-3AD203B41FA5}">
                      <a16:colId xmlns:a16="http://schemas.microsoft.com/office/drawing/2014/main" val="20001"/>
                    </a:ext>
                  </a:extLst>
                </a:gridCol>
              </a:tblGrid>
              <a:tr h="1189725">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89475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99775">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69" name="Google Shape;669;p84"/>
          <p:cNvSpPr txBox="1">
            <a:spLocks noGrp="1"/>
          </p:cNvSpPr>
          <p:nvPr>
            <p:ph type="sldNum" idx="12"/>
          </p:nvPr>
        </p:nvSpPr>
        <p:spPr>
          <a:xfrm>
            <a:off x="8472458" y="4663217"/>
            <a:ext cx="548700" cy="284700"/>
          </a:xfrm>
          <a:prstGeom prst="rect">
            <a:avLst/>
          </a:prstGeom>
          <a:noFill/>
          <a:ln>
            <a:noFill/>
          </a:ln>
        </p:spPr>
        <p:txBody>
          <a:bodyPr spcFirstLastPara="1" wrap="square" lIns="34275" tIns="34275" rIns="34275" bIns="34275" anchor="ctr" anchorCtr="0">
            <a:spAutoFit/>
          </a:bodyPr>
          <a:lstStyle/>
          <a:p>
            <a:pPr marL="0" lvl="0" indent="0" algn="r" rtl="0">
              <a:spcBef>
                <a:spcPts val="0"/>
              </a:spcBef>
              <a:spcAft>
                <a:spcPts val="0"/>
              </a:spcAft>
              <a:buNone/>
            </a:pPr>
            <a:fld id="{00000000-1234-1234-1234-123412341234}" type="slidenum">
              <a:rPr lang="en-GB"/>
              <a:t>57</a:t>
            </a:fld>
            <a:endParaRPr/>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311699" y="1202300"/>
            <a:ext cx="7502034" cy="386454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8" name="Google Shape;678;p85"/>
          <p:cNvSpPr txBox="1">
            <a:spLocks noGrp="1"/>
          </p:cNvSpPr>
          <p:nvPr>
            <p:ph type="sldNum" idx="12"/>
          </p:nvPr>
        </p:nvSpPr>
        <p:spPr>
          <a:xfrm>
            <a:off x="8472458" y="4663217"/>
            <a:ext cx="548700" cy="284700"/>
          </a:xfrm>
          <a:prstGeom prst="rect">
            <a:avLst/>
          </a:prstGeom>
          <a:noFill/>
          <a:ln>
            <a:noFill/>
          </a:ln>
        </p:spPr>
        <p:txBody>
          <a:bodyPr spcFirstLastPara="1" wrap="square" lIns="34275" tIns="34275" rIns="34275" bIns="34275" anchor="ctr" anchorCtr="0">
            <a:spAutoFit/>
          </a:bodyPr>
          <a:lstStyle/>
          <a:p>
            <a:pPr marL="0" lvl="0" indent="0" algn="r" rtl="0">
              <a:spcBef>
                <a:spcPts val="0"/>
              </a:spcBef>
              <a:spcAft>
                <a:spcPts val="0"/>
              </a:spcAft>
              <a:buNone/>
            </a:pPr>
            <a:fld id="{00000000-1234-1234-1234-123412341234}" type="slidenum">
              <a:rPr lang="en-GB"/>
              <a:t>58</a:t>
            </a:fld>
            <a:endParaRPr/>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311699" y="1202300"/>
            <a:ext cx="7502034" cy="386454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6" name="Google Shape;686;p86"/>
          <p:cNvSpPr txBox="1">
            <a:spLocks noGrp="1"/>
          </p:cNvSpPr>
          <p:nvPr>
            <p:ph type="sldNum" idx="12"/>
          </p:nvPr>
        </p:nvSpPr>
        <p:spPr>
          <a:xfrm>
            <a:off x="8472458" y="4663217"/>
            <a:ext cx="548700" cy="284700"/>
          </a:xfrm>
          <a:prstGeom prst="rect">
            <a:avLst/>
          </a:prstGeom>
          <a:noFill/>
          <a:ln>
            <a:noFill/>
          </a:ln>
        </p:spPr>
        <p:txBody>
          <a:bodyPr spcFirstLastPara="1" wrap="square" lIns="34275" tIns="34275" rIns="34275" bIns="34275" anchor="ctr" anchorCtr="0">
            <a:spAutoFit/>
          </a:bodyPr>
          <a:lstStyle/>
          <a:p>
            <a:pPr marL="0" lvl="0" indent="0" algn="r" rtl="0">
              <a:spcBef>
                <a:spcPts val="0"/>
              </a:spcBef>
              <a:spcAft>
                <a:spcPts val="0"/>
              </a:spcAft>
              <a:buNone/>
            </a:pPr>
            <a:fld id="{00000000-1234-1234-1234-123412341234}" type="slidenum">
              <a:rPr lang="en-GB"/>
              <a:t>59</a:t>
            </a:fld>
            <a:endParaRPr/>
          </a:p>
        </p:txBody>
      </p:sp>
      <p:sp>
        <p:nvSpPr>
          <p:cNvPr id="687" name="Google Shape;687;p86"/>
          <p:cNvSpPr/>
          <p:nvPr/>
        </p:nvSpPr>
        <p:spPr>
          <a:xfrm>
            <a:off x="473936" y="1103788"/>
            <a:ext cx="3915205" cy="3361660"/>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5975877" y="1103788"/>
            <a:ext cx="2728800" cy="3361800"/>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991972" y="4499025"/>
            <a:ext cx="6852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11824" y="4489475"/>
            <a:ext cx="8358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89542" y="3398857"/>
            <a:ext cx="428338" cy="428338"/>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737994" y="1316794"/>
            <a:ext cx="999310" cy="2935397"/>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189482" y="1821907"/>
            <a:ext cx="999310" cy="553979"/>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Elipse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189482" y="1312277"/>
            <a:ext cx="999310" cy="268605"/>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189482" y="2616910"/>
            <a:ext cx="999310" cy="6207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189482" y="3478723"/>
            <a:ext cx="999310" cy="268605"/>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189482" y="3988353"/>
            <a:ext cx="999310" cy="268605"/>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843753" y="1803005"/>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843753" y="2118678"/>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843753" y="2789249"/>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843753" y="3474971"/>
            <a:ext cx="787793" cy="268605"/>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00"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840681" y="1312277"/>
            <a:ext cx="999310" cy="268605"/>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840681" y="1803005"/>
            <a:ext cx="999310" cy="268605"/>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498700" y="2797779"/>
            <a:ext cx="999300" cy="36690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840681" y="3478723"/>
            <a:ext cx="999310" cy="268605"/>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50761" y="3271177"/>
            <a:ext cx="514260" cy="621385"/>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60325" y="1253025"/>
            <a:ext cx="614250" cy="62137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901751" y="1898425"/>
            <a:ext cx="6213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51425" y="3953850"/>
            <a:ext cx="6963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26167" y="2282229"/>
            <a:ext cx="428338" cy="428338"/>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91581" y="1438456"/>
            <a:ext cx="1665949"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237096" y="1126813"/>
            <a:ext cx="1452231" cy="183406"/>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742281" y="4122656"/>
            <a:ext cx="441808"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742281" y="3613026"/>
            <a:ext cx="441808"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990121" y="2109153"/>
            <a:ext cx="19396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990121" y="2932067"/>
            <a:ext cx="19396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991968" y="2109229"/>
            <a:ext cx="0" cy="827946"/>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742489" y="2496398"/>
            <a:ext cx="248040"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86823" y="2089371"/>
            <a:ext cx="621186"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90306" y="2922542"/>
            <a:ext cx="61422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86823" y="3613026"/>
            <a:ext cx="409797"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86823" y="4122656"/>
            <a:ext cx="621186"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803711" y="3824220"/>
            <a:ext cx="0" cy="297180"/>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803711" y="2090911"/>
            <a:ext cx="0" cy="1310673"/>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4011741" y="3613026"/>
            <a:ext cx="835942"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57825" y="1446600"/>
            <a:ext cx="1381200" cy="1200"/>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340336" y="1581453"/>
            <a:ext cx="0" cy="220980"/>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340336" y="2071682"/>
            <a:ext cx="0" cy="211455"/>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555137" y="2496398"/>
            <a:ext cx="441808"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14734" y="2496398"/>
            <a:ext cx="409797"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7998361" y="2496398"/>
            <a:ext cx="0" cy="290617"/>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14703" y="2496398"/>
            <a:ext cx="0" cy="304935"/>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14703" y="3071182"/>
            <a:ext cx="0" cy="192300"/>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7998350" y="3164679"/>
            <a:ext cx="0" cy="98700"/>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14381" y="3266727"/>
            <a:ext cx="1289100"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340336" y="3270165"/>
            <a:ext cx="0" cy="201930"/>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72806" y="3618875"/>
            <a:ext cx="1466177"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779270" y="2273125"/>
            <a:ext cx="4098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469718" y="2313550"/>
            <a:ext cx="514200" cy="223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165975" y="2805175"/>
            <a:ext cx="999300" cy="36690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00"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65" name="Google Shape;765;p89"/>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77" name="Google Shape;777;p90"/>
          <p:cNvSpPr/>
          <p:nvPr/>
        </p:nvSpPr>
        <p:spPr>
          <a:xfrm>
            <a:off x="5247547" y="3423242"/>
            <a:ext cx="3403055" cy="1393746"/>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267325" y="4051522"/>
            <a:ext cx="3363499" cy="321253"/>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267325" y="4408738"/>
            <a:ext cx="3363499" cy="321253"/>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267325" y="3694306"/>
            <a:ext cx="3363499" cy="321253"/>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795" name="Google Shape;795;p91"/>
          <p:cNvSpPr/>
          <p:nvPr/>
        </p:nvSpPr>
        <p:spPr>
          <a:xfrm>
            <a:off x="7091610" y="2798738"/>
            <a:ext cx="306014" cy="58534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14" name="Google Shape;814;p92"/>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091610" y="2798738"/>
            <a:ext cx="306014" cy="58534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8" name="Google Shape;818;p92"/>
          <p:cNvSpPr txBox="1"/>
          <p:nvPr/>
        </p:nvSpPr>
        <p:spPr>
          <a:xfrm>
            <a:off x="5277181" y="2486725"/>
            <a:ext cx="4665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89</a:t>
            </a:r>
            <a:endParaRPr sz="500">
              <a:latin typeface="Space Mono"/>
              <a:ea typeface="Space Mono"/>
              <a:cs typeface="Space Mono"/>
              <a:sym typeface="Space Mono"/>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286700" y="753175"/>
            <a:ext cx="3219000" cy="13623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34" name="Google Shape;834;p93"/>
          <p:cNvSpPr txBox="1"/>
          <p:nvPr/>
        </p:nvSpPr>
        <p:spPr>
          <a:xfrm>
            <a:off x="5286704" y="753175"/>
            <a:ext cx="3171600" cy="931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46" name="Google Shape;846;p94"/>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286704" y="753175"/>
            <a:ext cx="3171600" cy="931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238022" y="336057"/>
            <a:ext cx="3422105" cy="2429433"/>
          </a:xfrm>
          <a:prstGeom prst="rect">
            <a:avLst/>
          </a:prstGeom>
          <a:noFill/>
          <a:ln>
            <a:noFill/>
          </a:ln>
        </p:spPr>
      </p:pic>
      <p:sp>
        <p:nvSpPr>
          <p:cNvPr id="864" name="Google Shape;864;p95"/>
          <p:cNvSpPr/>
          <p:nvPr/>
        </p:nvSpPr>
        <p:spPr>
          <a:xfrm>
            <a:off x="6364080" y="2806442"/>
            <a:ext cx="280157" cy="570886"/>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286375" y="523875"/>
            <a:ext cx="1291010" cy="258031"/>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286375" y="2538989"/>
            <a:ext cx="1643100" cy="14272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247547" y="3423242"/>
            <a:ext cx="3403200" cy="1393800"/>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267325" y="4051522"/>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267325" y="4408738"/>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62952" y="3424600"/>
            <a:ext cx="728400" cy="300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500"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267325" y="3694306"/>
            <a:ext cx="3363600" cy="321300"/>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300"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286704" y="753175"/>
            <a:ext cx="3171600" cy="931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400"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2" name="Google Shape;882;p96"/>
          <p:cNvSpPr txBox="1">
            <a:spLocks noGrp="1"/>
          </p:cNvSpPr>
          <p:nvPr>
            <p:ph type="sldNum" idx="12"/>
          </p:nvPr>
        </p:nvSpPr>
        <p:spPr>
          <a:xfrm>
            <a:off x="8472458" y="4663217"/>
            <a:ext cx="548700" cy="284700"/>
          </a:xfrm>
          <a:prstGeom prst="rect">
            <a:avLst/>
          </a:prstGeom>
          <a:noFill/>
          <a:ln>
            <a:noFill/>
          </a:ln>
        </p:spPr>
        <p:txBody>
          <a:bodyPr spcFirstLastPara="1" wrap="square" lIns="34275" tIns="34275" rIns="34275" bIns="34275" anchor="ctr" anchorCtr="0">
            <a:spAutoFit/>
          </a:bodyPr>
          <a:lstStyle/>
          <a:p>
            <a:pPr marL="0" lvl="0" indent="0" algn="r" rtl="0">
              <a:spcBef>
                <a:spcPts val="0"/>
              </a:spcBef>
              <a:spcAft>
                <a:spcPts val="0"/>
              </a:spcAft>
              <a:buNone/>
            </a:pPr>
            <a:fld id="{00000000-1234-1234-1234-123412341234}" type="slidenum">
              <a:rPr lang="en-GB"/>
              <a:t>69</a:t>
            </a:fld>
            <a:endParaRPr/>
          </a:p>
        </p:txBody>
      </p:sp>
      <p:sp>
        <p:nvSpPr>
          <p:cNvPr id="883" name="Google Shape;883;p96"/>
          <p:cNvSpPr/>
          <p:nvPr/>
        </p:nvSpPr>
        <p:spPr>
          <a:xfrm>
            <a:off x="805836" y="1866768"/>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726711" y="18762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647587" y="18762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68461" y="18762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939350" y="2199105"/>
            <a:ext cx="775178"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768997" y="2607822"/>
            <a:ext cx="12477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870913" y="21991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802476" y="21991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349857" y="3218468"/>
            <a:ext cx="6264300"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1958" y="1684581"/>
            <a:ext cx="422163" cy="933758"/>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759625" y="26078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64948" y="26078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3039" y="2820494"/>
            <a:ext cx="0" cy="395700"/>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348925" y="29670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93266" y="29670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64262" y="2967078"/>
            <a:ext cx="0" cy="257400"/>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461229" y="1426992"/>
            <a:ext cx="865015" cy="75810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390987" y="1381628"/>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308163" y="1391153"/>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234863" y="1394505"/>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3027313" y="2144493"/>
            <a:ext cx="3089360" cy="2479192"/>
          </a:xfrm>
          <a:prstGeom prst="rect">
            <a:avLst/>
          </a:prstGeom>
          <a:noFill/>
          <a:ln>
            <a:noFill/>
          </a:ln>
        </p:spPr>
      </p:pic>
      <p:sp>
        <p:nvSpPr>
          <p:cNvPr id="908" name="Google Shape;908;p97"/>
          <p:cNvSpPr/>
          <p:nvPr/>
        </p:nvSpPr>
        <p:spPr>
          <a:xfrm>
            <a:off x="723162" y="685668"/>
            <a:ext cx="1142706" cy="64562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44037" y="695193"/>
            <a:ext cx="1142706" cy="64562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64913" y="6951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485787" y="695193"/>
            <a:ext cx="1142706" cy="64562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56676" y="1018005"/>
            <a:ext cx="775177"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86323" y="1426722"/>
            <a:ext cx="13464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8239" y="10180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19802" y="1018005"/>
            <a:ext cx="775178"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67183" y="2037368"/>
            <a:ext cx="6264300"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319283" y="503481"/>
            <a:ext cx="422164" cy="93375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6951" y="14267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482274" y="14267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530365" y="1639394"/>
            <a:ext cx="0" cy="395700"/>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66251" y="17859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0592" y="17859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081588" y="1785978"/>
            <a:ext cx="0" cy="257400"/>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78555" y="245892"/>
            <a:ext cx="865015" cy="75810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308313" y="200528"/>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25489" y="210053"/>
            <a:ext cx="833965"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52189" y="213405"/>
            <a:ext cx="833966" cy="772250"/>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42125" y="42125"/>
            <a:ext cx="9101875" cy="511980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67183" y="2038227"/>
            <a:ext cx="6264300"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3060614" y="2122234"/>
            <a:ext cx="3022663" cy="2293749"/>
          </a:xfrm>
          <a:prstGeom prst="rect">
            <a:avLst/>
          </a:prstGeom>
          <a:noFill/>
          <a:ln>
            <a:noFill/>
          </a:ln>
        </p:spPr>
      </p:pic>
      <p:sp>
        <p:nvSpPr>
          <p:cNvPr id="939" name="Google Shape;939;p99"/>
          <p:cNvSpPr/>
          <p:nvPr/>
        </p:nvSpPr>
        <p:spPr>
          <a:xfrm>
            <a:off x="723162" y="685668"/>
            <a:ext cx="1142700" cy="645600"/>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44037" y="695193"/>
            <a:ext cx="1142700" cy="645600"/>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64913"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485787"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56676" y="1018005"/>
            <a:ext cx="775200"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86323" y="1426722"/>
            <a:ext cx="13464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8239" y="1018005"/>
            <a:ext cx="775200"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19802" y="1018005"/>
            <a:ext cx="775200"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319283" y="503481"/>
            <a:ext cx="422160" cy="933768"/>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6951" y="14267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482274" y="14267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530365" y="1639394"/>
            <a:ext cx="0" cy="395700"/>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66251" y="17859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0592" y="17859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081588" y="1785978"/>
            <a:ext cx="0" cy="257400"/>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78551" y="245892"/>
            <a:ext cx="865018" cy="75809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308308" y="200523"/>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25484" y="210048"/>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52184" y="213401"/>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3069098" y="2196628"/>
            <a:ext cx="2926425" cy="2210171"/>
          </a:xfrm>
          <a:prstGeom prst="rect">
            <a:avLst/>
          </a:prstGeom>
          <a:noFill/>
          <a:ln>
            <a:noFill/>
          </a:ln>
        </p:spPr>
      </p:pic>
      <p:sp>
        <p:nvSpPr>
          <p:cNvPr id="968" name="Google Shape;968;p101"/>
          <p:cNvSpPr/>
          <p:nvPr/>
        </p:nvSpPr>
        <p:spPr>
          <a:xfrm>
            <a:off x="723162" y="685668"/>
            <a:ext cx="1142700" cy="645600"/>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44037" y="695193"/>
            <a:ext cx="1142700" cy="645600"/>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00"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64913"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485787" y="695193"/>
            <a:ext cx="1142700" cy="645600"/>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00"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56676" y="1018005"/>
            <a:ext cx="775200"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86323" y="1426722"/>
            <a:ext cx="13464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00"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8239" y="1018005"/>
            <a:ext cx="775200"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19802" y="1018005"/>
            <a:ext cx="775200"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319283" y="503481"/>
            <a:ext cx="422160" cy="933768"/>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6951" y="1426722"/>
            <a:ext cx="9930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482274" y="1426722"/>
            <a:ext cx="1245600" cy="3771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00"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530365" y="1639394"/>
            <a:ext cx="0" cy="395700"/>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66251" y="1785971"/>
            <a:ext cx="0" cy="255000"/>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0592" y="1785978"/>
            <a:ext cx="0" cy="257400"/>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081588" y="1785978"/>
            <a:ext cx="0" cy="257400"/>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78551" y="245892"/>
            <a:ext cx="865018" cy="758090"/>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308308" y="200523"/>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25484" y="210048"/>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52184" y="213401"/>
            <a:ext cx="833982" cy="772242"/>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67183" y="2038227"/>
            <a:ext cx="6264300"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213725" cy="518272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sp>
        <p:nvSpPr>
          <p:cNvPr id="1003" name="Google Shape;1003;p104"/>
          <p:cNvSpPr txBox="1">
            <a:spLocks noGrp="1"/>
          </p:cNvSpPr>
          <p:nvPr>
            <p:ph type="sldNum" idx="12"/>
          </p:nvPr>
        </p:nvSpPr>
        <p:spPr>
          <a:xfrm>
            <a:off x="8472458" y="4663217"/>
            <a:ext cx="548700" cy="284700"/>
          </a:xfrm>
          <a:prstGeom prst="rect">
            <a:avLst/>
          </a:prstGeom>
          <a:noFill/>
          <a:ln>
            <a:noFill/>
          </a:ln>
        </p:spPr>
        <p:txBody>
          <a:bodyPr spcFirstLastPara="1" wrap="square" lIns="34275" tIns="34275" rIns="34275" bIns="34275" anchor="ctr" anchorCtr="0">
            <a:spAutoFit/>
          </a:bodyPr>
          <a:lstStyle/>
          <a:p>
            <a:pPr marL="0" lvl="0" indent="0" algn="r" rtl="0">
              <a:spcBef>
                <a:spcPts val="0"/>
              </a:spcBef>
              <a:spcAft>
                <a:spcPts val="0"/>
              </a:spcAft>
              <a:buNone/>
            </a:pPr>
            <a:fld id="{00000000-1234-1234-1234-123412341234}" type="slidenum">
              <a:rPr lang="en-GB"/>
              <a:t>77</a:t>
            </a:fld>
            <a:endParaRPr/>
          </a:p>
        </p:txBody>
      </p:sp>
      <p:pic>
        <p:nvPicPr>
          <p:cNvPr id="1004" name="Google Shape;1004;p104" descr="study_DIC20.pdf"/>
          <p:cNvPicPr preferRelativeResize="0"/>
          <p:nvPr/>
        </p:nvPicPr>
        <p:blipFill rotWithShape="1">
          <a:blip r:embed="rId3">
            <a:alphaModFix/>
          </a:blip>
          <a:srcRect/>
          <a:stretch/>
        </p:blipFill>
        <p:spPr>
          <a:xfrm>
            <a:off x="5933299" y="831111"/>
            <a:ext cx="2782851" cy="3884871"/>
          </a:xfrm>
          <a:prstGeom prst="rect">
            <a:avLst/>
          </a:prstGeom>
          <a:noFill/>
          <a:ln>
            <a:noFill/>
          </a:ln>
        </p:spPr>
      </p:pic>
      <p:graphicFrame>
        <p:nvGraphicFramePr>
          <p:cNvPr id="1005" name="Google Shape;1005;p104"/>
          <p:cNvGraphicFramePr/>
          <p:nvPr/>
        </p:nvGraphicFramePr>
        <p:xfrm>
          <a:off x="393700" y="1135911"/>
          <a:ext cx="3000000" cy="3000000"/>
        </p:xfrm>
        <a:graphic>
          <a:graphicData uri="http://schemas.openxmlformats.org/drawingml/2006/table">
            <a:tbl>
              <a:tblPr bandRow="1">
                <a:noFill/>
                <a:tableStyleId>{644D82D1-A5CC-4578-84F6-CFC42621E0DF}</a:tableStyleId>
              </a:tblPr>
              <a:tblGrid>
                <a:gridCol w="1258175">
                  <a:extLst>
                    <a:ext uri="{9D8B030D-6E8A-4147-A177-3AD203B41FA5}">
                      <a16:colId xmlns:a16="http://schemas.microsoft.com/office/drawing/2014/main" val="20000"/>
                    </a:ext>
                  </a:extLst>
                </a:gridCol>
                <a:gridCol w="4233800">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7 programadores expertos en Smalltalk</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Conjunto de datos de vinos (~1’000 registros)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2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a:stretch/>
        </p:blipFill>
        <p:spPr>
          <a:xfrm>
            <a:off x="566738" y="-6037101"/>
            <a:ext cx="8010405" cy="11182548"/>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247650" y="1331650"/>
            <a:ext cx="7401000" cy="29451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1600"/>
              <a:t>Los usuarios se beneficiaron de la </a:t>
            </a:r>
            <a:r>
              <a:rPr lang="en-GB" sz="1600" b="1"/>
              <a:t>expresividad</a:t>
            </a:r>
            <a:r>
              <a:rPr lang="en-GB" sz="16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1600"/>
              <a:t>La herramienta </a:t>
            </a:r>
            <a:r>
              <a:rPr lang="en-GB" sz="1600" b="1"/>
              <a:t>comprehensiva</a:t>
            </a:r>
            <a:r>
              <a:rPr lang="en-GB" sz="1600"/>
              <a:t> permitió a los usuarios mantener la inmersión en realidad aumentada en largas sesiones (&gt;1.5 hrs.)  </a:t>
            </a:r>
            <a:endParaRPr sz="1600"/>
          </a:p>
          <a:p>
            <a:pPr marL="254000" lvl="0" indent="-241300" algn="l" rtl="0">
              <a:lnSpc>
                <a:spcPct val="100000"/>
              </a:lnSpc>
              <a:spcBef>
                <a:spcPts val="500"/>
              </a:spcBef>
              <a:spcAft>
                <a:spcPts val="0"/>
              </a:spcAft>
              <a:buSzPts val="1600"/>
              <a:buChar char="●"/>
            </a:pPr>
            <a:r>
              <a:rPr lang="en-GB" sz="1600"/>
              <a:t>Las sesiones fueron altamente interactivas gracias a la facilidad de aplicar cambios </a:t>
            </a:r>
            <a:r>
              <a:rPr lang="en-GB" sz="1600" b="1"/>
              <a:t>en tiempo real</a:t>
            </a:r>
            <a:r>
              <a:rPr lang="en-GB" sz="1600"/>
              <a:t>  </a:t>
            </a:r>
            <a:endParaRPr sz="160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687422" y="4788535"/>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600" i="0" u="none" strike="noStrike" cap="none">
                <a:solidFill>
                  <a:schemeClr val="dk1"/>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