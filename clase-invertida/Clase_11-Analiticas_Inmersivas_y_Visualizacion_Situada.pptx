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341" r:id="rId96"/>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6.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1.xml"/><Relationship Id="rId92" Type="http://schemas.openxmlformats.org/officeDocument/2006/relationships/slide" Target="slides/slide84.xml"/><Relationship Id="rId93" Type="http://schemas.openxmlformats.org/officeDocument/2006/relationships/slide" Target="slides/slide82.xml"/><Relationship Id="rId94" Type="http://schemas.openxmlformats.org/officeDocument/2006/relationships/slide" Target="slides/slide85.xml"/><Relationship Id="rId95" Type="http://schemas.openxmlformats.org/officeDocument/2006/relationships/slide" Target="slides/slide83.xml"/><Relationship Id="rId9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~1.4 min (acumulado ~1 min de 80)</a:t>
            </a:r>
          </a:p>
          <a:p/>
          <a:p>
            <a:r>
              <a:t>GUION: Bienvenidos a la clase 11 de Realidad Extendida, dedicada a Analíticas Inmersivas y Visualización Situada. Hoy, como Grupo 1, vamos a recorrer qué significa que una visualización esté situada en el mundo real y cómo se diseña para que funcione bien en realidad aumentada.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~0.6 min (acumulado ~2 min de 80)</a:t>
            </a:r>
          </a:p>
          <a:p/>
          <a:p>
            <a:r>
              <a:t>GUION: Partimos por la definición central de esta clase. Una visualización situada es la visualización de datos que hace referencia a objetos del mundo real semánticamente significativos. Es decir, los datos no flotan sueltos, sino que se ligan a algo concreto de nuestro entorno que tiene sentido para quien lo mira.</a:t>
            </a:r>
          </a:p>
          <a:p/>
          <a:p>
            <a:r>
              <a:t>NOTAS ORIGINALES: Es la visualización de datos que hace referencia a objetos del mundo real semánticamente significativos.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~3 min de 80)</a:t>
            </a:r>
          </a:p>
          <a:p/>
          <a:p>
            <a:r>
              <a:t>GUION: Veamos ejemplos de Visualización Situada. A la izquierda, etiquetas textuales para lugares de interés arquitectónico, y a la derecha, niveles de contaminación en la calle. En ambos casos la información aparece asociada al lugar o al objeto al que se refiere, y las imágenes provienen de Raphael Grasset y de Sean White y Steve Feiner.</a:t>
            </a: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~3 min de 80)</a:t>
            </a:r>
          </a:p>
          <a:p/>
          <a:p>
            <a:r>
              <a:t>GUION: Otro ejemplo es la clasificación de las plantas. Tras detectar la especie de la muestra vegetal, se recupera la información pertinente y se presenta ligada a esa planta. Aquí el objeto real es el punto de partida de la visualización.</a:t>
            </a: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~4 min de 80)</a:t>
            </a:r>
          </a:p>
          <a:p/>
          <a:p>
            <a:r>
              <a:t>GUION: Ahora un contraejemplo, que ayuda a delimitar el concepto: la visualización de AR no situada. Inspeccionar un modelo matemático tridimensional en AR es una aplicación atractiva, pero no es una visualización situada, porque no se hace referencia a ningún objeto del mundo real semánticamente significativo. La clave, entonces, no es usar AR, sino a qué se refieren los datos.</a:t>
            </a: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~4 min de 80)</a:t>
            </a:r>
          </a:p>
          <a:p/>
          <a:p>
            <a:r>
              <a:t>GUION: Volvemos a un caso situado: la visualización de datos hidrológicos. Hydrosys muestra las ubicaciones de las estaciones de una red global de sensores, así como la temperatura interpolada trazada como contornos geodésicos. Con esto cerramos la parte de definición y ejemplos: una visualización es situada cuando sus datos se anclan a referentes reales con significado.</a:t>
            </a: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~0.2 min (acumulado ~4 min de 80)</a:t>
            </a:r>
          </a:p>
          <a:p/>
          <a:p>
            <a:r>
              <a:t>GUION: Pasamos entonces a la pregunta práctica: ¿cómo diseñar una visualización situada? Recordemos que el objetivo sigue siendo referirse a objetos del mundo real semánticamente significativos. Veremos técnicas para resaltar, etiquetar y también para mostrar lo que no se ve a simple vista.</a:t>
            </a:r>
          </a:p>
          <a:p/>
          <a:p>
            <a:r>
              <a:t>NOTAS ORIGINALES: Es la visualización de datos que hace referencia a objetos del mundo real semánticamente significativos.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~5 min de 80)</a:t>
            </a:r>
          </a:p>
          <a:p/>
          <a:p>
            <a:r>
              <a:t>GUION: La primera técnica es resaltar objetos y piezas. El foco de una visualización puede ser enfatizado para evitar interferencias visuales con el fondo y para guiar la atención del espectador. Así, el resaltado cumple dos funciones: separar lo importante del fondo y dirigir la mirada.</a:t>
            </a: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~5 min de 80)</a:t>
            </a:r>
          </a:p>
          <a:p/>
          <a:p>
            <a:r>
              <a:t>GUION: Pasamos a la gestión de la vista, que en gran parte es un problema de etiquetado. Esta lámina muestra una colocación codiciosa de etiquetas internas basadas en las proyecciones 2D de los objetos. Es decir, se decide dónde poner cada etiqueta a partir de cómo se proyectan los objetos en la imagen, con imágenes de Blaine Bell y Steve Feiner, de Columbia.</a:t>
            </a: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~6 min de 80)</a:t>
            </a:r>
          </a:p>
          <a:p/>
          <a:p>
            <a:r>
              <a:t>GUION: Sobre la calidad de las etiquetas internas, hay reglas simples. Primero, evitar la superposición de etiquetas internas. Segundo, etiquetar solo si el centro del objeto es visible, y en ese caso la etiqueta aparece allí. Y tercero, mover la posición de la etiqueta al centro del rectángulo visible, como se ve a la derecha.</a:t>
            </a: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~7 min de 80)</a:t>
            </a:r>
          </a:p>
          <a:p/>
          <a:p>
            <a:r>
              <a:t>GUION: Otro criterio es la ausencia de ambigüedad. La vinculación mental entre el objeto y la etiqueta debe ser fácil, y la lámina lo ilustra con el caso de la etiqueta interna. El título de la lámina dice visualización del nivel de error, con imagen de Enylton Coelho, y lo importante aquí es que quien mira no dude a qué objeto pertenece cada etiqueta.</a:t>
            </a: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~8 min de 80)</a:t>
            </a:r>
          </a:p>
          <a:p/>
          <a:p>
            <a:r>
              <a:t>GUION: Siguiendo con las etiquetas internas, hay tres recomendaciones de ubicación. Coloquemos la etiqueta sobre las regiones más destacadas para identificar fácilmente el objeto etiquetado, y evitemos las regiones muy estrechas, manteniendo espacio suficiente para identificar el objeto subyacente. Además, la etiqueta no debe sobrepasar la huella de los objetos y, si ocurre, hay que pasar al etiquetado externo.</a:t>
            </a: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~8 min de 80)</a:t>
            </a:r>
          </a:p>
          <a:p/>
          <a:p>
            <a:r>
              <a:t>GUION: Además de ubicarla bien, la etiqueta debe ser legible. Importa el contraste con el fondo, y en una etiqueta interna la alta curvatura reduce la legibilidad, por lo que si está alineada con el objeto conviene cambiar a alineación horizontal. Y si el objeto no ofrece suficiente espacio, cambiamos a etiqueta externa en lugar de apretar la etiqueta. La imagen es de Alex Leykin.</a:t>
            </a: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~0.9 min (acumulado ~9 min de 80)</a:t>
            </a:r>
          </a:p>
          <a:p/>
          <a:p>
            <a:r>
              <a:t>GUION: Para decidir esto de forma automática, usamos la discriminación automática del fondo. Se determina la legibilidad evaluando el contraste, es decir, la diferencia entre las intensidades medias del texto y del entorno. Si la etiqueta resulta ilegible, podemos reposicionarla en una zona clasificada como legible, incluso cambiando de interna a externa, o añadir un fondo opaco y sintético detrás, por ejemplo un rectángulo delimitador 2D.</a:t>
            </a: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~10 min de 80)</a:t>
            </a:r>
          </a:p>
          <a:p/>
          <a:p>
            <a:r>
              <a:t>GUION: Ahora incorporamos la saliencia para la gestión de la vista. La colocación ingenua de las etiquetas ocluye los objetos de interés, mientras que la colocación guiada por saliencia evita las oclusiones y prefiere las zonas vacías, como el cielo. Con imágenes de Raphael Grasset, vemos la diferencia entre ambas.</a:t>
            </a: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~10 min de 80)</a:t>
            </a:r>
          </a:p>
          <a:p/>
          <a:p>
            <a:r>
              <a:t>GUION: Una variante es la detección de puntos de interés para la gestión de vistas. La idea es desplazar la etiqueta a las zonas con poca textura, de modo que no tape las partes con más información visual. La imagen es de Gerhard Reitmayr.</a:t>
            </a: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~11 min de 80)</a:t>
            </a:r>
          </a:p>
          <a:p/>
          <a:p>
            <a:r>
              <a:t>GUION: Hasta aquí pensamos en un solo punto de vista, pero en AR el usuario se mueve. Por eso aparece la colocación de etiquetas temporalmente incoherentes. Incluso si se encuentra una disposición adecuada para un punto de vista, puede dar lugar a oclusiones en otro: anotaciones que se ocluyen entre sí, anotaciones que ocluyen el objeto de interés y líneas de guiado que se cruzan entre sí.</a:t>
            </a: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~12 min de 80)</a:t>
            </a:r>
          </a:p>
          <a:p/>
          <a:p>
            <a:r>
              <a:t>GUION: Veamos con más detalle el cruce de las líneas guía. Sin coherencia temporal, la rotación de la cámara puede hacer que dos etiquetas, marcadas en rojo y azul, cambien de orden inesperadamente. Esto es justo lo que queremos evitar, y la imagen es de Markus Tatzgern y Denis Kalkofen.</a:t>
            </a: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~12 min de 80)</a:t>
            </a:r>
          </a:p>
          <a:p/>
          <a:p>
            <a:r>
              <a:t>GUION: La alternativa es la colocación de etiquetas temporalmente coherente. El etiquetado Hedgehog refuerza la coherencia temporal, de modo que las etiquetas no saltan ni se reordenan al mover la cámara. Con esto cerramos el tema del etiquetado: ubicar bien, hacer legible, evitar oclusiones y mantener coherencia entre vistas.</a:t>
            </a: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~13 min de 80)</a:t>
            </a:r>
          </a:p>
          <a:p/>
          <a:p>
            <a:r>
              <a:t>GUION: Cambiamos de subtema: hacer visible lo invisible. Se trata de mostrar estructuras e información ocultas, algo así como la visión de rayos X de Superman. Esto trae un problema de orden espacial, porque lo que mostramos está detrás de algo que sí vemos.</a:t>
            </a: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~13 min de 80)</a:t>
            </a:r>
          </a:p>
          <a:p/>
          <a:p>
            <a:r>
              <a:t>GUION: El primer recurso es la transparencia. A la izquierda vemos la superposición ingenua de un objeto sintético oculto sobre una escena real, y a la derecha la superposición de un objeto sintético con transparencia uniforme. Imágenes de Denis Kalkofen.</a:t>
            </a: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~14 min de 80)</a:t>
            </a:r>
          </a:p>
          <a:p/>
          <a:p>
            <a:r>
              <a:t>GUION: Sigamos con el ghosting. La visualización muestra claramente el interior del coche en la parte trasera. Pero una mala elección del color afecta gravemente a la percepción de la visualización ocluida, así que el color no es un detalle menor.</a:t>
            </a: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~14 min de 80)</a:t>
            </a:r>
          </a:p>
          <a:p/>
          <a:p>
            <a:r>
              <a:t>GUION: En este ejemplo, Ghosting Car, la carrocería de un auto real es el oclusor de un motor virtual. Tras extraer los contornos como pistas de forma importantes, se aplica una transformación de distancia 2D para que el oclusor parezca más sólido. Es decir, conservamos señales del objeto real para que se entienda qué está delante de qué.</a:t>
            </a: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~15 min de 80)</a:t>
            </a:r>
          </a:p>
          <a:p/>
          <a:p>
            <a:r>
              <a:t>GUION: Aun así, los fantasmas transparentes tienen problemas. Se mezclan con el negro si no se oculta ningún objeto virtual. Y a veces es difícil entender la relación espacial del objeto, especialmente en el caso de múltiples objetos ocluidos.</a:t>
            </a: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~16 min de 80)</a:t>
            </a:r>
          </a:p>
          <a:p/>
          <a:p>
            <a:r>
              <a:t>GUION: Profundizamos en los problemas con la fusión simple. Si la transparencia de los oclusores es muy alta, puede ser difícil entender la relación espacial de los objetos, especialmente con múltiples objetos ocluidos. Además, se pierden importantes señales de profundidad y puntos de referencia.</a:t>
            </a: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~16 min de 80)</a:t>
            </a:r>
          </a:p>
          <a:p/>
          <a:p>
            <a:r>
              <a:t>GUION: Como alternativa a la transparencia, tenemos los recortes. Los objetos ocultos se visualizan totalmente opacos, y se proporcionan señales de oclusión adicionales a través del recorte. En el ejemplo con vídeo frente a fondo negro, arriba solo se recortan los objetos ocultos, y abajo el vídeo se elimina en el corte, con imagen de Tobias Sielhorst.</a:t>
            </a: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~17 min de 80)</a:t>
            </a:r>
          </a:p>
          <a:p/>
          <a:p>
            <a:r>
              <a:t>GUION: Veamos las vistas de los cortes. El error de registro provoca un desajuste entre el contenido virtual y el contexto del mundo real, en este caso el compartimiento del motor. Ese error puede resolverse integrando una copia del contexto en la visualización, aquí los contornos del coche.</a:t>
            </a: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~18 min de 80)</a:t>
            </a:r>
          </a:p>
          <a:p/>
          <a:p>
            <a:r>
              <a:t>GUION: Los recortes pueden tener distintas formas. Pueden estar alineados con la pantalla o fijos en el espacio, ser un foco 2D o una forma 3D, y la forma puede ser fija, seguir la geometría de la escena o ser definida por el usuario. Las imágenes son de Chris Furmanski, Henry Fuchs, de UNC Chapel Hill, y Christoph Bichlmeier.</a:t>
            </a: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~18 min de 80)</a:t>
            </a:r>
          </a:p>
          <a:p/>
          <a:p>
            <a:r>
              <a:t>GUION: Los recortes también tienen problemas, en particular los grandes cortes. El agujero puede llegar a ser tan grande como el oclusor, y entonces no hay oclusor y no queda ninguna pista de oclusión, por lo que restaurar mentalmente la sección de corte se vuelve difícil. En esos casos utilizamos el ghosting, entendido como una representación escasa de los objetos ocluidos.</a:t>
            </a: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~19 min de 80)</a:t>
            </a:r>
          </a:p>
          <a:p/>
          <a:p>
            <a:r>
              <a:t>GUION: Cerramos con la comparación entre conservas discretas y continuas. Lo continuo puede ser difícil de entender y tiene menos píxeles totalmente opacos, mientras que lo discreto hace difícil interpolar entre los niveles de escasez. Con esto concluimos el subtema de hacer visible lo invisible: transparencia, ghosting y recortes son recursos con ventajas y problemas, y la imagen es de Nassir Navab.</a:t>
            </a: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~20 min de 80)</a:t>
            </a:r>
          </a:p>
          <a:p/>
          <a:p>
            <a:r>
              <a:t>GUION: Cerramos las técnicas de ghosting con los problemas que aparecen al preservar el contexto. Cuando hay oclusiones de objetos múltiples, tenemos que decidir qué objeto preservar y cuánta preservación aplicar, y la imagen nos muestra los dos extremos: bajo preservación y sobrepreservado. Por eso la lámina plantea la necesidad de mejores detectores de características y de un filtro de información.</a:t>
            </a: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~20 min de 80)</a:t>
            </a:r>
          </a:p>
          <a:p/>
          <a:p>
            <a:r>
              <a:t>GUION: Pasamos ahora a una visualización concreta: los fantasmas basados en imágenes. Su caso típico son las infraestructuras ocultas, como sub-superficie, tuberías y cables, y trabajamos con ghostings para oclusiones de una sola capa. La pregunta de fondo es qué regiones son buenas para los ghostings, y la respuesta propuesta es la detección de regiones destacadas de la imagen.</a:t>
            </a: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~21 min de 80)</a:t>
            </a:r>
          </a:p>
          <a:p/>
          <a:p>
            <a:r>
              <a:t>GUION: Volvamos a la motivación con un ejemplo de Stefanie Zollmann. Aquí vemos una superposición simple, y lo que le falta son las señales de oclusión: el contenido virtual se pega encima de la escena y perdemos la noción de qué está delante y qué detrás.</a:t>
            </a: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~21 min de 80)</a:t>
            </a:r>
          </a:p>
          <a:p/>
          <a:p>
            <a:r>
              <a:t>GUION: Siguiendo con el mismo ejemplo, ahora aplicamos ghosting. La cuestión que nos plantea la lámina es qué información hay que conservar de la imagen real para recuperar esas señales de oclusión sin perder lo importante del contenido virtual.</a:t>
            </a: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~21 min de 80)</a:t>
            </a:r>
          </a:p>
          <a:p/>
          <a:p>
            <a:r>
              <a:t>GUION: Una técnica relacionada son las explosiones de texturas en vídeo. Se trata de pintar, usando el color medio del borde para rellenar los agujeros. Y cuando los agujeros en el objeto son demasiado grandes, la regla es utilizar sólo datos virtuales.</a:t>
            </a: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~22 min de 80)</a:t>
            </a:r>
          </a:p>
          <a:p/>
          <a:p>
            <a:r>
              <a:t>GUION: Otra estrategia es el mundo curvo, con imagen de Eduardo Veas. La vista en perspectiva variable se consigue aplicando principios de la animación de esqueletos a la parte inclinada de la geometría de la escena. Así integra, en una sola imagen, una perspectiva en primera persona del primer plano y una vista virtual descendente de la escena lejana.</a:t>
            </a: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~0.9 min (acumulado ~23 min de 80)</a:t>
            </a:r>
          </a:p>
          <a:p/>
          <a:p>
            <a:r>
              <a:t>GUION: Cambiamos de enfoque hacia el filtrado espacial con lentes mágicas. Como dicen las notas, una Magic Lens es un elemento de interfaz transparente o semitransparente que se coloca sobre los objetos para cambiar su apariencia y/o su comportamiento interactivo. La lámina muestra las variantes 2D, 3D y 2-1/2D, esta última llamada Flat Lens, con las referencias originales de Bier y colaboradores de 1993 y de Viega y colaboradores de 1996.</a:t>
            </a:r>
          </a:p>
          <a:p/>
          <a:p>
            <a:r>
              <a:t>NOTAS ORIGINALES: A Magic Lens is a transparent or semi-transparent user interface element which can be placed over objects to change their appearance and/or their interactive behavior</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~24 min de 80)</a:t>
            </a:r>
          </a:p>
          <a:p/>
          <a:p>
            <a:r>
              <a:t>GUION: Un primer ejemplo de esta idea es el túnel de rayos X. Permite al usuario mirar dentro de un edificio y, además, da pistas sobre la distancia de la geometría descubierta.</a:t>
            </a: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~24 min de 80)</a:t>
            </a:r>
          </a:p>
          <a:p/>
          <a:p>
            <a:r>
              <a:t>GUION: Otro ejemplo es la lente de rayos X aplicada a un hígado, con imagen de Erick Mendez y Denis Kalkofen. Una lente mágica revela los vasos del interior de un modelo de hígado, de modo que la lente nos deja ver justo lo que está bajo la superficie.</a:t>
            </a: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~25 min de 80)</a:t>
            </a:r>
          </a:p>
          <a:p/>
          <a:p>
            <a:r>
              <a:t>GUION: Ahora pasamos al filtrado basado en el conocimiento, con imagen de Blair MacIntyre y Steve Feiner, de Columbia. La idea es mostrar información de una secuencia de mantenimiento basada en el conocimiento del procedimiento y el estado del usuario. Es decir, el filtro ya no depende solo de la geometría, sino de qué paso se está realizando.</a:t>
            </a: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~25 min de 80)</a:t>
            </a:r>
          </a:p>
          <a:p/>
          <a:p>
            <a:r>
              <a:t>GUION: Sigamos con el filtrado por contexto desde el gráfico de la escena. Aquí la selección de área se hace mediante una lente mágica 3D, y la apariencia de los objetos se determina a partir de los atributos heredados en el gráfico de la escena. La imagen es de Erick Mendez.</a:t>
            </a: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~26 min de 80)</a:t>
            </a:r>
          </a:p>
          <a:p/>
          <a:p>
            <a:r>
              <a:t>GUION: Cerramos los filtros con la agrupación jerárquica de etiquetas, con imágenes de Markus Tatzgern y Denis Kalkofen. Mostrar todos los libros que coinciden con una consulta a la vez produce desorden. En cambio, agrupar los libros por similitud y mostrar sólo los grupos produce una vista fácilmente comprensible. En síntesis, en visualización situada filtramos por espacio, por conocimiento, por contexto y por agrupación para evitar la sobrecarga de información.</a:t>
            </a:r>
          </a:p>
          <a:p/>
          <a:p>
            <a:r>
              <a:t>PAUSA: Pausa de verificación al cierre de la Parte 1: damos un momento para preguntas del curso antes de pasar a analíticas inmersivas.</a:t>
            </a: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~0.2 min (acumulado ~26 min de 80)</a:t>
            </a:r>
          </a:p>
          <a:p/>
          <a:p>
            <a:r>
              <a:t>GUION: Con esto terminamos visualización situada y entramos a un nuevo bloque: las analíticas inmersivas.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~1.3 min (acumulado ~27 min de 80)</a:t>
            </a:r>
          </a:p>
          <a:p/>
          <a:p>
            <a:r>
              <a:t>GUION: Empecemos por la definición, tomada de Marriot y colaboradores. La analítica inmersiva es el uso de herramientas de análisis atractivas y encarnadas para apoyar la comprensión de los datos y la toma de decisiones. Se basa en la visualización de datos, la analítica visual, la realidad virtual, la infografía y la interacción humano-computador. Su objetivo es eliminar las barreras entre las personas, sus datos y las herramientas de análisis, apoyando la comprensión y la toma de decisiones en todas partes y por todos, ya sea individualmente o en colaboración.</a:t>
            </a:r>
          </a:p>
          <a:p/>
          <a:p>
            <a:r>
              <a:t>NOTAS ORIGINALES: La analítica inmersiva es el uso de herramientas de análisis atractivas y personificadas para ayudar a comprender los datos y tomar decisiones. </a:t>
            </a:r>
          </a:p>
          <a:p/>
          <a:p>
            <a:r>
              <a:t>Para ello, la analítica inmersiva se basa en múltiples campos, como la visualización de datos, la analítica visual, la realidad virtual, la infografía y la interacción persona-ordenador. </a:t>
            </a:r>
          </a:p>
          <a:p/>
          <a:p>
            <a: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~29 min de 80)</a:t>
            </a:r>
          </a:p>
          <a:p/>
          <a:p>
            <a:r>
              <a:t>GUION: Esta definición abre varias oportunidades. La exploración de datos corpórea se aleja del mouse y el teclado y permite interacciones táctiles, gestuales, vocales y tangibles. La colaboración puede ser localizada o remota, sincrónica o asincrónica. A eso se suman la inmersión espacial, que usa el espacio alrededor como espacio de trabajo tridimensional, y la presentación multisensorial, que incorpora lo auditivo y otros sentidos. Por último, la participación del público en general y de otras partes interesadas puede aumentar la toma de decisiones basadas en datos.</a:t>
            </a:r>
          </a:p>
          <a:p/>
          <a:p>
            <a:r>
              <a:t>NOTAS ORIGINALES: La analítica inmersiva ofrece varias oportunidades</a:t>
            </a:r>
          </a:p>
          <a:p/>
          <a:p>
            <a:r>
              <a:t>La exploración de datos incorporada </a:t>
            </a:r>
          </a:p>
          <a:p>
            <a:r>
              <a:t>	permite interacciones táctiles, gestuales, vocales y tangibles que pueden ser más intuitivas y atractivas. </a:t>
            </a:r>
          </a:p>
          <a:p/>
          <a:p>
            <a:r>
              <a:t>Colaboración, </a:t>
            </a:r>
          </a:p>
          <a:p>
            <a:r>
              <a:t>	que puede ser conjunta o remota, así como sincrónica o asincrónica.</a:t>
            </a:r>
          </a:p>
          <a:p/>
          <a:p>
            <a:r>
              <a:t>Inmersión espacial </a:t>
            </a:r>
          </a:p>
          <a:p>
            <a:r>
              <a:t>	que permite a los usuarios utilizar el espacio que les rodea como un espacio de trabajo tridimensional </a:t>
            </a:r>
          </a:p>
          <a:p/>
          <a:p>
            <a:r>
              <a:t>Presentación multisensorial que incorpora el oído y los demás sentidos que también pueden utilizarse para proporcionar información adicional o como alternativa a la visión cuando ésta no esté disponible o no sea útil. </a:t>
            </a:r>
          </a:p>
          <a:p/>
          <a:p>
            <a:r>
              <a:t>Y... Participación </a:t>
            </a:r>
          </a:p>
          <a:p>
            <a:r>
              <a:t>	del público en general y de otras partes interesadas que pueden estar más informadas y aumentar la toma de decisiones basadas en datos.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~1.2 min (acumulado ~31 min de 80)</a:t>
            </a:r>
          </a:p>
          <a:p/>
          <a:p>
            <a:r>
              <a:t>GUION: Entonces, ¿cuándo son útiles estas técnicas? Tradicionalmente, la visualización de datos se ha centrado en el rendimiento de las tareas, normalmente precisión y velocidad, y las señales de profundidad pueden mejorar la eficacia en algunos tipos de tareas. Pero el compromiso emocional y el recuerdo también importan, especialmente al comunicar resultados a las partes interesadas, y la sensación de presencia aumenta en los entornos emocionales.</a:t>
            </a:r>
          </a:p>
          <a:p/>
          <a:p>
            <a:r>
              <a:t>NOTAS ORIGINALES: Pero, ¿cuándo ofrece el uso de tecnologías inmersivas ventajas sobre las actuales herramientas de análisis visual de escritorio? </a:t>
            </a:r>
          </a:p>
          <a:p/>
          <a:p>
            <a:r>
              <a:t>Tradicionalmente, los investigadores de la visualización de datos se han centrado en el rendimiento de las tareas, normalmente la precisión y la velocidad. </a:t>
            </a:r>
          </a:p>
          <a:p/>
          <a:p>
            <a:r>
              <a:t>El uso de señales de profundidad puede mejorar la eficacia de algunas tareas de visualización. </a:t>
            </a:r>
          </a:p>
          <a:p/>
          <a:p>
            <a:r>
              <a:t>El compromiso emocional y el recuerdo pueden ser importantes a la hora de comunicar los resultados a las partes interesadas. </a:t>
            </a:r>
          </a:p>
          <a:p/>
          <a:p>
            <a:r>
              <a:t>Y también... la sensación de </a:t>
            </a:r>
          </a:p>
          <a:p>
            <a:r>
              <a:t>	presencia aumenta en entornos "emocionales".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~32 min de 80)</a:t>
            </a:r>
          </a:p>
          <a:p/>
          <a:p>
            <a:r>
              <a:t>GUION: Antes de seguir, hay que reconocer un antecedente. Los investigadores de la visualización de la información han sido muy cautelosos con las representaciones 3D para datos abstractos, y por eso han visto pocos beneficios en las tecnologías de inmersión espacial. Ese conservadurismo es deliberado y responde al entusiasmo desenfrenado de finales de los 80 y principios de los 90, época en que aparecieron los infames gráficos de tarta o de barras en 3D de las hojas de cálculo. Los estudios posteriores no encontraron ventaja de estas representaciones sobre las 2D en datos abstractos, y el entusiasmo se volvió escepticismo. Por eso la pregunta de la lámina es si es hora de reconsiderar el valor del 3D.</a:t>
            </a:r>
          </a:p>
          <a:p/>
          <a:p>
            <a:r>
              <a:t>NOTAS ORIGINALES: ¿Es hora de reconsiderar el valor del 3D para la visualización de información?</a:t>
            </a:r>
          </a:p>
          <a:p/>
          <a:p>
            <a:r>
              <a:t>La comunidad de la visualización de la información ha sido crítica con el uso de representaciones en 3D para datos abstractos y, en consecuencia, ha visto pocos beneficios en el uso de tecnologías inmersivas. </a:t>
            </a:r>
          </a:p>
          <a:p/>
          <a:p>
            <a:r>
              <a:t>Este conservadurismo puede ser una respuesta al "entusiasmo desenfrenado" de los investigadores de la visualización de la información a finales de los 80 y principios de los 90 por las representaciones en 3D. </a:t>
            </a:r>
          </a:p>
          <a:p/>
          <a:p>
            <a:r>
              <a:t>También se introdujeron en esta época los infames gráficos de tarta o de barras en 3D que mostraban las populares aplicaciones de hojas de cálculo. </a:t>
            </a:r>
          </a:p>
          <a:p/>
          <a:p>
            <a: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p>
          <a:p/>
          <a:p>
            <a:r>
              <a:t>https://www.youtube.com/watch?v=0oIX0vDJeqo</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~34 min de 80)</a:t>
            </a:r>
          </a:p>
          <a:p/>
          <a:p>
            <a:r>
              <a:t>GUION: Entonces, ¿por qué adoptar la analítica inmersiva? Primero, las pantallas de realidad mixta montadas en la cabeza casi seguro serán mucho más comunes, y la tecnología ha avanzado considerablemente en la última década. Segundo, una tercera dimensión espacial es un canal visual adicional. Tercero, los espacios de trabajo inmersivos permiten colocar las visualizaciones donde queramos y, en realidad aumentada, usar el entorno físico como espacio de trabajo. Y por último, hay que evaluar la eficacia en un sentido más amplio que la eficacia de la tarea, incluyendo otros aspectos del rendimiento y la experiencia del usuario.</a:t>
            </a:r>
          </a:p>
          <a:p/>
          <a:p>
            <a:r>
              <a:t>NOTAS ORIGINALES: Hay varias razones que podemos considerar para adoptar la analítica inmersiva:</a:t>
            </a:r>
          </a:p>
          <a:p/>
          <a:p>
            <a:r>
              <a:t>Potencial de las pantallas inmersivas. </a:t>
            </a:r>
          </a:p>
          <a:p>
            <a:r>
              <a:t>	Las pantallas de realidad mixta montadas en la cabeza son cada vez más comunes. </a:t>
            </a:r>
          </a:p>
          <a:p/>
          <a:p>
            <a:r>
              <a:t>Canal visual adicional. </a:t>
            </a:r>
          </a:p>
          <a:p>
            <a:r>
              <a:t>	Una tercera dimensión espacial proporciona otro canal visual para la visualización de datos. </a:t>
            </a:r>
          </a:p>
          <a:p/>
          <a:p>
            <a:r>
              <a:t>Mejora de la tecnología. </a:t>
            </a:r>
          </a:p>
          <a:p>
            <a:r>
              <a:t>	Las pantallas inmersivas han avanzado considerablemente en la última década. </a:t>
            </a:r>
          </a:p>
          <a:p/>
          <a:p>
            <a:r>
              <a:t>Espacios de trabajo inmersivos. </a:t>
            </a:r>
          </a:p>
          <a:p>
            <a:r>
              <a:t>	los analistas pueden ampliar su espacio de trabajo para utilizar el espacio que les rodea. Pueden colocar las visualizaciones de datos donde les plazca y, en el caso de la realidad aumentada, pueden utilizar el entorno físico como espacio de trabajo. </a:t>
            </a:r>
          </a:p>
          <a:p/>
          <a:p>
            <a:r>
              <a:t>Más allá de la eficacia de las tareas. </a:t>
            </a:r>
          </a:p>
          <a:p>
            <a:r>
              <a:t>	Evaluar la eficacia de la AI en un sentido más amplio que incluya otros aspectos del rendimiento y la experiencia del usuario.</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~2.0 min (acumulado ~36 min de 80)</a:t>
            </a:r>
          </a:p>
          <a:p/>
          <a:p>
            <a:r>
              <a:t>GUION: Resumamos el debate 2D versus 3D. Los estudios previos sugieren que el 3D muestra más claramente la estructura general en datos de mayor dimensión, como terrenos 3D, redes o datos multidimensionales, y sirve para la orientación, mientras que el 2D es preferible para manipulación precisa o medición y comparación exactas de valores. Por eso puede ser útil ofrecer representaciones 2D y 3D vinculadas. Las señales de profundidad pueden mostrar una dimensión abstracta adicional, como en los diseños de redes en 2,5D, usar vistas en superficies no planas y vistas egocéntricas con los datos alrededor del espectador, visualizar datos abstractos con una incrustación espacial y organizar múltiples vistas en el espacio 3D.</a:t>
            </a:r>
          </a:p>
          <a:p/>
          <a:p>
            <a:r>
              <a:t>NOTAS ORIGINALES: En resumen</a:t>
            </a:r>
          </a:p>
          <a:p>
            <a:r>
              <a:t>	Los estudios previos de usuarios sugieren que las representaciones 3D </a:t>
            </a:r>
          </a:p>
          <a:p>
            <a:r>
              <a:t>		muestran más claramente la estructura general en conjuntos de datos de mayor dimensión </a:t>
            </a:r>
          </a:p>
          <a:p>
            <a:r>
              <a:t>		son útiles para proporcionar orientación </a:t>
            </a:r>
          </a:p>
          <a:p>
            <a:r>
              <a:t>	mientras que las representaciones en 2D son preferibles para </a:t>
            </a:r>
          </a:p>
          <a:p>
            <a:r>
              <a:t>		manipulación, medición o comparación precisas. </a:t>
            </a:r>
          </a:p>
          <a:p>
            <a:r>
              <a:t>	Por lo tanto, puede ser útil proporcionar representaciones 2D y 3D vinculadas en las aplicaciones de análisis inmersivo. </a:t>
            </a:r>
          </a:p>
          <a:p/>
          <a:p>
            <a:r>
              <a:t>Y, entre los posibles indicios de profundidad para la visualización de datos abstractos se incluyen </a:t>
            </a:r>
          </a:p>
          <a:p>
            <a:r>
              <a:t>	el uso de la profundidad para mostrar una dimensión abstracta adicional </a:t>
            </a:r>
          </a:p>
          <a:p>
            <a:r>
              <a:t>	vistas en superficies no planas y vistas egocéntricas en las que los datos se sitúan alrededor del espectador, </a:t>
            </a:r>
          </a:p>
          <a:p>
            <a:r>
              <a:t>	la visualización de datos abstractos con una incrustación espacial, así como la organización de múltiples vistas en el espacio 3D.</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~37 min de 80)</a:t>
            </a:r>
          </a:p>
          <a:p/>
          <a:p>
            <a:r>
              <a:t>GUION: Veamos ejemplos de estas ideas. Los cubos matriciales para visualizar redes dinámicas usan la tercera dimensión para mostrar el tiempo.</a:t>
            </a:r>
          </a:p>
          <a:p/>
          <a:p>
            <a:r>
              <a:t>NOTAS ORIGINALES: Se trata de las visualizaciones de Matrix Cubes, en las que se utiliza la tercera dimensión para mostrar el tiempo.</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~0.1 min (acumulado ~37 min de 80)</a:t>
            </a:r>
          </a:p>
          <a:p/>
          <a:p>
            <a:r>
              <a:t>GUION: Esta lámina continúa el ejemplo anterior de los cubos matriciales, mostrando la visualización en sí. Sigue siendo la tercera dimensión puesta al servicio del tiempo en redes dinámicas.</a:t>
            </a: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~0.3 min (acumulado ~37 min de 80)</a:t>
            </a:r>
          </a:p>
          <a:p/>
          <a:p>
            <a:r>
              <a:t>GUION: Otro ejemplo es la vinculación de representaciones 2D en el espacio 3D mediante arcos. Aquí las visualizaciones en 2D se vinculan mediante aristas en un espacio 3D, lo que conecta con la propuesta de combinar vistas 2D y 3D.</a:t>
            </a:r>
          </a:p>
          <a:p/>
          <a:p>
            <a:r>
              <a:t>NOTAS ORIGINALES: Este es un ejemplo en el que las visualizaciones en 2D se vinculan mediante aristas en un espacio 3D</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~38 min de 80)</a:t>
            </a:r>
          </a:p>
          <a:p/>
          <a:p>
            <a:r>
              <a:t>GUION: Un tercer ejemplo es ImAxes. Un usuario trabaja con el sistema y, en la imagen, ha dispuesto cuatro ejes para formar coordenadas paralelas. Los usuarios exploran el conjunto de datos interactuando con los ejes que representan sus dimensiones.</a:t>
            </a:r>
          </a:p>
          <a:p/>
          <a:p>
            <a:r>
              <a:t>NOTAS ORIGINALES: Este es un ejemplo de ImAxes, en el que los usuarios pueden explorar un conjunto de datos interactuando con los ejes que representan las dimensiones del conjunto de datos.</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~38 min de 80)</a:t>
            </a:r>
          </a:p>
          <a:p/>
          <a:p>
            <a:r>
              <a:t>GUION: El último ejemplo es PerfVis, visualizaciones omnipresentes para el conocimiento del rendimiento del software. Usa una visualización de ciudades en 3D, complementada con un gráfico de dispersión, para analizar métricas de rendimiento de un sistema de software. Es dinámica, así que los cambios se reflejan sobre la marcha; los edificios representan clases, el color codifica cuántas veces se invocan sus métodos, y al seleccionar un edificio vemos la historia de rendimiento de esa clase en el gráfico de dispersión.</a:t>
            </a:r>
          </a:p>
          <a:p/>
          <a:p>
            <a:r>
              <a:t>PAUSA: Pausa de verificación al cierre de la Parte 2: abrimos turno de preguntas antes del caso de estudio AVAR.</a:t>
            </a:r>
          </a:p>
          <a:p/>
          <a:p>
            <a:r>
              <a:t>NOTAS ORIGINALES: Se trata de PerfVis, que utiliza una visualización de ciudades en 3D, complementada con un gráfico de dispersión, para analizar las métricas del rendimiento de un sistema de software. </a:t>
            </a:r>
          </a:p>
          <a:p>
            <a:r>
              <a:t>La visualización es dinámica, es decir, los cambios en el rendimiento del sistema se reflejan sobre la marcha en las visualizaciones.</a:t>
            </a:r>
          </a:p>
          <a:p>
            <a:r>
              <a:t>En la visualización, los edificios representan clases del sistema, y el color del edificio codifica el número de veces que se invocan sus métodos.</a:t>
            </a:r>
          </a:p>
          <a:p>
            <a:r>
              <a:t>Los usuarios pueden seleccionar el edificio y obtener detalles de la historia del rendimiento de la clase representada en el gráfico de dispersión.</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~1.2 min (acumulado ~39 min de 80)</a:t>
            </a:r>
          </a:p>
          <a:p/>
          <a:p>
            <a:r>
              <a:t>GUION: Con los ejemplos vistos tenemos el panorama de la analítica inmersiva. Ahora pasamos a un caso de estudio concreto: AVAR, del trabajo de Merino, Sotomayor-Gómez, Yu, Salgado, Bergel, Sedlmair y Weiskopf, presentado como estudio de usuarios exploratorio hacia una visualización situada ágil en CHI 2020.</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~40 min de 80)</a:t>
            </a:r>
          </a:p>
          <a:p/>
          <a:p>
            <a:r>
              <a:t>GUION: Partimos del problema. Las herramientas existentes de visualización situada no promueven agilidad y ofrecen soporte limitado. Esto se ve en tres aspectos: la expresividad, es decir cómo los usuarios pueden expresar diseños; la comprehensividad, qué tan extenso es el soporte al proceso de visualización; y la vivacidad, que señala si los cambios tienen efecto en tiempo real.</a:t>
            </a:r>
          </a:p>
          <a:p/>
          <a:p>
            <a:r>
              <a:t>NOTAS ORIGINALES: 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~40 min de 80)</a:t>
            </a:r>
          </a:p>
          <a:p/>
          <a:p>
            <a:r>
              <a:t>GUION: Si revisamos los trabajos relacionados, vemos un número limitado de técnicas de visualización. Esto se debe a la falta de integración con motores de visualización y a que no hay soporte a la transformación de datos, que es el proceso inicial en la construcción de una visualización.</a:t>
            </a:r>
          </a:p>
          <a:p/>
          <a:p>
            <a:r>
              <a:t>NOTAS ORIGINALES: Si revisamos trabajos relacionados, vemos un limitado numero de técnicas de visualizacion debido a la falta de integración con motores de visualizacion y nulo soporte a la transformación de datos que es el proceso inicial en la construcción de una visualizacion.</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~41 min de 80)</a:t>
            </a:r>
          </a:p>
          <a:p/>
          <a:p>
            <a:r>
              <a:t>GUION: Esta lámina refuerza el mismo diagnóstico sobre las herramientas existentes. Hay pocas técnicas de visualización por la falta de integración con motores de visualización, y nulo soporte a la transformación de datos, el paso inicial de toda visualización. Esa es la brecha que AVAR busca cubrir.</a:t>
            </a:r>
          </a:p>
          <a:p/>
          <a:p>
            <a:r>
              <a:t>NOTAS ORIGINALES: Si revisamos trabajos relacionados, vemos un limitado numero de técnicas de visualizacion debido a la falta de integración con motores de visualizacion y nulo soporte a la transformación de datos que es el proceso inicial en la construcción de una visualizacion.</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~1.0 min (acumulado ~42 min de 80)</a:t>
            </a:r>
          </a:p>
          <a:p/>
          <a:p>
            <a:r>
              <a:t>GUION: Veamos la arquitectura propuesta. AVAR usa una arquitectura cliente servidor: el usuario define visualizaciones mediante un script que se envía por la red a la aplicación servidor, en Pharo. Esta interpreta el script y genera un modelo que distingue visualizaciones de otros objetos. El modelo vuelve al cliente, que identifica el tipo de respuesta, textual o visual, y genera la respuesta adecuada en la escena.</a:t>
            </a:r>
          </a:p>
          <a:p/>
          <a:p>
            <a:r>
              <a:t>NOTAS ORIGINALES: AVAR usa una arquitectura cliente servidor.</a:t>
            </a:r>
          </a:p>
          <a:p>
            <a:r>
              <a:t>El usuario usa la aplicación cliente y define visualizaciones via un script el que es enviado a través de la red hacia la aplicación servidor. </a:t>
            </a:r>
          </a:p>
          <a:p>
            <a:r>
              <a:t>Esta interpreta el script y genera un modelo que distingue visualizaciones de  otros objetos.  </a:t>
            </a:r>
          </a:p>
          <a:p>
            <a:r>
              <a:t>El modelo de retorna al cliente, el que identifica el tipo de respuesta (textual o visual), y en consecuencia, genera una respuesta adecuada en la escena.</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~42 min de 80)</a:t>
            </a:r>
          </a:p>
          <a:p/>
          <a:p>
            <a:r>
              <a:t>GUION: Así se utiliza AVAR en la práctica. El usuario lleva un headset Microsoft HoloLens y un teclado Bluetooth, con los que escribe sus scripts y ve las visualizaciones situadas en su entorno.</a:t>
            </a:r>
          </a:p>
          <a:p/>
          <a:p>
            <a:r>
              <a:t>NOTAS ORIGINALES: Así se utiliza AVAR. El usuario utiliza un headset Microsoft HoloLens y un teclado Bluetooth.</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~42 min de 80)</a:t>
            </a:r>
          </a:p>
          <a:p/>
          <a:p>
            <a:r>
              <a:t>GUION: Entramos al flujo concreto de AVAR. La interfaz se apoya en dos dispositivos, un Microsoft HoloLens y un teclado Bluetooth, y permite al usuario definir un script o, eventualmente, cargar una visualización de ejemplo. Veamos paso a paso qué pasa con ese script.</a:t>
            </a:r>
          </a:p>
          <a:p/>
          <a:p>
            <a:r>
              <a:t>NOTAS ORIGINALES: AVAR presenta una interfaz que permite al usuario definir un script, o eventualmente cargar una visualizacion de ejemplo.</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~0.7 min (acumulado ~43 min de 80)</a:t>
            </a:r>
          </a:p>
          <a:p/>
          <a:p>
            <a:r>
              <a:t>GUION: Partimos con un ejemplo muy simple: el usuario escribe un script que calcula la función fibonacci, y lo hace con el teclado Bluetooth mientras ve el editor en el HoloLens. Todavía no hay datos ni visualización; solo código escrito dentro del entorno de realidad aumentada.</a:t>
            </a:r>
          </a:p>
          <a:p/>
          <a:p>
            <a:r>
              <a:t>NOTAS ORIGINALES: Por ejemplo, el usuario define un script como la siguiente función fibonacci</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~44 min de 80)</a:t>
            </a:r>
          </a:p>
          <a:p/>
          <a:p>
            <a:r>
              <a:t>GUION: Cuando el usuario ejecuta el script, este se envía al servidor, donde aparecen las piezas que sostienen a AVAR: Pharo, su compilador de Smalltalk, y los motores Roassal 2D y Woden 3D. El script se interpreta ahí, y no en el visor.</a:t>
            </a:r>
          </a:p>
          <a:p/>
          <a:p>
            <a:r>
              <a:t>NOTAS ORIGINALES: El script se envía al servidor, se interpreta</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~45 min de 80)</a:t>
            </a:r>
          </a:p>
          <a:p/>
          <a:p>
            <a:r>
              <a:t>GUION: Una vez interpretado, el servidor devuelve el resultado al visor. Es decir, el ciclo es escribir en el HoloLens, procesar en el servidor y volver con una respuesta.</a:t>
            </a:r>
          </a:p>
          <a:p/>
          <a:p>
            <a:r>
              <a:t>NOTAS ORIGINALES: y retorna</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~45 min de 80)</a:t>
            </a:r>
          </a:p>
          <a:p/>
          <a:p>
            <a:r>
              <a:t>GUION: En el caso de fibonacci, el resultado no es una visualización, así que se presenta de forma textual en la parte inferior de la ventana. Ese es el primer tipo de resultado posible; veamos el segundo.</a:t>
            </a:r>
          </a:p>
          <a:p/>
          <a:p>
            <a:r>
              <a:t>NOTAS ORIGINALES: como el resultado no es una visualizacion, este se presenta de forma textual en la parte inferior de la ventana</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~46 min de 80)</a:t>
            </a:r>
          </a:p>
          <a:p/>
          <a:p>
            <a:r>
              <a:t>GUION: Ahora cambiamos el script: en lugar de una función, el usuario escribe código que crea un RWCubeMatrix, le asigna datapoints y le indica los ejes. Esto ya no devuelve un número, sino una visualización, y el flujo hacia el servidor es el mismo.</a:t>
            </a:r>
          </a:p>
          <a:p/>
          <a:p>
            <a:r>
              <a:t>NOTAS ORIGINALES: Si en cambio el resultado es una visualizacion</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~47 min de 80)</a:t>
            </a:r>
          </a:p>
          <a:p/>
          <a:p>
            <a:r>
              <a:t>GUION: Igual que antes, el script viaja al servidor y se interpreta con Pharo y el compilador de Smalltalk, apoyándose en los motores de Roassal y Woden. La diferencia está en lo que vuelve de ese proceso.</a:t>
            </a: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~48 min de 80)</a:t>
            </a:r>
          </a:p>
          <a:p/>
          <a:p>
            <a:r>
              <a:t>GUION: Como el resultado es una visualización, esta se presenta en el espacio tridimensional, frente al usuario. Así, el mismo editor sirve tanto para cálculos textuales como para visualizaciones situadas en el espacio. Con esto cerramos el flujo de ejecución y pasamos a ver cómo AVAR calza con el modelo de referencia.</a:t>
            </a:r>
          </a:p>
          <a:p/>
          <a:p>
            <a:r>
              <a:t>NOTAS ORIGINALES: entonces la visualizacion se presenta en el espacio tridimensional</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~0.7 min (acumulado ~48 min de 80)</a:t>
            </a:r>
          </a:p>
          <a:p/>
          <a:p>
            <a:r>
              <a:t>GUION: Volvemos al Modelo de Referencia de Visualización, con sus etapas de Raw Data, Data Tables, Visual Structures y Views, y los tres procesos que las conectan: Data Transformations, Visual Mappings y View Transformations. AVAR da soporte a estos tres procesos fundamentales, y lo revisamos uno por uno.</a:t>
            </a:r>
          </a:p>
          <a:p/>
          <a:p>
            <a:r>
              <a:t>NOTAS ORIGINALES: Nuevamente revisamos el modelo de referencia y vemos como AVAR ofrece soporte a los tres procesos fundamentales de visualizacion</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~49 min de 80)</a:t>
            </a:r>
          </a:p>
          <a:p/>
          <a:p>
            <a:r>
              <a:t>GUION: Partimos por las Data Transformations, el proceso que lleva de los Raw Data a las Data Tables. Es la primera parte del script que escribe el usuario, y lo vemos en la lámina siguiente.</a:t>
            </a:r>
          </a:p>
          <a:p/>
          <a:p>
            <a:r>
              <a:t>NOTAS ORIGINALES: Transformaciones de datos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~49 min de 80)</a:t>
            </a:r>
          </a:p>
          <a:p/>
          <a:p>
            <a:r>
              <a:t>GUION: Aquí vemos lo que el usuario ve a través del visor: un editor con un script que carga una tabla de datos, con una instrucción para quitar la primera fila, y debajo el resultado de la ejecución. Esta es la transformación de datos: dejar los datos crudos como una tabla lista para visualizar.</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~50 min de 80)</a:t>
            </a:r>
          </a:p>
          <a:p/>
          <a:p>
            <a:r>
              <a:t>GUION: Una vez que se define la tabla de datos, se realiza el mapeo visual. Entramos así al segundo proceso, los Visual Mappings, que llevan de las Data Tables a las Visual Structures.</a:t>
            </a:r>
          </a:p>
          <a:p/>
          <a:p>
            <a:r>
              <a:t>NOTAS ORIGINALES: Una vez que se define la tabla de datos, se realiza el mateo visual</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~50 min de 80)</a:t>
            </a:r>
          </a:p>
          <a:p/>
          <a:p>
            <a:r>
              <a:t>GUION: En el editor el script ha crecido: además de preparar la tabla, ahora define un graficador y una forma para los puntos, con un color. Esas líneas son el mapeo visual, donde se decide cómo cada dato se representa con una forma y un color.</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~50 min de 80)</a:t>
            </a:r>
          </a:p>
          <a:p/>
          <a:p>
            <a:r>
              <a:t>GUION: Ya definidas las estructuras visuales, se definen transformaciones a la vista. Este es el tercer proceso, las View Transformations, que llevan de las Visual Structures a las Views.</a:t>
            </a:r>
          </a:p>
          <a:p/>
          <a:p>
            <a:r>
              <a:t>NOTAS ORIGINALES: Ya definidas las estructuras visuales, se definen transformaciones a la vista</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~51 min de 80)</a:t>
            </a:r>
          </a:p>
          <a:p/>
          <a:p>
            <a:r>
              <a:t>GUION: En esta imagen se ve el resultado en el espacio: una nube de cubos azules, y la mano del usuario aparece junto a la visualización. Esto ilustra la transformación de vista, porque el usuario puede intervenir sobre lo que se muestra mientras lo mira.</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~51 min de 80)</a:t>
            </a:r>
          </a:p>
          <a:p/>
          <a:p>
            <a:r>
              <a:t>GUION: Y esta es otra visualización producida con la herramienta, hecha de puntos conectados por líneas sobre un fondo oscuro. Con esto vimos los tres procesos del modelo de referencia en AVAR, desde los datos crudos hasta la vista, todo dentro del mismo entorno de realidad aumentada.</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~51 min de 80)</a:t>
            </a:r>
          </a:p>
          <a:p/>
          <a:p>
            <a:r>
              <a:t>GUION: Pasemos ahora a cómo se evaluó AVAR. Se hizo un estudio exploratorio con siete participantes, que debían construir una visualización de un conjunto de datos especificado, usando un Microsoft HoloLens y un teclado Bluetooth. Las sesiones se grabaron en video, se registraron las interacciones y se recogieron las impresiones de los participantes.</a:t>
            </a:r>
          </a:p>
          <a:p/>
          <a:p>
            <a:r>
              <a:t>NOTAS ORIGINALES: Se realizo un estudio exploratorio con AVAR y siete participantes. Los que tuvieron que construir una visualización de un conjunto de datos especificado. Los usuarios utilizaron un dispositivo Microsoft HoloLens y un teclado Bluetooth. </a:t>
            </a:r>
          </a:p>
          <a:p>
            <a:r>
              <a:t>La sesiones fueron grabadas en video, se registraron las interacciones, y se recolectaron impresiones de los participantes.</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~0.3 min (acumulado ~51 min de 80)</a:t>
            </a:r>
          </a:p>
          <a:p/>
          <a:p>
            <a:r>
              <a:t>GUION: Estos gráficos muestran los datos de tres participantes, el 5, el 6 y el 7. El eje horizontal es el tiempo, y la barra gris indica la duración de la sesión; el 100% corresponde a aproximadamente 2 horas. Arriba se ven las interacciones con AVAR, tanto en la construcción del script como con la visualización, y los círculos verdes y rojos son ejecuciones exitosas y fallidas; abajo se ven los cambios al script, en adición y eliminación de caracteres. El participante 5 tuvo una sesión larga, usó mucho los ejemplos al inicio y luego hizo múltiples modificaciones incrementales. El participante 6 interactuó intensamente con la visualización al inicio, seleccionó un único ejemplo y hizo modificaciones puntuales. El séptimo tardó una fracción del tiempo de los anteriores, usó un único ejemplo e hizo pocas modificaciones.</a:t>
            </a:r>
          </a:p>
          <a:p/>
          <a:p>
            <a:r>
              <a:t>NOTAS ORIGINALES: Aqui vemos graficos con datos recolectados de tres participantes.</a:t>
            </a:r>
          </a:p>
          <a:p>
            <a:r>
              <a:t>El eje horizontal corresponde al tiempo. La barra gris indica el tiempo de la sesión. El 100% corresponde a aproximadamente 2 horas.</a:t>
            </a:r>
          </a:p>
          <a:p>
            <a:r>
              <a:t>En la parte superior del gráfico se presentan las interacciones del usuario con AVAR, tanto en la construcción del script, como con la visualizacion resultante.</a:t>
            </a:r>
          </a:p>
          <a:p>
            <a:r>
              <a:t>Los circulos verdes y rojos corresponden a ejecuciones exitosas y fallidas del script.</a:t>
            </a:r>
          </a:p>
          <a:p>
            <a:r>
              <a:t>En la parte inferior se presentan los cambios sobre el script a lo largo de la sesion, en términos de adicion y eliminacion de caracteres.</a:t>
            </a:r>
          </a:p>
          <a:p>
            <a:r>
              <a:t>Por ejemplo, vemos que el participante 5 tuvo una larga sesion, hizo un uso intensivo de los ejemplo al inicio, y luego realizo múltiples modificaciones increméntales al script.</a:t>
            </a:r>
          </a:p>
          <a:p>
            <a:r>
              <a:t>El participante 6 en cambio interactuó intensamente con la visualizacion al inicio, selecciono un único ejemplo, y realizo modificaciones puntuales.</a:t>
            </a:r>
          </a:p>
          <a:p>
            <a:r>
              <a:t>Finalmente, el séptimo participante tardo una fracción del tiempo de los anteriores, utilizo un único ejemplo, y realizo pocas modificaciones .</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~1.6 min (acumulado ~53 min de 80)</a:t>
            </a:r>
          </a:p>
          <a:p/>
          <a:p>
            <a:r>
              <a:t>GUION: De esos datos sacamos tres conclusiones. Los usuarios se beneficiaron de la expresividad de la herramienta, sobre todo a través de ejemplos y funciones para crear y modificar visualizaciones. Además, al ser comprehensiva, permitió hacer todo el proceso sin salir del entorno de realidad aumentada, en sesiones largas, con una mediana de 106 minutos, entre 82 y 148. Y las sesiones fueron altamente interactivas, porque los cambios se aprecian en tiempo real, lo que permitió construir visualizaciones de forma ágil.</a:t>
            </a:r>
          </a:p>
          <a:p/>
          <a:p>
            <a:r>
              <a:t>PAUSA: Pausa de verificación al cierre de AVAR: turno de preguntas antes de la reflexión final.</a:t>
            </a:r>
          </a:p>
          <a:p/>
          <a:p>
            <a:r>
              <a:t>NOTAS ORIGINALES: Así se concluye que la herramienta ofrece un adecuado nivel de expresividad que se materializo fundamentalmente en el uso de ejemplos y funciones en la creación y modificación de visualizaciones.</a:t>
            </a:r>
          </a:p>
          <a:p>
            <a:r>
              <a:t>La comprehensividad de AVAR permitió a los usuarios estar inmersos por un periodo prolongado</a:t>
            </a:r>
          </a:p>
          <a:p>
            <a:r>
              <a:t>Finalmente, las sesiones fueron altamente interactivas gracias a que el efecto de los cambios se aprecia en tiempo real, así permitiendo una construcción de visualizaciones de forma ágil.</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~0.2 min (acumulado ~58 min de 80)</a:t>
            </a:r>
          </a:p>
          <a:p/>
          <a:p>
            <a:r>
              <a:t>GUION: Con esto cerramos la clase; la licencia de las láminas es Creative Commons BY-SA 4.0, y les agradezco su atención.</a:t>
            </a: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~0.9 min (acumulado ~54 min de 80)</a:t>
            </a:r>
          </a:p>
          <a:p/>
          <a:p>
            <a:r>
              <a:t>GUION: Cerremos el caso AVAR. Permite crear y modificar visualizaciones situadas en AR escribiendo scripts, con los cambios a la vista en tiempo real, y lo que funcionó fueron los ejemplos y funciones, y las sesiones largas, con mediana de 106 minutos. Los límites son importantes: siete participantes, todos hombres y expertos en Smalltalk, una usabilidad de 58 sobre 100 en la escala SUS e incomodidad moderada. Nos llevamos una idea: una visualización es situada cuando se refiere a objetos reales con significado, como lo que el usuario ve en su entorno.</a:t>
            </a:r>
          </a:p>
          <a:p/>
          <a:p>
            <a:r>
              <a:t>NOTAS ORIGINALES: Cerrar el caso resumiendo aportes y límites de AVAR, de Merino et al. en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~1.0 min (acumulado ~57 min de 80)</a:t>
            </a:r>
          </a:p>
          <a:p/>
          <a:p>
            <a:r>
              <a:t>GUION: Llevemos estos patrones a nuestro proyecto: un simulador de realidad virtual con Quest 3 y Unity que enseña a juzgar el tamaño del vehículo y las distancias a obstáculos. Hay una conexión con lo situado, porque el HUD de distancia y las etiquetas se ubican sobre el vehículo y el obstáculo que el usuario está mirando. El módulo de distancia usa raycasting para calcular la distancia a las esquinas y la muestra al instante en el HUD y por audio, y, igual que en AVAR, lo que se ve cambia en tiempo real según lo que hace el usuario. Una advertencia de diseño: poner etiquetas sin cuidado puede tapar justo lo que importa, así que hay que ubicarlas bien y mostrar solo lo relevante.</a:t>
            </a:r>
          </a:p>
          <a:p/>
          <a:p>
            <a:r>
              <a:t>NOTAS ORIGINALES: Conectar la clase con CU1, juicio de esquinas, y CU2, aproximación a obstáculo, del informe Hito 1.</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~1.1 min (acumulado ~55 min de 80)</a:t>
            </a:r>
          </a:p>
          <a:p/>
          <a:p>
            <a:r>
              <a:t>GUION: AVAR fue un prototipo de 2020, y desde entonces el área se ordenó. Lee, Sedlmair y Schmalstieg, en 2023, revisaron 293 trabajos de visualización situada en AR y propusieron 10 patrones de diseño; los paneles resultan lo más común, y la interactividad queda como trabajo futuro. Shin y colaboradores, también en 2023, sistematizan 47 sistemas con una taxonomía. Una precaución: ninguno de los dos trabajos menciona AVAR, así que no decimos que lo superen, solo que muestran hacia dónde fue el campo.</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~1.1 min (acumulado ~56 min de 80)</a:t>
            </a:r>
          </a:p>
          <a:p/>
          <a:p>
            <a:r>
              <a:t>GUION: Aquí están los 10 patrones de Lee et al., con sus íconos y el número de trabajos de la encuesta en que aparece cada uno, y a la derecha la frecuencia de cada patrón. Panel domina, con 131 de 293 trabajos, seguido de Ghost con 90, Label con 85 y Glyph con 77; en el otro extremo están Mirror con 11 y Morph con 5. Lee et al. atribuyen el predominio del panel a su flexibilidad y familiaridad, y un mismo trabajo puede tener varios patrones; es su observación, no una crítica a AVAR.</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~0.8 min (acumulado ~58 min de 80)</a:t>
            </a:r>
          </a:p>
          <a:p/>
          <a:p>
            <a:r>
              <a:t>GUION: Para terminar, una reflexión del equipo. AVAR se centra en escribir código, con programación en vivo en Smalltalk y un teclado Bluetooth en HoloLens, y trabajos posteriores tratan la entrada de texto en AR como un cuello de botella, como Dosdall et al. en 2022 y Merino et al. en 2026; del primero solo leímos el abstract y un fragmento citante. Lo siguiente es nuestra especulación, y no tiene fuente: si una IA genera el código, quizás haga falta menos visualización de código, y la de datos siga siendo útil.</a:t>
            </a:r>
          </a:p>
          <a:p/>
          <a:p>
            <a:r>
              <a:t>PAUSA: Cierre: pasamos al Kahoot del grupo y abrimos preguntas del curso y del docente.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 min (incluido en la introducción)</a:t>
            </a:r>
          </a:p>
          <a:p/>
          <a:p>
            <a:r>
              <a:t>GUION: Antes de empezar, les mostramos cómo vamos a usar el bloque de clase. Repartimos el tiempo en tres partes proporcionales a su densidad, con una pausa de preguntas al cierre de cada una, y reservamos el final para el Kahoot y las preguntas. Supuesto de planificación: bloque de 80 minutos; si el bloque dura distinto, escalar los minutos de cada parte en proporción.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9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 Id="rId14" Type="http://schemas.openxmlformats.org/officeDocument/2006/relationships/notesSlide" Target="../notesSlides/notesSlide8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t>Agenda y tiempos de la sesión</a:t>
            </a:r>
          </a:p>
        </p:txBody>
      </p:sp>
      <p:sp>
        <p:nvSpPr>
          <p:cNvPr id="3" name="Text Placeholder 2"/>
          <p:cNvSpPr>
            <a:spLocks noGrp="1"/>
          </p:cNvSpPr>
          <p:nvPr>
            <p:ph type="body" idx="1"/>
          </p:nvPr>
        </p:nvSpPr>
        <p:spPr>
          <a:xfrm>
            <a:off x="311700" y="1150000"/>
            <a:ext cx="8520600" cy="3700000"/>
          </a:xfrm>
        </p:spPr>
        <p:txBody>
          <a:bodyPr/>
          <a:lstStyle/>
          <a:p>
            <a:r>
              <a:rPr sz="1700"/>
              <a:t>Introducción y qué es la visualización situada: 2 min</a:t>
            </a:r>
          </a:p>
          <a:p>
            <a:r>
              <a:rPr sz="1700"/>
              <a:t>Parte 1, visualización situada: 24 min</a:t>
            </a:r>
          </a:p>
          <a:p>
            <a:r>
              <a:rPr sz="1700"/>
              <a:t>Parte 2, analíticas inmersivas: 12 min</a:t>
            </a:r>
          </a:p>
          <a:p>
            <a:r>
              <a:rPr sz="1700"/>
              <a:t>Parte 3, caso de estudio AVAR: 15 min</a:t>
            </a:r>
          </a:p>
          <a:p>
            <a:r>
              <a:rPr sz="1700"/>
              <a:t>Cierre, aplicación a nuestro proyecto y reflexión: 5 min</a:t>
            </a:r>
          </a:p>
          <a:p>
            <a:r>
              <a:rPr sz="1700"/>
              <a:t>Kahoot con el curso: 12 min</a:t>
            </a:r>
          </a:p>
          <a:p>
            <a:r>
              <a:rPr sz="1700"/>
              <a:t>Preguntas del curso y del docente: 10 min</a:t>
            </a:r>
          </a:p>
          <a:p>
            <a:r>
              <a:rPr sz="1700"/>
              <a:t>Pausas breves de verificación al cierre de cada parte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9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9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4">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27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22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29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09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5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con mediana de 106 min</a:t>
            </a:r>
          </a:p>
          <a:p>
            <a:r>
              <a:rPr sz="1700"/>
              <a:t>Límites: 7 participantes, todos hombres y expertos en Smalltalk; usabilidad de 58/100 en la escala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fue un prototipo de 2020; desde entonces el área se ordenó. Lee, Sedlmair y Schmalstieg (2023) revisaron 293 trabajos de visualización situada en AR y propusieron 10 patrones de diseño, publicados en IEEE TVCG y arXiv:2307.09157.</a:t>
            </a:r>
          </a:p>
          <a:p>
            <a:r>
              <a:rPr sz="1500"/>
              <a:t>Los paneles son lo más común, y la interactividad queda como trabajo futuro.</a:t>
            </a:r>
          </a:p>
          <a:p>
            <a:r>
              <a:rPr sz="1500"/>
              <a:t>Shin et al. (2023) sistematizan 47 sistemas con una taxonomía, arXiv:2310.10015.</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con los íconos de Lee et al.;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y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de realidad virtual con Quest 3 y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en el HUD y por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en VINCI y Merino et al. (2026) en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