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7" r:id="rId92"/>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2.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0.xml"/><Relationship Id="rId9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1200">
                <a:latin typeface="Calibri"/>
                <a:ea typeface="Calibri"/>
                <a:cs typeface="Calibri"/>
                <a:sym typeface="Calibri"/>
              </a:rPr>
              <a:t>A Magic Lens is a transparent or semi-transparent user interface element which can be placed over objects to change their appearance and/or their interactive behavior</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es el uso de herramientas de análisis atractivas y personificadas para ayudar a comprender los datos y tomar decisiones.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Para ello, la analítica inmersiva se basa en múltiples campos, como la visualización de datos, la analítica visual, la realidad virtual, la infografía y la interacción persona-ordenador.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ofrece varias oportunidades</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exploración de datos incorporada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permite interacciones táctiles, gestuales, vocales y tangibles que pueden ser más intuitivas y atractivas.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Colaboración,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puede ser conjunta o remota, así como sincrónica o asincrónica.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Inmersión espacial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permite a los usuarios utilizar el espacio que les rodea como un espacio de trabajo tridimensional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Presentación multisensorial que incorpora el oído y los demás sentidos que también pueden utilizarse para proporcionar información adicional o como alternativa a la visión cuando ésta no esté disponible o no sea útil.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Participación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del público en general y de otras partes interesadas que pueden estar más informadas y aumentar la toma de decisiones basadas en datos.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Pero, ¿cuándo ofrece el uso de tecnologías inmersivas ventajas sobre las actuales herramientas de análisis visual de escritorio?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Tradicionalmente, los investigadores de la visualización de datos se han centrado en el rendimiento de las tareas, normalmente la precisión y la velocidad.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uso de señales de profundidad puede mejorar la eficacia de algunas tareas de visualización.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compromiso emocional y el recuerdo pueden ser importantes a la hora de comunicar los resultados a las partes interesadas.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también... la sensación de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presencia aumenta en entornos "emocionales".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¿Es hora de reconsiderar el valor del 3D para la visualización de información?</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comunidad de la visualización de la información ha sido crítica con el uso de representaciones en 3D para datos abstractos y, en consecuencia, ha visto pocos beneficios en el uso de tecnologías inmersivas.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Este conservadurismo puede ser una respuesta al "entusiasmo desenfrenado" de los investigadores de la visualización de la información a finales de los 80 y principios de los 90 por las representaciones en 3D.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También se introdujeron en esta época los infames gráficos de tarta o de barras en 3D que mostraban las populares aplicaciones de hojas de cálculo.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https://www.youtube.com/watch?v=0oIX0vDJeqo</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Hay varias razones que podemos considerar para adoptar la analítica inmersiva: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Potencial de las pantallas inmersivas.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de realidad mixta montadas en la cabeza son cada vez más comunes.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Canal visual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Una tercera dimensión espacial proporciona otro canal visual para la visualización de datos.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Mejora de la tecnología.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inmersivas han avanzado considerablemente en la última década.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Espacios de trabajo inmersivos.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analistas pueden ampliar su espacio de trabajo para utilizar el espacio que les rodea. Pueden colocar las visualizaciones de datos donde les plazca y, en el caso de la realidad aumentada, pueden utilizar el entorno físico como espacio de trabajo.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Más allá de la eficacia de las tareas.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Evaluar la eficacia de la AI en un sentido más amplio que incluya otros aspectos del rendimiento y la experiencia del usuario.</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En resumen</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estudios previos de usuarios sugieren que las representaciones 3D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muestran más claramente la estructura general en conjuntos de datos de mayor dimensión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son útiles para proporcionar orientación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mientras que las representaciones en 2D son preferibles para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manipulación, medición o comparación precisas.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Por lo tanto, puede ser útil proporcionar representaciones 2D y 3D vinculadas en las aplicaciones de análisis inmersivo.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entre los posibles indicios de profundidad para la visualización de datos abstractos se incluyen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el uso de la profundidad para mostrar una dimensión abstracta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vistas en superficies no planas y vistas egocéntricas en las que los datos se sitúan alrededor del espectador,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 visualización de datos abstractos con una incrustación espacial, así como la organización de múltiples vistas en el espacio 3D.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Se trata de las visualizaciones de Matrix Cubes, en las que se utiliza la tercera dimensión para mostrar el tiempo.</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en el que las visualizaciones en 2D se vinculan mediante aristas en un espacio 3D</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de ImAxes, en el que los usuarios pueden explorar un conjunto de datos interactuando con los ejes que representan las dimensiones del conjunto de datos.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Se trata de PerfVis, que utiliza una visualización de ciudades en 3D, complementada con un gráfico de dispersión, para analizar las métricas del rendimiento de un sistema de software. </a:t>
            </a:r>
            <a:endParaRPr/>
          </a:p>
          <a:p>
            <a:pPr marL="0" lvl="0" indent="0" algn="l" rtl="0">
              <a:lnSpc>
                <a:spcPct val="100000"/>
              </a:lnSpc>
              <a:spcBef>
                <a:spcPts val="0"/>
              </a:spcBef>
              <a:spcAft>
                <a:spcPts val="0"/>
              </a:spcAft>
              <a:buNone/>
            </a:pPr>
            <a:r>
              <a:rPr lang="en-GB" sz="2000">
                <a:latin typeface="Calibri"/>
                <a:ea typeface="Calibri"/>
                <a:cs typeface="Calibri"/>
                <a:sym typeface="Calibri"/>
              </a:rPr>
              <a:t>La visualización es dinámica, es decir, los cambios en el rendimiento del sistema se reflejan sobre la marcha en las visualizaciones.</a:t>
            </a:r>
            <a:endParaRPr/>
          </a:p>
          <a:p>
            <a:pPr marL="0" lvl="0" indent="0" algn="l" rtl="0">
              <a:lnSpc>
                <a:spcPct val="100000"/>
              </a:lnSpc>
              <a:spcBef>
                <a:spcPts val="0"/>
              </a:spcBef>
              <a:spcAft>
                <a:spcPts val="0"/>
              </a:spcAft>
              <a:buNone/>
            </a:pPr>
            <a:r>
              <a:rPr lang="en-GB" sz="2000">
                <a:latin typeface="Calibri"/>
                <a:ea typeface="Calibri"/>
                <a:cs typeface="Calibri"/>
                <a:sym typeface="Calibri"/>
              </a:rPr>
              <a:t>En la visualización, los edificios representan clases del sistema, y el color del edificio codifica el número de veces que se invocan sus métodos.</a:t>
            </a:r>
            <a:endParaRPr/>
          </a:p>
          <a:p>
            <a:pPr marL="0" lvl="0" indent="0" algn="l" rtl="0">
              <a:lnSpc>
                <a:spcPct val="100000"/>
              </a:lnSpc>
              <a:spcBef>
                <a:spcPts val="0"/>
              </a:spcBef>
              <a:spcAft>
                <a:spcPts val="0"/>
              </a:spcAft>
              <a:buNone/>
            </a:pPr>
            <a:r>
              <a:rPr lang="en-GB" sz="2000">
                <a:latin typeface="Calibri"/>
                <a:ea typeface="Calibri"/>
                <a:cs typeface="Calibri"/>
                <a:sym typeface="Calibri"/>
              </a:rPr>
              <a:t>Los usuarios pueden seleccionar el edificio y obtener detalles de la historia del rendimiento de la clase representada en el gráfico de dispersión.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AVAR usa una arquitectura cliente servidor.</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usuario usa la aplicación cliente y define visualizaciones via un script el que es enviado a través de la red hacia la aplicación servidor. </a:t>
            </a:r>
            <a:endParaRPr/>
          </a:p>
          <a:p>
            <a:pPr marL="0" lvl="0" indent="0" algn="l" rtl="0">
              <a:lnSpc>
                <a:spcPct val="100000"/>
              </a:lnSpc>
              <a:spcBef>
                <a:spcPts val="0"/>
              </a:spcBef>
              <a:spcAft>
                <a:spcPts val="0"/>
              </a:spcAft>
              <a:buNone/>
            </a:pPr>
            <a:r>
              <a:rPr lang="en-GB" sz="2500">
                <a:latin typeface="Calibri"/>
                <a:ea typeface="Calibri"/>
                <a:cs typeface="Calibri"/>
                <a:sym typeface="Calibri"/>
              </a:rPr>
              <a:t>Esta interpreta el script y genera un modelo que distingue visualizaciones de  otros objetos.  </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modelo de retorna al cliente, el que identifica el tipo de respuesta (textual o visual), y en consecuencia, genera una respuesta adecuada en la escena.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Así se utiliza AVAR. El usuario utiliza un headset Microsoft HoloLens y un teclado Bluetooth.</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AVAR presenta una interfaz que permite al usuario definir un script, o eventualmente cargar una visualizacion de ejemplo.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Por ejemplo, el usuario define un script como la siguiente función fibonacci</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El script se envía al servidor, se interpreta</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 retorna</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como el resultado no es una visualizacion, este se presenta de forma textual en la parte inferior de la ventana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en cambio el resultado es una visualizacion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entonces la visualizacion se presenta en el espacio tridimensional</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Nuevamente revisamos el modelo de referencia y vemos como AVAR ofrece soporte a los tres procesos fundamentales de visualizacion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Transformaciones de datos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Una vez que se define la tabla de datos, se realiza el mateo visual</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Ya definidas las estructuras visuales, se definen transformaciones a la vista</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Se realizo un estudio exploratorio con AVAR y siete participantes. Los que tuvieron que construir una visualización de un conjunto de datos especificado. Los usuarios utilizaron un dispositivo Microsoft HoloLens y un teclado Bluetooth. </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sesiones fueron grabadas en video, se registraron las interacciones, y se recolectaron impresiones de los participantes.</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400">
                <a:latin typeface="Calibri"/>
                <a:ea typeface="Calibri"/>
                <a:cs typeface="Calibri"/>
                <a:sym typeface="Calibri"/>
              </a:rPr>
              <a:t>Aqui vemos graficos con datos recolectados de tres participantes.</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eje horizontal corresponde al tiempo. La barra gris indica el tiempo de la sesión. El 100% corresponde a aproximadamente 2 horas.</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superior del gráfico se presentan las interacciones del usuario con AVAR, tanto en la construcción del script, como con la visualizacion resultante.</a:t>
            </a:r>
            <a:endParaRPr/>
          </a:p>
          <a:p>
            <a:pPr marL="0" lvl="0" indent="0" algn="l" rtl="0">
              <a:lnSpc>
                <a:spcPct val="100000"/>
              </a:lnSpc>
              <a:spcBef>
                <a:spcPts val="0"/>
              </a:spcBef>
              <a:spcAft>
                <a:spcPts val="0"/>
              </a:spcAft>
              <a:buNone/>
            </a:pPr>
            <a:r>
              <a:rPr lang="en-GB" sz="2400">
                <a:latin typeface="Calibri"/>
                <a:ea typeface="Calibri"/>
                <a:cs typeface="Calibri"/>
                <a:sym typeface="Calibri"/>
              </a:rPr>
              <a:t>Los circulos verdes y rojos corresponden a ejecuciones exitosas y fallidas del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inferior se presentan los cambios sobre el script a lo largo de la sesion, en términos de adicion y eliminacion de caracteres.</a:t>
            </a:r>
            <a:endParaRPr/>
          </a:p>
          <a:p>
            <a:pPr marL="0" lvl="0" indent="0" algn="l" rtl="0">
              <a:lnSpc>
                <a:spcPct val="100000"/>
              </a:lnSpc>
              <a:spcBef>
                <a:spcPts val="0"/>
              </a:spcBef>
              <a:spcAft>
                <a:spcPts val="0"/>
              </a:spcAft>
              <a:buNone/>
            </a:pPr>
            <a:r>
              <a:rPr lang="en-GB" sz="2400">
                <a:latin typeface="Calibri"/>
                <a:ea typeface="Calibri"/>
                <a:cs typeface="Calibri"/>
                <a:sym typeface="Calibri"/>
              </a:rPr>
              <a:t>Por ejemplo, vemos que el participante 5 tuvo una larga sesion, hizo un uso intensivo de los ejemplo al inicio, y luego realizo múltiples modificaciones increméntales al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participante 6 en cambio interactuó intensamente con la visualizacion al inicio, selecciono un único ejemplo, y realizo modificaciones puntuales.</a:t>
            </a:r>
            <a:endParaRPr/>
          </a:p>
          <a:p>
            <a:pPr marL="0" lvl="0" indent="0" algn="l" rtl="0">
              <a:lnSpc>
                <a:spcPct val="100000"/>
              </a:lnSpc>
              <a:spcBef>
                <a:spcPts val="0"/>
              </a:spcBef>
              <a:spcAft>
                <a:spcPts val="0"/>
              </a:spcAft>
              <a:buNone/>
            </a:pPr>
            <a:r>
              <a:rPr lang="en-GB" sz="2400">
                <a:latin typeface="Calibri"/>
                <a:ea typeface="Calibri"/>
                <a:cs typeface="Calibri"/>
                <a:sym typeface="Calibri"/>
              </a:rPr>
              <a:t>Finalmente, el séptimo participante tardo una fracción del tiempo de los anteriores, utilizo un único ejemplo, y realizo pocas modificaciones .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Así se concluye que la herramienta ofrece un adecuado nivel de expresividad que se materializo fundamentalmente en el uso de ejemplos y funciones en la creación y modificación de visualizaciones.</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comprehensividad de AVAR permitió a los usuarios estar inmersos por un periodo prolongado</a:t>
            </a:r>
            <a:endParaRPr/>
          </a:p>
          <a:p>
            <a:pPr marL="0" lvl="0" indent="0" algn="l" rtl="0">
              <a:lnSpc>
                <a:spcPct val="100000"/>
              </a:lnSpc>
              <a:spcBef>
                <a:spcPts val="0"/>
              </a:spcBef>
              <a:spcAft>
                <a:spcPts val="0"/>
              </a:spcAft>
              <a:buNone/>
            </a:pPr>
            <a:r>
              <a:rPr lang="en-GB" sz="2500">
                <a:latin typeface="Calibri"/>
                <a:ea typeface="Calibri"/>
                <a:cs typeface="Calibri"/>
                <a:sym typeface="Calibri"/>
              </a:rPr>
              <a:t>Finalmente, las sesiones fueron altamente interactivas gracias a que el efecto de los cambios se aprecia en tiempo real, así permitiendo una construcción de visualizaciones de forma ágil.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Cerrar el caso resumiendo aportes y límites de AVAR (Merino et al.,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Conectar la clase con CU1 (juicio de esquinas) y CU2 (aproximación a obstáculo) del informe Hito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
        <p:nvSpPr>
          <p:cNvPr id="123" name="Google Shape;123;p28"/>
          <p:cNvSpPr txBox="1"/>
          <p:nvPr/>
        </p:nvSpPr>
        <p:spPr>
          <a:xfrm>
            <a:off x="472450" y="3480000"/>
            <a:ext cx="3700000" cy="9500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Grupo 1</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Estefanía Pakarati</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Emmanuel Norambuena</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Matías Harrison</a:t>
            </a:r>
            <a:endParaRPr sz="2000" b="1">
              <a:latin typeface="Space Mono"/>
              <a:ea typeface="Space Mono"/>
              <a:cs typeface="Space Mono"/>
              <a:sym typeface="Space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10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10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3">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44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39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41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18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685102" y="3482305"/>
            <a:ext cx="5773795" cy="577081"/>
          </a:xfrm>
          <a:prstGeom prst="rect">
            <a:avLst/>
          </a:prstGeom>
          <a:noFill/>
        </p:spPr>
        <p:txBody>
          <a:bodyPr wrap="square">
            <a:spAutoFit/>
          </a:bodyPr>
          <a:lstStyle/>
          <a:p>
            <a:r>
              <a:rPr lang="en-CL" sz="1050" b="0" i="0" dirty="0">
                <a:solidFill>
                  <a:srgbClr val="000000"/>
                </a:solidFill>
                <a:effectLst/>
                <a:latin typeface="Arial"/>
              </a:rPr>
              <a:t>Merino, L., Sotomayor-Gómez, B., Yu, X., Salgado, R., Bergel, A., Sedlmair, M., &amp; Weiskopf, D. (2020, April). Toward agile situated visualization: An exploratory user study. In </a:t>
            </a:r>
            <a:r>
              <a:rPr lang="en-CL" sz="1050" b="0" i="1" dirty="0">
                <a:solidFill>
                  <a:srgbClr val="000000"/>
                </a:solidFill>
                <a:effectLst/>
                <a:latin typeface="Arial"/>
              </a:rPr>
              <a:t>Extended Abstracts of the 2020 CHI Conference on Human Factors in Computing Systems</a:t>
            </a:r>
            <a:r>
              <a:rPr lang="en-CL" sz="1050" b="0" i="0" dirty="0">
                <a:solidFill>
                  <a:srgbClr val="000000"/>
                </a:solidFill>
                <a:effectLst/>
                <a:latin typeface="Arial"/>
              </a:rPr>
              <a:t> (pp. 1-7).</a:t>
            </a:r>
            <a:endParaRPr lang="en-CL"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11700" y="1100000"/>
            <a:ext cx="8520600" cy="12000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800"/>
              <a:t>Las herramientas existentes de visualización situada no promueven agilidad y ofrecen limitado soporte en:</a:t>
            </a:r>
            <a:endParaRPr sz="1600"/>
          </a:p>
        </p:txBody>
      </p:sp>
      <p:graphicFrame>
        <p:nvGraphicFramePr>
          <p:cNvPr id="662" name="Google Shape;662;p83"/>
          <p:cNvGraphicFramePr/>
          <p:nvPr/>
        </p:nvGraphicFramePr>
        <p:xfrm>
          <a:off x="311700" y="2250000"/>
          <a:ext cx="8520599" cy="2050000"/>
        </p:xfrm>
        <a:graphic>
          <a:graphicData uri="http://schemas.openxmlformats.org/drawingml/2006/table">
            <a:tbl>
              <a:tblPr bandRow="1">
                <a:noFill/>
                <a:tableStyleId>{644D82D1-A5CC-4578-84F6-CFC42621E0DF}</a:tableStyleId>
              </a:tblPr>
              <a:tblGrid>
                <a:gridCol w="2243197">
                  <a:extLst>
                    <a:ext uri="{9D8B030D-6E8A-4147-A177-3AD203B41FA5}">
                      <a16:colId xmlns:a16="http://schemas.microsoft.com/office/drawing/2014/main" val="20000"/>
                    </a:ext>
                  </a:extLst>
                </a:gridCol>
                <a:gridCol w="6277402">
                  <a:extLst>
                    <a:ext uri="{9D8B030D-6E8A-4147-A177-3AD203B41FA5}">
                      <a16:colId xmlns:a16="http://schemas.microsoft.com/office/drawing/2014/main" val="20001"/>
                    </a:ext>
                  </a:extLst>
                </a:gridCol>
              </a:tblGrid>
              <a:tr h="85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7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708924" y="1080000"/>
            <a:ext cx="7726152" cy="397999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708924" y="1080000"/>
            <a:ext cx="7726152" cy="397999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311700" y="1134239"/>
            <a:ext cx="4053085" cy="3480046"/>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6007400" y="1134239"/>
            <a:ext cx="2824899" cy="3480191"/>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883196" y="4649045"/>
            <a:ext cx="709330"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76308" y="4639159"/>
            <a:ext cx="865234"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37027" y="3510133"/>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585057" y="1354747"/>
            <a:ext cx="1034502" cy="3038771"/>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087661" y="1877648"/>
            <a:ext cx="1034502" cy="5734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Ellipse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087661" y="1350071"/>
            <a:ext cx="1034502" cy="278064"/>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087661" y="2700648"/>
            <a:ext cx="1034502" cy="642650"/>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087661" y="3592812"/>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087661" y="4120389"/>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694540" y="185808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694540" y="218487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694540" y="287905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694540" y="358892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902660" y="1350071"/>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902660" y="1858080"/>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583852" y="2887887"/>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902660" y="3592812"/>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42662" y="3377957"/>
            <a:ext cx="532370" cy="64326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52562" y="1288732"/>
            <a:ext cx="635881" cy="643260"/>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895447" y="1956861"/>
            <a:ext cx="643180"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43349" y="4084671"/>
            <a:ext cx="72082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98200" y="2354181"/>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25051" y="1480693"/>
            <a:ext cx="1724618"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101735" y="1158075"/>
            <a:ext cx="1503373" cy="189864"/>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624711" y="4259422"/>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624711" y="3731844"/>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881279" y="2175010"/>
            <a:ext cx="20079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881279" y="3026904"/>
            <a:ext cx="20079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883191" y="2175089"/>
            <a:ext cx="0" cy="857103"/>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624927" y="2575892"/>
            <a:ext cx="256775"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20125" y="2154531"/>
            <a:ext cx="643062"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23731" y="3017044"/>
            <a:ext cx="63585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20125" y="3731844"/>
            <a:ext cx="424228"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20125" y="4259422"/>
            <a:ext cx="643062"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758738" y="3950476"/>
            <a:ext cx="0" cy="307645"/>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758738" y="2156126"/>
            <a:ext cx="0" cy="1356830"/>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3974094" y="3731844"/>
            <a:ext cx="865381"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71104" y="1489124"/>
            <a:ext cx="1429841" cy="1242"/>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419911" y="1628726"/>
            <a:ext cx="0" cy="228762"/>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419911" y="2136219"/>
            <a:ext cx="0" cy="218901"/>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642277" y="2575892"/>
            <a:ext cx="457366"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72277" y="2575892"/>
            <a:ext cx="424228"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8101109" y="2575892"/>
            <a:ext cx="0" cy="300851"/>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72245" y="2575892"/>
            <a:ext cx="0" cy="315673"/>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72245" y="3170918"/>
            <a:ext cx="0" cy="199072"/>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8101098" y="3267708"/>
            <a:ext cx="0" cy="102175"/>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71912" y="3373350"/>
            <a:ext cx="1334497"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419911" y="3376909"/>
            <a:ext cx="0" cy="209041"/>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83091" y="3737899"/>
            <a:ext cx="1517810"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874303" y="2344757"/>
            <a:ext cx="42423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518633" y="2386605"/>
            <a:ext cx="532308"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204193" y="2895544"/>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65" name="Google Shape;765;p89"/>
          <p:cNvSpPr txBox="1"/>
          <p:nvPr/>
        </p:nvSpPr>
        <p:spPr>
          <a:xfrm>
            <a:off x="5056187" y="1649363"/>
            <a:ext cx="3715563" cy="15724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088651" y="100000"/>
            <a:ext cx="3772697" cy="2678327"/>
          </a:xfrm>
          <a:prstGeom prst="rect">
            <a:avLst/>
          </a:prstGeom>
          <a:noFill/>
          <a:ln>
            <a:noFill/>
          </a:ln>
        </p:spPr>
      </p:pic>
      <p:sp>
        <p:nvSpPr>
          <p:cNvPr id="777" name="Google Shape;777;p90"/>
          <p:cNvSpPr/>
          <p:nvPr/>
        </p:nvSpPr>
        <p:spPr>
          <a:xfrm>
            <a:off x="5099151" y="3503465"/>
            <a:ext cx="3751696" cy="1536534"/>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120956" y="4196112"/>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120956" y="4589925"/>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59564" y="3504962"/>
            <a:ext cx="803024" cy="33073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30073" y="2823474"/>
            <a:ext cx="308858" cy="629372"/>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141957" y="307059"/>
            <a:ext cx="1423273" cy="284466"/>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141957" y="2528621"/>
            <a:ext cx="1811434" cy="157349"/>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120956" y="3802299"/>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142316" y="559851"/>
            <a:ext cx="3548784" cy="1501866"/>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795" name="Google Shape;795;p91"/>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14" name="Google Shape;814;p92"/>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834" name="Google Shape;834;p93"/>
          <p:cNvSpPr txBox="1"/>
          <p:nvPr/>
        </p:nvSpPr>
        <p:spPr>
          <a:xfrm>
            <a:off x="5056191" y="1649363"/>
            <a:ext cx="3660852" cy="1074847"/>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46" name="Google Shape;846;p94"/>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64" name="Google Shape;864;p95"/>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662805" y="2555487"/>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6199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5770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34102"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817695" y="2894091"/>
            <a:ext cx="789796"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644129" y="3310516"/>
            <a:ext cx="127122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785684"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753672"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235943" y="3932677"/>
            <a:ext cx="6382432"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2175" y="2369864"/>
            <a:ext cx="430124" cy="951366"/>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672297" y="331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11665" y="331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7237" y="352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234994" y="367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16001" y="367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22281" y="367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311700" y="210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277849" y="206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231179" y="207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194213" y="207431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2827438" y="2250000"/>
            <a:ext cx="3489123" cy="2800000"/>
          </a:xfrm>
          <a:prstGeom prst="rect">
            <a:avLst/>
          </a:prstGeom>
          <a:noFill/>
          <a:ln>
            <a:noFill/>
          </a:ln>
        </p:spPr>
      </p:pic>
      <p:sp>
        <p:nvSpPr>
          <p:cNvPr id="908" name="Google Shape;908;p97"/>
          <p:cNvSpPr/>
          <p:nvPr/>
        </p:nvSpPr>
        <p:spPr>
          <a:xfrm>
            <a:off x="662805" y="675487"/>
            <a:ext cx="1164255" cy="657799"/>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19904" y="685192"/>
            <a:ext cx="1164255" cy="657799"/>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77004"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534102"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17695" y="1014091"/>
            <a:ext cx="789795"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44129" y="1430516"/>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5684"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53672"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35943" y="2052677"/>
            <a:ext cx="6382432"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402174" y="489864"/>
            <a:ext cx="430125" cy="951365"/>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2297" y="143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511665" y="143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617237" y="164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34994" y="179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6001" y="179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122281" y="179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11700" y="22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277849" y="18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31179" y="19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94213" y="194318"/>
            <a:ext cx="849692"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2727104" y="2250000"/>
            <a:ext cx="3689791" cy="2800000"/>
          </a:xfrm>
          <a:prstGeom prst="rect">
            <a:avLst/>
          </a:prstGeom>
          <a:noFill/>
          <a:ln>
            <a:noFill/>
          </a:ln>
        </p:spPr>
      </p:pic>
      <p:sp>
        <p:nvSpPr>
          <p:cNvPr id="939" name="Google Shape;939;p99"/>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2718300" y="2250000"/>
            <a:ext cx="3707400" cy="2800000"/>
          </a:xfrm>
          <a:prstGeom prst="rect">
            <a:avLst/>
          </a:prstGeom>
          <a:noFill/>
          <a:ln>
            <a:noFill/>
          </a:ln>
        </p:spPr>
      </p:pic>
      <p:sp>
        <p:nvSpPr>
          <p:cNvPr id="968" name="Google Shape;968;p101"/>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895346" y="980000"/>
            <a:ext cx="2936954" cy="4100000"/>
          </a:xfrm>
          <a:prstGeom prst="rect">
            <a:avLst/>
          </a:prstGeom>
          <a:noFill/>
          <a:ln>
            <a:noFill/>
          </a:ln>
        </p:spPr>
      </p:pic>
      <p:graphicFrame>
        <p:nvGraphicFramePr>
          <p:cNvPr id="1005" name="Google Shape;1005;p104"/>
          <p:cNvGraphicFramePr/>
          <p:nvPr/>
        </p:nvGraphicFramePr>
        <p:xfrm>
          <a:off x="311700" y="1050000"/>
          <a:ext cx="5383645" cy="3000000"/>
        </p:xfrm>
        <a:graphic>
          <a:graphicData uri="http://schemas.openxmlformats.org/drawingml/2006/table">
            <a:tbl>
              <a:tblPr bandRow="1">
                <a:noFill/>
                <a:tableStyleId>{644D82D1-A5CC-4578-84F6-CFC42621E0DF}</a:tableStyleId>
              </a:tblPr>
              <a:tblGrid>
                <a:gridCol w="1233357">
                  <a:extLst>
                    <a:ext uri="{9D8B030D-6E8A-4147-A177-3AD203B41FA5}">
                      <a16:colId xmlns:a16="http://schemas.microsoft.com/office/drawing/2014/main" val="20000"/>
                    </a:ext>
                  </a:extLst>
                </a:gridCol>
                <a:gridCol w="4150288">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7 programadores expertos en Smalltalk</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Conjunto de datos de vinos (~1’000 registros)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t="53987" b="17"/>
          <a:stretch/>
        </p:blipFill>
        <p:spPr>
          <a:xfrm>
            <a:off x="566738" y="0"/>
            <a:ext cx="8010405" cy="514350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311700" y="1250000"/>
            <a:ext cx="8520600" cy="35000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2200"/>
              <a:t>Los usuarios se beneficiaron de la </a:t>
            </a:r>
            <a:r>
              <a:rPr lang="en-GB" sz="2200" b="1"/>
              <a:t>expresividad</a:t>
            </a:r>
            <a:r>
              <a:rPr lang="en-GB" sz="22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2200"/>
              <a:t>La herramienta comprehensiva permitió a los usuarios hacer todo el proceso sin salir del entorno de realidad aumentada, en sesiones largas (mediana de 106 min, entre 82 y 148)</a:t>
            </a:r>
            <a:endParaRPr sz="1600"/>
          </a:p>
          <a:p>
            <a:pPr marL="254000" lvl="0" indent="-241300" algn="l" rtl="0">
              <a:lnSpc>
                <a:spcPct val="100000"/>
              </a:lnSpc>
              <a:spcBef>
                <a:spcPts val="500"/>
              </a:spcBef>
              <a:spcAft>
                <a:spcPts val="0"/>
              </a:spcAft>
              <a:buSzPts val="1600"/>
              <a:buChar char="●"/>
            </a:pPr>
            <a:r>
              <a:rPr lang="en-GB" sz="2200"/>
              <a:t>Las sesiones fueron altamente interactivas gracias a la facilidad de aplicar cambios </a:t>
            </a:r>
            <a:r>
              <a:rPr lang="en-GB" sz="2200" b="1"/>
              <a:t>en tiempo real</a:t>
            </a:r>
            <a:r>
              <a:rPr lang="en-GB" sz="2200"/>
              <a:t>  </a:t>
            </a:r>
            <a:endParaRPr sz="160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Cierre del caso AVAR</a:t>
            </a:r>
          </a:p>
        </p:txBody>
      </p:sp>
      <p:sp>
        <p:nvSpPr>
          <p:cNvPr id="3" name="Text Placeholder 2"/>
          <p:cNvSpPr>
            <a:spLocks noGrp="1"/>
          </p:cNvSpPr>
          <p:nvPr>
            <p:ph type="body" idx="1"/>
          </p:nvPr>
        </p:nvSpPr>
        <p:spPr>
          <a:xfrm>
            <a:off x="311700" y="1150000"/>
            <a:ext cx="8520600" cy="3700000"/>
          </a:xfrm>
        </p:spPr>
        <p:txBody>
          <a:bodyPr/>
          <a:lstStyle/>
          <a:p>
            <a:r>
              <a:rPr sz="1800"/>
              <a:t>AVAR permite crear y modificar visualizaciones situadas en AR escribiendo scripts, con los cambios a la vista en tiempo real</a:t>
            </a:r>
          </a:p>
          <a:p>
            <a:r>
              <a:rPr sz="1800"/>
              <a:t>Lo que funcionó: ejemplos y funciones para expresar visualizaciones; sesiones largas (mediana 106 min)</a:t>
            </a:r>
          </a:p>
          <a:p>
            <a:r>
              <a:rPr sz="1800"/>
              <a:t>Límites: 7 participantes, todos hombres y expertos en Smalltalk; usabilidad 58/100 (SUS) e incomodidad moderada</a:t>
            </a:r>
          </a:p>
          <a:p>
            <a:r>
              <a:rPr sz="1800"/>
              <a:t>Idea para llevarse: una visualización es situada cuando se refiere a objetos reales con significado, como lo que el usuario ve en su entorno</a:t>
            </a:r>
          </a:p>
          <a:p>
            <a:r>
              <a:rPr sz="1800"/>
              <a:t>Para discutir: ¿qué otra tarea se beneficiaría de ver datos directamente sobre el entorno?</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Aplicación a nuestro proyecto</a:t>
            </a:r>
          </a:p>
        </p:txBody>
      </p:sp>
      <p:sp>
        <p:nvSpPr>
          <p:cNvPr id="3" name="Text Placeholder 2"/>
          <p:cNvSpPr>
            <a:spLocks noGrp="1"/>
          </p:cNvSpPr>
          <p:nvPr>
            <p:ph type="body" idx="1"/>
          </p:nvPr>
        </p:nvSpPr>
        <p:spPr>
          <a:xfrm>
            <a:off x="311700" y="1150000"/>
            <a:ext cx="8520600" cy="3700000"/>
          </a:xfrm>
        </p:spPr>
        <p:txBody>
          <a:bodyPr/>
          <a:lstStyle/>
          <a:p>
            <a:r>
              <a:rPr sz="1800"/>
              <a:t>Nuestro simulador VR (Quest 3 + Unity) enseña a juzgar el tamaño del vehículo y las distancias a obstáculos</a:t>
            </a:r>
          </a:p>
          <a:p>
            <a:r>
              <a:rPr sz="1800"/>
              <a:t>Conexión con situada: el HUD de distancia y las etiquetas se ubican sobre el vehículo y el obstáculo que el usuario está mirando</a:t>
            </a:r>
          </a:p>
          <a:p>
            <a:r>
              <a:rPr sz="1800"/>
              <a:t>El módulo de distancia usa raycasting para calcular la distancia a las esquinas y la muestra al instante (HUD y audio)</a:t>
            </a:r>
          </a:p>
          <a:p>
            <a:r>
              <a:rPr sz="1800"/>
              <a:t>Igual que en AVAR, lo que se ve cambia en tiempo real según lo que hace el usuario</a:t>
            </a:r>
          </a:p>
          <a:p>
            <a:r>
              <a:rPr sz="1800"/>
              <a:t>Ojo con la clase: poner etiquetas sin cuidado puede tapar justo lo que importa, así que hay que ubicarlas bien y mostrar solo lo relevante</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598850" y="4788535"/>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600" i="0" u="none" strike="noStrike" cap="none">
                <a:solidFill>
                  <a:schemeClr val="dk1"/>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