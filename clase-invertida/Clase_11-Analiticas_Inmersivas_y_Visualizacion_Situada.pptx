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41" r:id="rId96"/>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6.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4.xml"/><Relationship Id="rId93" Type="http://schemas.openxmlformats.org/officeDocument/2006/relationships/slide" Target="slides/slide81.xml"/><Relationship Id="rId94" Type="http://schemas.openxmlformats.org/officeDocument/2006/relationships/slide" Target="slides/slide85.xml"/><Relationship Id="rId95" Type="http://schemas.openxmlformats.org/officeDocument/2006/relationships/slide" Target="slides/slide82.xml"/><Relationship Id="rId96"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permite crear y modificar visualizaciones situadas en AR escribiendo scripts, con los cambios a la vista en tiempo real</a:t>
            </a:r>
          </a:p>
          <a:p>
            <a:r>
              <a:rPr sz="1800"/>
              <a:t>Lo que funcionó: ejemplos y funciones para expresar visualizaciones; sesiones largas (mediana 106 min)</a:t>
            </a:r>
          </a:p>
          <a:p>
            <a:r>
              <a:rPr sz="1800"/>
              <a:t>Límites: 7 participantes, todos hombres y expertos en Smalltalk; usabilidad 58/100 (SUS) e incomodidad moderada</a:t>
            </a:r>
          </a:p>
          <a:p>
            <a:r>
              <a:rPr sz="1800"/>
              <a:t>Idea para llevarse: una visualización es situada cuando se refiere a objetos reales con significado, como lo que el usuario ve en su entorno</a:t>
            </a:r>
          </a:p>
          <a:p>
            <a:r>
              <a:rPr sz="18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800"/>
              <a:t>AVAR (2020) fue un prototipo; desde entonces el área se ordenó. Lee, Sedlmair y Schmalstieg (2023) revisaron 293 trabajos de visualización situada en AR y propusieron 10 patrones de diseño (IEEE TVCG, arXiv:2307.09157).</a:t>
            </a:r>
          </a:p>
          <a:p>
            <a:r>
              <a:rPr sz="1800"/>
              <a:t>Los paneles son lo más común, y la interactividad queda como trabajo futuro.</a:t>
            </a:r>
          </a:p>
          <a:p>
            <a:r>
              <a:rPr sz="1800"/>
              <a:t>Shin et al. (2023, arXiv:2310.10015) sistematizan 47 sistemas con una taxonomía.</a:t>
            </a:r>
          </a:p>
          <a:p>
            <a:r>
              <a:rPr sz="1800"/>
              <a:t>Ojo: ninguno de los dos menciona AVAR, así que no podemos decir que lo superen; solo muestran hacia dónde fue el campo.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Lee et al. (2023): 10 patrones</a:t>
            </a:r>
          </a:p>
        </p:txBody>
      </p:sp>
      <p:sp>
        <p:nvSpPr>
          <p:cNvPr id="3" name="Text Placeholder 2"/>
          <p:cNvSpPr>
            <a:spLocks noGrp="1"/>
          </p:cNvSpPr>
          <p:nvPr>
            <p:ph type="body" idx="1"/>
          </p:nvPr>
        </p:nvSpPr>
        <p:spPr>
          <a:xfrm>
            <a:off x="4802049" y="1150000"/>
            <a:ext cx="4030251" cy="3500000"/>
          </a:xfrm>
        </p:spPr>
        <p:txBody>
          <a:bodyPr wrap="square"/>
          <a:lstStyle/>
          <a:p>
            <a:pPr>
              <a:spcBef>
                <a:spcPts val="0"/>
              </a:spcBef>
              <a:spcAft>
                <a:spcPts val="200"/>
              </a:spcAft>
            </a:pPr>
            <a:r>
              <a:rPr sz="1000"/>
              <a:t>A Glyph: codificación visual pegada al referente</a:t>
            </a:r>
          </a:p>
          <a:p>
            <a:pPr>
              <a:spcBef>
                <a:spcPts val="0"/>
              </a:spcBef>
              <a:spcAft>
                <a:spcPts val="200"/>
              </a:spcAft>
            </a:pPr>
            <a:r>
              <a:rPr sz="1000"/>
              <a:t>B Ghost: objeto virtual que complementa la escena</a:t>
            </a:r>
          </a:p>
          <a:p>
            <a:pPr>
              <a:spcBef>
                <a:spcPts val="0"/>
              </a:spcBef>
              <a:spcAft>
                <a:spcPts val="200"/>
              </a:spcAft>
            </a:pPr>
            <a:r>
              <a:rPr sz="1000"/>
              <a:t>C Trajectory: glyph que conecta dos o más puntos</a:t>
            </a:r>
          </a:p>
          <a:p>
            <a:pPr>
              <a:spcBef>
                <a:spcPts val="0"/>
              </a:spcBef>
              <a:spcAft>
                <a:spcPts val="200"/>
              </a:spcAft>
            </a:pPr>
            <a:r>
              <a:rPr sz="1000"/>
              <a:t>D Decal: modifica la apariencia de una superficie</a:t>
            </a:r>
          </a:p>
          <a:p>
            <a:pPr>
              <a:spcBef>
                <a:spcPts val="0"/>
              </a:spcBef>
              <a:spcAft>
                <a:spcPts val="200"/>
              </a:spcAft>
            </a:pPr>
            <a:r>
              <a:rPr sz="1000"/>
              <a:t>E Morph: modifica objetos físicos (explotar, encoger)</a:t>
            </a:r>
          </a:p>
          <a:p>
            <a:pPr>
              <a:spcBef>
                <a:spcPts val="0"/>
              </a:spcBef>
              <a:spcAft>
                <a:spcPts val="200"/>
              </a:spcAft>
            </a:pPr>
            <a:r>
              <a:rPr sz="1000"/>
              <a:t>F Lens: cambia una parte del campo de visión (rayos X)</a:t>
            </a:r>
          </a:p>
          <a:p>
            <a:pPr>
              <a:spcBef>
                <a:spcPts val="0"/>
              </a:spcBef>
              <a:spcAft>
                <a:spcPts val="200"/>
              </a:spcAft>
            </a:pPr>
            <a:r>
              <a:rPr sz="1000"/>
              <a:t>G Label: información adicional sobre un referente</a:t>
            </a:r>
          </a:p>
          <a:p>
            <a:pPr>
              <a:spcBef>
                <a:spcPts val="0"/>
              </a:spcBef>
              <a:spcAft>
                <a:spcPts val="200"/>
              </a:spcAft>
            </a:pPr>
            <a:r>
              <a:rPr sz="1000"/>
              <a:t>H Mirror: vista reflejada con una codificación</a:t>
            </a:r>
          </a:p>
          <a:p>
            <a:pPr>
              <a:spcBef>
                <a:spcPts val="0"/>
              </a:spcBef>
              <a:spcAft>
                <a:spcPts val="200"/>
              </a:spcAft>
            </a:pPr>
            <a:r>
              <a:rPr sz="1000"/>
              <a:t>I Proxy: copia cercana de un referente lejano</a:t>
            </a:r>
          </a:p>
          <a:p>
            <a:pPr>
              <a:spcBef>
                <a:spcPts val="0"/>
              </a:spcBef>
              <a:spcAft>
                <a:spcPts val="200"/>
              </a:spcAft>
            </a:pPr>
            <a:r>
              <a:rPr sz="1000"/>
              <a:t>J Panel: visualización convencional sin relación geométrica con el entorno</a:t>
            </a:r>
          </a:p>
        </p:txBody>
      </p:sp>
      <p:pic>
        <p:nvPicPr>
          <p:cNvPr id="4" name="Picture 3" descr="fig2.png"/>
          <p:cNvPicPr>
            <a:picLocks noChangeAspect="1"/>
          </p:cNvPicPr>
          <p:nvPr/>
        </p:nvPicPr>
        <p:blipFill>
          <a:blip r:embed="rId2"/>
          <a:stretch>
            <a:fillRect/>
          </a:stretch>
        </p:blipFill>
        <p:spPr>
          <a:xfrm>
            <a:off x="311700" y="1150000"/>
            <a:ext cx="4340349" cy="3300000"/>
          </a:xfrm>
          <a:prstGeom prst="rect">
            <a:avLst/>
          </a:prstGeom>
        </p:spPr>
      </p:pic>
      <p:sp>
        <p:nvSpPr>
          <p:cNvPr id="5" name="TextBox 4"/>
          <p:cNvSpPr txBox="1"/>
          <p:nvPr/>
        </p:nvSpPr>
        <p:spPr>
          <a:xfrm>
            <a:off x="311700" y="4780000"/>
            <a:ext cx="8520600" cy="260000"/>
          </a:xfrm>
          <a:prstGeom prst="rect">
            <a:avLst/>
          </a:prstGeom>
          <a:noFill/>
        </p:spPr>
        <p:txBody>
          <a:bodyPr wrap="square">
            <a:spAutoFit/>
          </a:bodyPr>
          <a:lstStyle/>
          <a:p>
            <a:r>
              <a:rPr sz="900" i="1"/>
              <a:t>Fuente: Lee, Sedlmair y Schmalstieg (2023), IEEE TVCG, arXiv:2307.09157, Fig. 2 y §3.3 (descripciones resumidas por nosotros).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¿Qué patrón se usa más?</a:t>
            </a:r>
          </a:p>
        </p:txBody>
      </p:sp>
      <p:sp>
        <p:nvSpPr>
          <p:cNvPr id="3" name="Text Placeholder 2"/>
          <p:cNvSpPr>
            <a:spLocks noGrp="1"/>
          </p:cNvSpPr>
          <p:nvPr>
            <p:ph type="body" idx="1"/>
          </p:nvPr>
        </p:nvSpPr>
        <p:spPr>
          <a:xfrm>
            <a:off x="6661700" y="1250000"/>
            <a:ext cx="2170900" cy="3000000"/>
          </a:xfrm>
        </p:spPr>
        <p:txBody>
          <a:bodyPr wrap="square"/>
          <a:lstStyle/>
          <a:p>
            <a:r>
              <a:rPr sz="1400"/>
              <a:t>Panel: 131 de 293 trabajos</a:t>
            </a:r>
          </a:p>
          <a:p>
            <a:r>
              <a:rPr sz="1400"/>
              <a:t>Los autores lo atribuyen a su flexibilidad y familiaridad</a:t>
            </a:r>
          </a:p>
          <a:p>
            <a:r>
              <a:rPr sz="1400"/>
              <a:t>Un trabajo puede tener varios patrones</a:t>
            </a:r>
          </a:p>
          <a:p>
            <a:r>
              <a:rPr sz="1400"/>
              <a:t>Es una observación de Lee et al., no una crítica a AVAR</a:t>
            </a:r>
          </a:p>
        </p:txBody>
      </p:sp>
      <p:pic>
        <p:nvPicPr>
          <p:cNvPr id="4" name="Picture 3" descr="fig3.png"/>
          <p:cNvPicPr>
            <a:picLocks noChangeAspect="1"/>
          </p:cNvPicPr>
          <p:nvPr/>
        </p:nvPicPr>
        <p:blipFill>
          <a:blip r:embed="rId2"/>
          <a:stretch>
            <a:fillRect/>
          </a:stretch>
        </p:blipFill>
        <p:spPr>
          <a:xfrm>
            <a:off x="311700" y="1250000"/>
            <a:ext cx="6200000" cy="2705932"/>
          </a:xfrm>
          <a:prstGeom prst="rect">
            <a:avLst/>
          </a:prstGeom>
        </p:spPr>
      </p:pic>
      <p:sp>
        <p:nvSpPr>
          <p:cNvPr id="5" name="TextBox 4"/>
          <p:cNvSpPr txBox="1"/>
          <p:nvPr/>
        </p:nvSpPr>
        <p:spPr>
          <a:xfrm>
            <a:off x="311700" y="4780000"/>
            <a:ext cx="8520600" cy="260000"/>
          </a:xfrm>
          <a:prstGeom prst="rect">
            <a:avLst/>
          </a:prstGeom>
          <a:noFill/>
        </p:spPr>
        <p:txBody>
          <a:bodyPr wrap="square">
            <a:spAutoFit/>
          </a:bodyPr>
          <a:lstStyle/>
          <a:p>
            <a:r>
              <a:rPr sz="900" i="1"/>
              <a:t>Fuente: Lee, Sedlmair y Schmalstieg (2023), Fig. 3: número de apariciones de cada patrón en 293 trabajos.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Conexión con situada: el HUD de distancia y las etiquetas se ubican sobre el vehículo y el obstáculo que el usuario está mirando</a:t>
            </a:r>
          </a:p>
          <a:p>
            <a:r>
              <a:rPr sz="1800"/>
              <a:t>El módulo de distancia usa raycasting para calcular la distancia a las esquinas y la muestra al instante (HUD y audio)</a:t>
            </a:r>
          </a:p>
          <a:p>
            <a:r>
              <a:rPr sz="1800"/>
              <a:t>Igual que en AVAR, lo que se ve cambia en tiempo real según lo que hace el usuario</a:t>
            </a:r>
          </a:p>
          <a:p>
            <a:r>
              <a:rPr sz="1800"/>
              <a:t>Ojo con la clase: poner etiquetas sin cuidado puede tapar justo lo que importa, así que hay que ubicarlas bien y mostrar solo lo relevante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 (opinión)</a:t>
            </a:r>
          </a:p>
        </p:txBody>
      </p:sp>
      <p:sp>
        <p:nvSpPr>
          <p:cNvPr id="3" name="Text Placeholder 2"/>
          <p:cNvSpPr>
            <a:spLocks noGrp="1"/>
          </p:cNvSpPr>
          <p:nvPr>
            <p:ph type="body" idx="1"/>
          </p:nvPr>
        </p:nvSpPr>
        <p:spPr>
          <a:xfrm>
            <a:off x="311700" y="1150000"/>
            <a:ext cx="8520600" cy="3700000"/>
          </a:xfrm>
        </p:spPr>
        <p:txBody>
          <a:bodyPr/>
          <a:lstStyle/>
          <a:p>
            <a:r>
              <a:rPr sz="1800"/>
              <a:t>AVAR se centra en escribir código: programación en vivo en Smalltalk, con teclado Bluetooth en HoloLens.</a:t>
            </a:r>
          </a:p>
          <a:p>
            <a:r>
              <a:rPr sz="1800"/>
              <a:t>Trabajos posteriores tratan la entrada de texto en AR como un cuello de botella: Dosdall et al. (2022, VINCI) y Merino et al. (2026, arXiv:2606.08927). Del primero solo leímos el abstract y un fragmento citante.</a:t>
            </a:r>
          </a:p>
          <a:p>
            <a:r>
              <a:rPr sz="1800"/>
              <a:t>Nuestra especulación, sin fuente: si una IA genera el código, quizás haga falta menos visualización de código, y la de datos siga siendo útil.</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