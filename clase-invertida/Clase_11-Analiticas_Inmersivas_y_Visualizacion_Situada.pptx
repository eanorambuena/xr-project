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ejemplos y funciones para expresar visualizaciones; sesiones largas (mediana 106 min)</a:t>
            </a:r>
          </a:p>
          <a:p>
            <a:r>
              <a:rPr sz="1800"/>
              <a:t>Límites: 7 participantes, todos hombres y expertos en Smalltalk; usabilidad 58/100 (SUS) e incomodidad moderada</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800"/>
              <a:t>AVAR (2020) fue un prototipo; desde entonces el área se ordenó. Lee, Sedlmair y Schmalstieg (2023) revisaron 293 trabajos de visualización situada en AR y propusieron 10 patrones de diseño (IEEE TVCG, arXiv:2307.09157).</a:t>
            </a:r>
          </a:p>
          <a:p>
            <a:r>
              <a:rPr sz="1800"/>
              <a:t>Los paneles son lo más común, y la interactividad queda como trabajo futuro.</a:t>
            </a:r>
          </a:p>
          <a:p>
            <a:r>
              <a:rPr sz="1800"/>
              <a:t>Shin et al. (2023, arXiv:2310.10015) sistematizan 47 sistemas con una taxonomía.</a:t>
            </a:r>
          </a:p>
          <a:p>
            <a:r>
              <a:rPr sz="1800"/>
              <a:t>Ojo: ninguno de los dos menciona AVAR, así que no podemos decir que lo superen; solo muestran hacia dónde fue el campo.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150000"/>
            <a:ext cx="8520600" cy="1500000"/>
          </a:xfrm>
        </p:spPr>
        <p:txBody>
          <a:bodyPr wrap="square"/>
          <a:lstStyle/>
          <a:p>
            <a:pPr marL="0" indent="0">
              <a:spcBef>
                <a:spcPts val="0"/>
              </a:spcBef>
              <a:spcAft>
                <a:spcPts val="200"/>
              </a:spcAft>
              <a:buNone/>
            </a:pPr>
            <a:r>
              <a:rPr sz="1100"/>
              <a:t>Izq.: los 10 patrones (íconos de Lee et al.) con el nº de trabajos de la encuesta; der.: frecuencia de cada patrón.</a:t>
            </a:r>
          </a:p>
          <a:p>
            <a:pPr marL="0" indent="0">
              <a:spcBef>
                <a:spcPts val="0"/>
              </a:spcBef>
              <a:spcAft>
                <a:spcPts val="200"/>
              </a:spcAft>
              <a:buNone/>
            </a:pPr>
            <a:r>
              <a:rPr sz="1100"/>
              <a:t>Panel aparece en 131 de 293 trabajos: Lee et al. lo atribuyen a su flexibilidad y familiaridad (un trabajo puede tener varios patrones). Es su observación, no una crítica a AVAR.</a:t>
            </a:r>
          </a:p>
        </p:txBody>
      </p:sp>
      <p:sp>
        <p:nvSpPr>
          <p:cNvPr id="5" name="TextBox 4"/>
          <p:cNvSpPr txBox="1"/>
          <p:nvPr/>
        </p:nvSpPr>
        <p:spPr>
          <a:xfrm>
            <a:off x="311700" y="4780000"/>
            <a:ext cx="8520600" cy="260000"/>
          </a:xfrm>
          <a:prstGeom prst="rect">
            <a:avLst/>
          </a:prstGeom>
          <a:noFill/>
        </p:spPr>
        <p:txBody>
          <a:bodyPr wrap="square">
            <a:spAutoFit/>
          </a:bodyPr>
          <a:lstStyle/>
          <a:p>
            <a:r>
              <a:rPr sz="900" i="1"/>
              <a:t>Fuente: Lee, Sedlmair y Schmalstieg (2023), IEEE TVCG, arXiv:2307.09157, §3.3 (íconos) y Fig. 3 (gráfico);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377950" y="1100000"/>
            <a:ext cx="605500" cy="560000"/>
          </a:xfrm>
          <a:prstGeom prst="rect">
            <a:avLst/>
          </a:prstGeom>
        </p:spPr>
      </p:pic>
      <p:sp>
        <p:nvSpPr>
          <p:cNvPr id="8" name="TextBox 7"/>
          <p:cNvSpPr txBox="1"/>
          <p:nvPr/>
        </p:nvSpPr>
        <p:spPr>
          <a:xfrm>
            <a:off x="311700" y="1670000"/>
            <a:ext cx="738000" cy="220000"/>
          </a:xfrm>
          <a:prstGeom prst="rect">
            <a:avLst/>
          </a:prstGeom>
          <a:noFill/>
        </p:spPr>
        <p:txBody>
          <a:bodyPr wrap="none" lIns="0" rIns="0">
            <a:spAutoFit/>
          </a:bodyPr>
          <a:lstStyle/>
          <a:p>
            <a:pPr algn="ctr"/>
            <a:r>
              <a:rPr sz="900" b="0"/>
              <a:t>Glyph 77</a:t>
            </a:r>
          </a:p>
        </p:txBody>
      </p:sp>
      <p:pic>
        <p:nvPicPr>
          <p:cNvPr id="9" name="Picture 8" descr="ghost.png"/>
          <p:cNvPicPr>
            <a:picLocks noChangeAspect="1"/>
          </p:cNvPicPr>
          <p:nvPr/>
        </p:nvPicPr>
        <p:blipFill>
          <a:blip r:embed="rId5"/>
          <a:stretch>
            <a:fillRect/>
          </a:stretch>
        </p:blipFill>
        <p:spPr>
          <a:xfrm>
            <a:off x="1102099" y="1100000"/>
            <a:ext cx="633202" cy="560000"/>
          </a:xfrm>
          <a:prstGeom prst="rect">
            <a:avLst/>
          </a:prstGeom>
        </p:spPr>
      </p:pic>
      <p:sp>
        <p:nvSpPr>
          <p:cNvPr id="10" name="TextBox 9"/>
          <p:cNvSpPr txBox="1"/>
          <p:nvPr/>
        </p:nvSpPr>
        <p:spPr>
          <a:xfrm>
            <a:off x="1049700" y="1670000"/>
            <a:ext cx="738000" cy="220000"/>
          </a:xfrm>
          <a:prstGeom prst="rect">
            <a:avLst/>
          </a:prstGeom>
          <a:noFill/>
        </p:spPr>
        <p:txBody>
          <a:bodyPr wrap="none" lIns="0" rIns="0">
            <a:spAutoFit/>
          </a:bodyPr>
          <a:lstStyle/>
          <a:p>
            <a:pPr algn="ctr"/>
            <a:r>
              <a:rPr sz="900" b="0"/>
              <a:t>Ghost 90</a:t>
            </a:r>
          </a:p>
        </p:txBody>
      </p:sp>
      <p:pic>
        <p:nvPicPr>
          <p:cNvPr id="11" name="Picture 10" descr="trajectory.png"/>
          <p:cNvPicPr>
            <a:picLocks noChangeAspect="1"/>
          </p:cNvPicPr>
          <p:nvPr/>
        </p:nvPicPr>
        <p:blipFill>
          <a:blip r:embed="rId6"/>
          <a:stretch>
            <a:fillRect/>
          </a:stretch>
        </p:blipFill>
        <p:spPr>
          <a:xfrm>
            <a:off x="1910546" y="1100000"/>
            <a:ext cx="492307" cy="560000"/>
          </a:xfrm>
          <a:prstGeom prst="rect">
            <a:avLst/>
          </a:prstGeom>
        </p:spPr>
      </p:pic>
      <p:sp>
        <p:nvSpPr>
          <p:cNvPr id="12" name="TextBox 11"/>
          <p:cNvSpPr txBox="1"/>
          <p:nvPr/>
        </p:nvSpPr>
        <p:spPr>
          <a:xfrm>
            <a:off x="1787700" y="1670000"/>
            <a:ext cx="738000" cy="220000"/>
          </a:xfrm>
          <a:prstGeom prst="rect">
            <a:avLst/>
          </a:prstGeom>
          <a:noFill/>
        </p:spPr>
        <p:txBody>
          <a:bodyPr wrap="none" lIns="0" rIns="0">
            <a:spAutoFit/>
          </a:bodyPr>
          <a:lstStyle/>
          <a:p>
            <a:pPr algn="ctr"/>
            <a:r>
              <a:rPr sz="900" b="0"/>
              <a:t>Trajectory 67</a:t>
            </a:r>
          </a:p>
        </p:txBody>
      </p:sp>
      <p:pic>
        <p:nvPicPr>
          <p:cNvPr id="13" name="Picture 12" descr="decal.png"/>
          <p:cNvPicPr>
            <a:picLocks noChangeAspect="1"/>
          </p:cNvPicPr>
          <p:nvPr/>
        </p:nvPicPr>
        <p:blipFill>
          <a:blip r:embed="rId7"/>
          <a:stretch>
            <a:fillRect/>
          </a:stretch>
        </p:blipFill>
        <p:spPr>
          <a:xfrm>
            <a:off x="2612993" y="1100000"/>
            <a:ext cx="563414" cy="560000"/>
          </a:xfrm>
          <a:prstGeom prst="rect">
            <a:avLst/>
          </a:prstGeom>
        </p:spPr>
      </p:pic>
      <p:sp>
        <p:nvSpPr>
          <p:cNvPr id="14" name="TextBox 13"/>
          <p:cNvSpPr txBox="1"/>
          <p:nvPr/>
        </p:nvSpPr>
        <p:spPr>
          <a:xfrm>
            <a:off x="2525700" y="1670000"/>
            <a:ext cx="738000" cy="220000"/>
          </a:xfrm>
          <a:prstGeom prst="rect">
            <a:avLst/>
          </a:prstGeom>
          <a:noFill/>
        </p:spPr>
        <p:txBody>
          <a:bodyPr wrap="none" lIns="0" rIns="0">
            <a:spAutoFit/>
          </a:bodyPr>
          <a:lstStyle/>
          <a:p>
            <a:pPr algn="ctr"/>
            <a:r>
              <a:rPr sz="900" b="0"/>
              <a:t>Decal 50</a:t>
            </a:r>
          </a:p>
        </p:txBody>
      </p:sp>
      <p:pic>
        <p:nvPicPr>
          <p:cNvPr id="15" name="Picture 14" descr="morph.png"/>
          <p:cNvPicPr>
            <a:picLocks noChangeAspect="1"/>
          </p:cNvPicPr>
          <p:nvPr/>
        </p:nvPicPr>
        <p:blipFill>
          <a:blip r:embed="rId8"/>
          <a:stretch>
            <a:fillRect/>
          </a:stretch>
        </p:blipFill>
        <p:spPr>
          <a:xfrm>
            <a:off x="3308396" y="1100000"/>
            <a:ext cx="648607" cy="560000"/>
          </a:xfrm>
          <a:prstGeom prst="rect">
            <a:avLst/>
          </a:prstGeom>
        </p:spPr>
      </p:pic>
      <p:sp>
        <p:nvSpPr>
          <p:cNvPr id="16" name="TextBox 15"/>
          <p:cNvSpPr txBox="1"/>
          <p:nvPr/>
        </p:nvSpPr>
        <p:spPr>
          <a:xfrm>
            <a:off x="3263700" y="1670000"/>
            <a:ext cx="738000" cy="220000"/>
          </a:xfrm>
          <a:prstGeom prst="rect">
            <a:avLst/>
          </a:prstGeom>
          <a:noFill/>
        </p:spPr>
        <p:txBody>
          <a:bodyPr wrap="none" lIns="0" rIns="0">
            <a:spAutoFit/>
          </a:bodyPr>
          <a:lstStyle/>
          <a:p>
            <a:pPr algn="ctr"/>
            <a:r>
              <a:rPr sz="900" b="0"/>
              <a:t>Morph 5</a:t>
            </a:r>
          </a:p>
        </p:txBody>
      </p:sp>
      <p:pic>
        <p:nvPicPr>
          <p:cNvPr id="17" name="Picture 16" descr="lens.png"/>
          <p:cNvPicPr>
            <a:picLocks noChangeAspect="1"/>
          </p:cNvPicPr>
          <p:nvPr/>
        </p:nvPicPr>
        <p:blipFill>
          <a:blip r:embed="rId9"/>
          <a:stretch>
            <a:fillRect/>
          </a:stretch>
        </p:blipFill>
        <p:spPr>
          <a:xfrm>
            <a:off x="362765" y="1920000"/>
            <a:ext cx="635870" cy="560000"/>
          </a:xfrm>
          <a:prstGeom prst="rect">
            <a:avLst/>
          </a:prstGeom>
        </p:spPr>
      </p:pic>
      <p:sp>
        <p:nvSpPr>
          <p:cNvPr id="18" name="TextBox 17"/>
          <p:cNvSpPr txBox="1"/>
          <p:nvPr/>
        </p:nvSpPr>
        <p:spPr>
          <a:xfrm>
            <a:off x="311700" y="2490000"/>
            <a:ext cx="738000" cy="220000"/>
          </a:xfrm>
          <a:prstGeom prst="rect">
            <a:avLst/>
          </a:prstGeom>
          <a:noFill/>
        </p:spPr>
        <p:txBody>
          <a:bodyPr wrap="none" lIns="0" rIns="0">
            <a:spAutoFit/>
          </a:bodyPr>
          <a:lstStyle/>
          <a:p>
            <a:pPr algn="ctr"/>
            <a:r>
              <a:rPr sz="900" b="0"/>
              <a:t>Lens 32</a:t>
            </a:r>
          </a:p>
        </p:txBody>
      </p:sp>
      <p:pic>
        <p:nvPicPr>
          <p:cNvPr id="19" name="Picture 18" descr="label.png"/>
          <p:cNvPicPr>
            <a:picLocks noChangeAspect="1"/>
          </p:cNvPicPr>
          <p:nvPr/>
        </p:nvPicPr>
        <p:blipFill>
          <a:blip r:embed="rId10"/>
          <a:stretch>
            <a:fillRect/>
          </a:stretch>
        </p:blipFill>
        <p:spPr>
          <a:xfrm>
            <a:off x="1081264" y="1920000"/>
            <a:ext cx="674871" cy="560000"/>
          </a:xfrm>
          <a:prstGeom prst="rect">
            <a:avLst/>
          </a:prstGeom>
        </p:spPr>
      </p:pic>
      <p:sp>
        <p:nvSpPr>
          <p:cNvPr id="20" name="TextBox 19"/>
          <p:cNvSpPr txBox="1"/>
          <p:nvPr/>
        </p:nvSpPr>
        <p:spPr>
          <a:xfrm>
            <a:off x="1049700" y="2490000"/>
            <a:ext cx="738000" cy="220000"/>
          </a:xfrm>
          <a:prstGeom prst="rect">
            <a:avLst/>
          </a:prstGeom>
          <a:noFill/>
        </p:spPr>
        <p:txBody>
          <a:bodyPr wrap="none" lIns="0" rIns="0">
            <a:spAutoFit/>
          </a:bodyPr>
          <a:lstStyle/>
          <a:p>
            <a:pPr algn="ctr"/>
            <a:r>
              <a:rPr sz="900" b="0"/>
              <a:t>Label 85</a:t>
            </a:r>
          </a:p>
        </p:txBody>
      </p:sp>
      <p:pic>
        <p:nvPicPr>
          <p:cNvPr id="21" name="Picture 20" descr="mirror.png"/>
          <p:cNvPicPr>
            <a:picLocks noChangeAspect="1"/>
          </p:cNvPicPr>
          <p:nvPr/>
        </p:nvPicPr>
        <p:blipFill>
          <a:blip r:embed="rId11"/>
          <a:stretch>
            <a:fillRect/>
          </a:stretch>
        </p:blipFill>
        <p:spPr>
          <a:xfrm>
            <a:off x="1828602" y="1920000"/>
            <a:ext cx="656196" cy="560000"/>
          </a:xfrm>
          <a:prstGeom prst="rect">
            <a:avLst/>
          </a:prstGeom>
        </p:spPr>
      </p:pic>
      <p:sp>
        <p:nvSpPr>
          <p:cNvPr id="22" name="TextBox 21"/>
          <p:cNvSpPr txBox="1"/>
          <p:nvPr/>
        </p:nvSpPr>
        <p:spPr>
          <a:xfrm>
            <a:off x="1787700" y="2490000"/>
            <a:ext cx="738000" cy="220000"/>
          </a:xfrm>
          <a:prstGeom prst="rect">
            <a:avLst/>
          </a:prstGeom>
          <a:noFill/>
        </p:spPr>
        <p:txBody>
          <a:bodyPr wrap="none" lIns="0" rIns="0">
            <a:spAutoFit/>
          </a:bodyPr>
          <a:lstStyle/>
          <a:p>
            <a:pPr algn="ctr"/>
            <a:r>
              <a:rPr sz="900" b="0"/>
              <a:t>Mirror 11</a:t>
            </a:r>
          </a:p>
        </p:txBody>
      </p:sp>
      <p:pic>
        <p:nvPicPr>
          <p:cNvPr id="23" name="Picture 22" descr="proxy.png"/>
          <p:cNvPicPr>
            <a:picLocks noChangeAspect="1"/>
          </p:cNvPicPr>
          <p:nvPr/>
        </p:nvPicPr>
        <p:blipFill>
          <a:blip r:embed="rId12"/>
          <a:stretch>
            <a:fillRect/>
          </a:stretch>
        </p:blipFill>
        <p:spPr>
          <a:xfrm>
            <a:off x="2614700" y="1920000"/>
            <a:ext cx="560000" cy="560000"/>
          </a:xfrm>
          <a:prstGeom prst="rect">
            <a:avLst/>
          </a:prstGeom>
        </p:spPr>
      </p:pic>
      <p:sp>
        <p:nvSpPr>
          <p:cNvPr id="24" name="TextBox 23"/>
          <p:cNvSpPr txBox="1"/>
          <p:nvPr/>
        </p:nvSpPr>
        <p:spPr>
          <a:xfrm>
            <a:off x="2525700" y="2490000"/>
            <a:ext cx="738000" cy="220000"/>
          </a:xfrm>
          <a:prstGeom prst="rect">
            <a:avLst/>
          </a:prstGeom>
          <a:noFill/>
        </p:spPr>
        <p:txBody>
          <a:bodyPr wrap="none" lIns="0" rIns="0">
            <a:spAutoFit/>
          </a:bodyPr>
          <a:lstStyle/>
          <a:p>
            <a:pPr algn="ctr"/>
            <a:r>
              <a:rPr sz="900" b="0"/>
              <a:t>Proxy 32</a:t>
            </a:r>
          </a:p>
        </p:txBody>
      </p:sp>
      <p:pic>
        <p:nvPicPr>
          <p:cNvPr id="25" name="Picture 24" descr="panel.png"/>
          <p:cNvPicPr>
            <a:picLocks noChangeAspect="1"/>
          </p:cNvPicPr>
          <p:nvPr/>
        </p:nvPicPr>
        <p:blipFill>
          <a:blip r:embed="rId13"/>
          <a:stretch>
            <a:fillRect/>
          </a:stretch>
        </p:blipFill>
        <p:spPr>
          <a:xfrm>
            <a:off x="3293700" y="1929521"/>
            <a:ext cx="678000" cy="540957"/>
          </a:xfrm>
          <a:prstGeom prst="rect">
            <a:avLst/>
          </a:prstGeom>
        </p:spPr>
      </p:pic>
      <p:sp>
        <p:nvSpPr>
          <p:cNvPr id="26" name="TextBox 25"/>
          <p:cNvSpPr txBox="1"/>
          <p:nvPr/>
        </p:nvSpPr>
        <p:spPr>
          <a:xfrm>
            <a:off x="3263700" y="2490000"/>
            <a:ext cx="738000" cy="220000"/>
          </a:xfrm>
          <a:prstGeom prst="rect">
            <a:avLst/>
          </a:prstGeom>
          <a:noFill/>
        </p:spPr>
        <p:txBody>
          <a:bodyPr wrap="none" lIns="0" rIns="0">
            <a:spAutoFit/>
          </a:bodyPr>
          <a:lstStyle/>
          <a:p>
            <a:pPr algn="ctr"/>
            <a:r>
              <a:rPr sz="900" b="1"/>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1800"/>
              <a:t>AVAR se centra en escribir código: programación en vivo en Smalltalk, con teclado Bluetooth en HoloLens.</a:t>
            </a:r>
          </a:p>
          <a:p>
            <a:r>
              <a:rPr sz="1800"/>
              <a:t>Trabajos posteriores tratan la entrada de texto en AR como un cuello de botella: Dosdall et al. (2022, VINCI) y Merino et al. (2026, arXiv:2606.08927). Del primero solo leímos el abstract y un fragmento citante.</a:t>
            </a:r>
          </a:p>
          <a:p>
            <a:r>
              <a:rPr sz="18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