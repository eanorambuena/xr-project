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6" r:id="rId91"/>
    <p:sldId id="337" r:id="rId92"/>
    <p:sldId id="335" r:id="rId81"/>
  </p:sldIdLst>
  <p:sldSz cx="9144000" cy="5143500" type="screen16x9"/>
  <p:notesSz cx="6858000" cy="9144000"/>
  <p:embeddedFontLst>
    <p:embeddedFont>
      <p:font typeface="Space Mono" panose="02010509030202000204" pitchFamily="49" charset="77"/>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4D82D1-A5CC-4578-84F6-CFC42621E0DF}">
  <a:tblStyle styleId="{644D82D1-A5CC-4578-84F6-CFC42621E0DF}" styleName="Table_0">
    <a:wholeTbl>
      <a:tcTxStyle b="off" i="off">
        <a:font>
          <a:latin typeface="Helvetica Neue"/>
          <a:ea typeface="Helvetica Neue"/>
          <a:cs typeface="Helvetica Neue"/>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wholeTbl>
    <a:band1H>
      <a:tcTxStyle/>
      <a:tcStyle>
        <a:tcBdr/>
      </a:tcStyle>
    </a:band1H>
    <a:band2H>
      <a:tcTxStyle b="off" i="off"/>
      <a:tcStyle>
        <a:tcBdr/>
        <a:fill>
          <a:solidFill>
            <a:srgbClr val="E3E5E8"/>
          </a:solidFill>
        </a:fill>
      </a:tcStyle>
    </a:band2H>
    <a:band1V>
      <a:tcTxStyle/>
      <a:tcStyle>
        <a:tcBdr/>
      </a:tcStyle>
    </a:band1V>
    <a:band2V>
      <a:tcTxStyle/>
      <a:tcStyle>
        <a:tcBdr/>
      </a:tcStyle>
    </a:band2V>
    <a:lastCol>
      <a:tcTxStyle/>
      <a:tcStyle>
        <a:tcBdr/>
      </a:tcStyle>
    </a:lastCol>
    <a:firstCol>
      <a:tcTxStyle b="on" i="off">
        <a:font>
          <a:latin typeface="Helvetica Neue"/>
          <a:ea typeface="Helvetica Neue"/>
          <a:cs typeface="Helvetica Neue"/>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0076B9"/>
          </a:solidFill>
        </a:fill>
      </a:tcStyle>
    </a:firstCol>
    <a:lastRow>
      <a:tcTxStyle b="off" i="off">
        <a:font>
          <a:latin typeface="Helvetica Neue"/>
          <a:ea typeface="Helvetica Neue"/>
          <a:cs typeface="Helvetica Neue"/>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3797C6"/>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lastRow>
    <a:seCell>
      <a:tcTxStyle/>
      <a:tcStyle>
        <a:tcBdr/>
      </a:tcStyle>
    </a:seCell>
    <a:swCell>
      <a:tcTxStyle/>
      <a:tcStyle>
        <a:tcBdr/>
      </a:tcStyle>
    </a:swCell>
    <a:firstRow>
      <a:tcTxStyle b="on" i="off">
        <a:font>
          <a:latin typeface="Helvetica Neue"/>
          <a:ea typeface="Helvetica Neue"/>
          <a:cs typeface="Helvetica Neue"/>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004C7F"/>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p:scale>
          <a:sx n="160" d="100"/>
          <a:sy n="160" d="100"/>
        </p:scale>
        <p:origin x="78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notesMaster" Target="notesMasters/notesMaster1.xml"/><Relationship Id="rId83" Type="http://schemas.openxmlformats.org/officeDocument/2006/relationships/font" Target="fonts/font1.fntdata"/><Relationship Id="rId84" Type="http://schemas.openxmlformats.org/officeDocument/2006/relationships/font" Target="fonts/font2.fntdata"/><Relationship Id="rId85" Type="http://schemas.openxmlformats.org/officeDocument/2006/relationships/font" Target="fonts/font3.fntdata"/><Relationship Id="rId86" Type="http://schemas.openxmlformats.org/officeDocument/2006/relationships/font" Target="fonts/font4.fntdata"/><Relationship Id="rId87" Type="http://schemas.openxmlformats.org/officeDocument/2006/relationships/presProps" Target="presProps.xml"/><Relationship Id="rId88" Type="http://schemas.openxmlformats.org/officeDocument/2006/relationships/viewProps" Target="viewProps.xml"/><Relationship Id="rId89" Type="http://schemas.openxmlformats.org/officeDocument/2006/relationships/theme" Target="theme/theme1.xml"/><Relationship Id="rId90" Type="http://schemas.openxmlformats.org/officeDocument/2006/relationships/tableStyles" Target="tableStyles.xml"/><Relationship Id="rId91" Type="http://schemas.openxmlformats.org/officeDocument/2006/relationships/slide" Target="slides/slide81.xml"/><Relationship Id="rId92"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3c44125b9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33c44125b9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4e027b998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g34e027b998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Es la visualización de datos que hace referencia a objetos del mundo real semánticamente significativos.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5245087161_1_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35245087161_1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5245087161_1_20: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g35245087161_1_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5245087161_1_3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g35245087161_1_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5245087161_1_4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35245087161_1_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bcbc4052c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dbcbc4052c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Es la visualización de datos que hace referencia a objetos del mundo real semánticamente significativos.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5245087161_1_5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g35245087161_1_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5245087161_1_6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g35245087161_1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5245087161_1_7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g35245087161_1_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5245087161_1_8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g35245087161_1_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dbcbc4052c_0_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g3dbcbc4052c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5245087161_1_9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35245087161_1_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5245087161_1_10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g35245087161_1_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5245087161_1_11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35245087161_1_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5245087161_1_13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g35245087161_1_1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5245087161_1_14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35245087161_1_1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5245087161_1_15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g35245087161_1_1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5245087161_1_164: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2" name="Google Shape;302;g35245087161_1_1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35245087161_1_17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g35245087161_1_1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5245087161_1_18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g35245087161_1_1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5245087161_1_20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9" name="Google Shape;339;g35245087161_1_2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5245087161_1_21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g35245087161_1_2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5245087161_1_22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35245087161_1_2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5245087161_1_23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g35245087161_1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5245087161_1_24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g35245087161_1_2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5245087161_1_25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g35245087161_1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5245087161_1_26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g35245087161_1_2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5245087161_1_27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g35245087161_1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5245087161_1_287: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g35245087161_1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35245087161_1_298: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g35245087161_1_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35245087161_1_30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g35245087161_1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5245087161_1_31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g35245087161_1_3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35245087161_1_32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g35245087161_1_3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5245087161_1_33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7" name="Google Shape;477;g35245087161_1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35245087161_1_349: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g35245087161_1_3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5245087161_1_3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9" name="Google Shape;499;g35245087161_1_36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1200">
                <a:latin typeface="Calibri"/>
                <a:ea typeface="Calibri"/>
                <a:cs typeface="Calibri"/>
                <a:sym typeface="Calibri"/>
              </a:rPr>
              <a:t>A Magic Lens is a transparent or semi-transparent user interface element which can be placed over objects to change their appearance and/or their interactive behavior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5245087161_1_37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4" name="Google Shape;514;g35245087161_1_3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5245087161_1_38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3" name="Google Shape;523;g35245087161_1_3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5245087161_1_39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3" name="Google Shape;533;g35245087161_1_3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35245087161_1_405: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3" name="Google Shape;543;g35245087161_1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5245087161_1_416: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g35245087161_1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34e027b9989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6" name="Google Shape;566;g34e027b9989_0_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34e082b0776_0_3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1" name="Google Shape;571;g34e082b0776_0_35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La analítica inmersiva es el uso de herramientas de análisis atractivas y personificadas para ayudar a comprender los datos y tomar decisiones.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Para ello, la analítica inmersiva se basa en múltiples campos, como la visualización de datos, la analítica visual, la realidad virtual, la infografía y la interacción persona-ordenador.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Su objetivo final es eliminar las barreras entre las personas, sus datos y las herramientas que utilizan para el análisis. Su objetivo es apoyar la comprensión de los datos y la toma de decisiones en todas partes y por todos, tanto trabajando individualmente como en colaboración.</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4e082b0776_0_3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8" name="Google Shape;578;g34e082b0776_0_36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La analítica inmersiva ofrece varias oportunidades</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La exploración de datos incorporada </a:t>
            </a:r>
            <a:endParaRPr/>
          </a:p>
          <a:p>
            <a:pPr marL="0" lvl="0" indent="0" algn="l" rtl="0">
              <a:lnSpc>
                <a:spcPct val="100000"/>
              </a:lnSpc>
              <a:spcBef>
                <a:spcPts val="0"/>
              </a:spcBef>
              <a:spcAft>
                <a:spcPts val="0"/>
              </a:spcAft>
              <a:buNone/>
            </a:pPr>
            <a:r>
              <a:rPr lang="en-GB" sz="2000">
                <a:latin typeface="Calibri"/>
                <a:ea typeface="Calibri"/>
                <a:cs typeface="Calibri"/>
                <a:sym typeface="Calibri"/>
              </a:rPr>
              <a:t>	permite interacciones táctiles, gestuales, vocales y tangibles que pueden ser más intuitivas y atractivas.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Colaboración,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que puede ser conjunta o remota, así como sincrónica o asincrónica.</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Inmersión espacial </a:t>
            </a:r>
            <a:endParaRPr/>
          </a:p>
          <a:p>
            <a:pPr marL="0" lvl="0" indent="0" algn="l" rtl="0">
              <a:lnSpc>
                <a:spcPct val="100000"/>
              </a:lnSpc>
              <a:spcBef>
                <a:spcPts val="0"/>
              </a:spcBef>
              <a:spcAft>
                <a:spcPts val="0"/>
              </a:spcAft>
              <a:buNone/>
            </a:pPr>
            <a:r>
              <a:rPr lang="en-GB" sz="2000">
                <a:latin typeface="Calibri"/>
                <a:ea typeface="Calibri"/>
                <a:cs typeface="Calibri"/>
                <a:sym typeface="Calibri"/>
              </a:rPr>
              <a:t>	que permite a los usuarios utilizar el espacio que les rodea como un espacio de trabajo tridimensional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Presentación multisensorial que incorpora el oído y los demás sentidos que también pueden utilizarse para proporcionar información adicional o como alternativa a la visión cuando ésta no esté disponible o no sea útil.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Y... Participación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del público en general y de otras partes interesadas que pueden estar más informadas y aumentar la toma de decisiones basadas en datos.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4e082b0776_0_3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6" name="Google Shape;586;g34e082b0776_0_37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Pero, ¿cuándo ofrece el uso de tecnologías inmersivas ventajas sobre las actuales herramientas de análisis visual de escritorio?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Tradicionalmente, los investigadores de la visualización de datos se han centrado en el rendimiento de las tareas, normalmente la precisión y la velocidad.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El uso de señales de profundidad puede mejorar la eficacia de algunas tareas de visualización.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El compromiso emocional y el recuerdo pueden ser importantes a la hora de comunicar los resultados a las partes interesadas.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Y también... la sensación de </a:t>
            </a:r>
            <a:endParaRPr/>
          </a:p>
          <a:p>
            <a:pPr marL="0" lvl="0" indent="0" algn="l" rtl="0">
              <a:lnSpc>
                <a:spcPct val="100000"/>
              </a:lnSpc>
              <a:spcBef>
                <a:spcPts val="0"/>
              </a:spcBef>
              <a:spcAft>
                <a:spcPts val="0"/>
              </a:spcAft>
              <a:buNone/>
            </a:pPr>
            <a:r>
              <a:rPr lang="en-GB" sz="2000">
                <a:latin typeface="Calibri"/>
                <a:ea typeface="Calibri"/>
                <a:cs typeface="Calibri"/>
                <a:sym typeface="Calibri"/>
              </a:rPr>
              <a:t>	presencia aumenta en entornos "emocionales".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34e082b0776_0_3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3" name="Google Shape;593;g34e082b0776_0_38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¿Es hora de reconsiderar el valor del 3D para la visualización de información?</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La comunidad de la visualización de la información ha sido crítica con el uso de representaciones en 3D para datos abstractos y, en consecuencia, ha visto pocos beneficios en el uso de tecnologías inmersivas.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Este conservadurismo puede ser una respuesta al "entusiasmo desenfrenado" de los investigadores de la visualización de la información a finales de los 80 y principios de los 90 por las representaciones en 3D.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También se introdujeron en esta época los infames gráficos de tarta o de barras en 3D que mostraban las populares aplicaciones de hojas de cálculo.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Sin embargo, los estudios de usuarios posteriores no han logrado encontrar ninguna ventaja de estas representaciones en 3D sobre las representaciones tradicionales en 2D en la visualización de datos abstractos y este entusiasmo inicial por el 3D fue sustituido por un fuerte escepticismo.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https://www.youtube.com/watch?v=0oIX0vDJeqo</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4e082b0776_0_3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2" name="Google Shape;602;g34e082b0776_0_38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Hay varias razones que podemos considerar para adoptar la analítica inmersiva:</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Potencial de las pantallas inmersivas. </a:t>
            </a:r>
            <a:endParaRPr/>
          </a:p>
          <a:p>
            <a:pPr marL="0" lvl="0" indent="0" algn="l" rtl="0">
              <a:lnSpc>
                <a:spcPct val="100000"/>
              </a:lnSpc>
              <a:spcBef>
                <a:spcPts val="0"/>
              </a:spcBef>
              <a:spcAft>
                <a:spcPts val="0"/>
              </a:spcAft>
              <a:buNone/>
            </a:pPr>
            <a:r>
              <a:rPr lang="en-GB" sz="2000">
                <a:latin typeface="Calibri"/>
                <a:ea typeface="Calibri"/>
                <a:cs typeface="Calibri"/>
                <a:sym typeface="Calibri"/>
              </a:rPr>
              <a:t>	Las pantallas de realidad mixta montadas en la cabeza son cada vez más comunes.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Canal visual adicional. </a:t>
            </a:r>
            <a:endParaRPr/>
          </a:p>
          <a:p>
            <a:pPr marL="0" lvl="0" indent="0" algn="l" rtl="0">
              <a:lnSpc>
                <a:spcPct val="100000"/>
              </a:lnSpc>
              <a:spcBef>
                <a:spcPts val="0"/>
              </a:spcBef>
              <a:spcAft>
                <a:spcPts val="0"/>
              </a:spcAft>
              <a:buNone/>
            </a:pPr>
            <a:r>
              <a:rPr lang="en-GB" sz="2000">
                <a:latin typeface="Calibri"/>
                <a:ea typeface="Calibri"/>
                <a:cs typeface="Calibri"/>
                <a:sym typeface="Calibri"/>
              </a:rPr>
              <a:t>	Una tercera dimensión espacial proporciona otro canal visual para la visualización de datos.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Mejora de la tecnología. </a:t>
            </a:r>
            <a:endParaRPr/>
          </a:p>
          <a:p>
            <a:pPr marL="0" lvl="0" indent="0" algn="l" rtl="0">
              <a:lnSpc>
                <a:spcPct val="100000"/>
              </a:lnSpc>
              <a:spcBef>
                <a:spcPts val="0"/>
              </a:spcBef>
              <a:spcAft>
                <a:spcPts val="0"/>
              </a:spcAft>
              <a:buNone/>
            </a:pPr>
            <a:r>
              <a:rPr lang="en-GB" sz="2000">
                <a:latin typeface="Calibri"/>
                <a:ea typeface="Calibri"/>
                <a:cs typeface="Calibri"/>
                <a:sym typeface="Calibri"/>
              </a:rPr>
              <a:t>	Las pantallas inmersivas han avanzado considerablemente en la última década.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Espacios de trabajo inmersivos. </a:t>
            </a:r>
            <a:endParaRPr/>
          </a:p>
          <a:p>
            <a:pPr marL="0" lvl="0" indent="0" algn="l" rtl="0">
              <a:lnSpc>
                <a:spcPct val="100000"/>
              </a:lnSpc>
              <a:spcBef>
                <a:spcPts val="0"/>
              </a:spcBef>
              <a:spcAft>
                <a:spcPts val="0"/>
              </a:spcAft>
              <a:buNone/>
            </a:pPr>
            <a:r>
              <a:rPr lang="en-GB" sz="2000">
                <a:latin typeface="Calibri"/>
                <a:ea typeface="Calibri"/>
                <a:cs typeface="Calibri"/>
                <a:sym typeface="Calibri"/>
              </a:rPr>
              <a:t>	los analistas pueden ampliar su espacio de trabajo para utilizar el espacio que les rodea. Pueden colocar las visualizaciones de datos donde les plazca y, en el caso de la realidad aumentada, pueden utilizar el entorno físico como espacio de trabajo.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Más allá de la eficacia de las tareas. </a:t>
            </a:r>
            <a:endParaRPr/>
          </a:p>
          <a:p>
            <a:pPr marL="0" lvl="0" indent="0" algn="l" rtl="0">
              <a:lnSpc>
                <a:spcPct val="100000"/>
              </a:lnSpc>
              <a:spcBef>
                <a:spcPts val="0"/>
              </a:spcBef>
              <a:spcAft>
                <a:spcPts val="0"/>
              </a:spcAft>
              <a:buNone/>
            </a:pPr>
            <a:r>
              <a:rPr lang="en-GB" sz="2000">
                <a:latin typeface="Calibri"/>
                <a:ea typeface="Calibri"/>
                <a:cs typeface="Calibri"/>
                <a:sym typeface="Calibri"/>
              </a:rPr>
              <a:t>	Evaluar la eficacia de la AI en un sentido más amplio que incluya otros aspectos del rendimiento y la experiencia del usuario.</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34e082b0776_0_3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9" name="Google Shape;609;g34e082b0776_0_39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En resumen</a:t>
            </a:r>
            <a:endParaRPr/>
          </a:p>
          <a:p>
            <a:pPr marL="0" lvl="0" indent="0" algn="l" rtl="0">
              <a:lnSpc>
                <a:spcPct val="100000"/>
              </a:lnSpc>
              <a:spcBef>
                <a:spcPts val="0"/>
              </a:spcBef>
              <a:spcAft>
                <a:spcPts val="0"/>
              </a:spcAft>
              <a:buNone/>
            </a:pPr>
            <a:r>
              <a:rPr lang="en-GB" sz="2000">
                <a:latin typeface="Calibri"/>
                <a:ea typeface="Calibri"/>
                <a:cs typeface="Calibri"/>
                <a:sym typeface="Calibri"/>
              </a:rPr>
              <a:t>	Los estudios previos de usuarios sugieren que las representaciones 3D </a:t>
            </a:r>
            <a:endParaRPr/>
          </a:p>
          <a:p>
            <a:pPr marL="0" lvl="0" indent="0" algn="l" rtl="0">
              <a:lnSpc>
                <a:spcPct val="100000"/>
              </a:lnSpc>
              <a:spcBef>
                <a:spcPts val="0"/>
              </a:spcBef>
              <a:spcAft>
                <a:spcPts val="0"/>
              </a:spcAft>
              <a:buNone/>
            </a:pPr>
            <a:r>
              <a:rPr lang="en-GB" sz="2000">
                <a:latin typeface="Calibri"/>
                <a:ea typeface="Calibri"/>
                <a:cs typeface="Calibri"/>
                <a:sym typeface="Calibri"/>
              </a:rPr>
              <a:t>		muestran más claramente la estructura general en conjuntos de datos de mayor dimensión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son útiles para proporcionar orientación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mientras que las representaciones en 2D son preferibles para </a:t>
            </a:r>
            <a:endParaRPr/>
          </a:p>
          <a:p>
            <a:pPr marL="0" lvl="0" indent="0" algn="l" rtl="0">
              <a:lnSpc>
                <a:spcPct val="100000"/>
              </a:lnSpc>
              <a:spcBef>
                <a:spcPts val="0"/>
              </a:spcBef>
              <a:spcAft>
                <a:spcPts val="0"/>
              </a:spcAft>
              <a:buNone/>
            </a:pPr>
            <a:r>
              <a:rPr lang="en-GB" sz="2000">
                <a:latin typeface="Calibri"/>
                <a:ea typeface="Calibri"/>
                <a:cs typeface="Calibri"/>
                <a:sym typeface="Calibri"/>
              </a:rPr>
              <a:t>		manipulación, medición o comparación precisas. </a:t>
            </a:r>
            <a:endParaRPr/>
          </a:p>
          <a:p>
            <a:pPr marL="0" lvl="0" indent="0" algn="l" rtl="0">
              <a:lnSpc>
                <a:spcPct val="100000"/>
              </a:lnSpc>
              <a:spcBef>
                <a:spcPts val="0"/>
              </a:spcBef>
              <a:spcAft>
                <a:spcPts val="0"/>
              </a:spcAft>
              <a:buNone/>
            </a:pPr>
            <a:r>
              <a:rPr lang="en-GB" sz="2000">
                <a:latin typeface="Calibri"/>
                <a:ea typeface="Calibri"/>
                <a:cs typeface="Calibri"/>
                <a:sym typeface="Calibri"/>
              </a:rPr>
              <a:t>	Por lo tanto, puede ser útil proporcionar representaciones 2D y 3D vinculadas en las aplicaciones de análisis inmersivo. </a:t>
            </a:r>
            <a:endParaRPr/>
          </a:p>
          <a:p>
            <a:pPr marL="0" lvl="0" indent="0" algn="l" rtl="0">
              <a:lnSpc>
                <a:spcPct val="100000"/>
              </a:lnSpc>
              <a:spcBef>
                <a:spcPts val="0"/>
              </a:spcBef>
              <a:spcAft>
                <a:spcPts val="0"/>
              </a:spcAft>
              <a:buNone/>
            </a:pPr>
            <a:endParaRPr sz="2000">
              <a:latin typeface="Calibri"/>
              <a:ea typeface="Calibri"/>
              <a:cs typeface="Calibri"/>
              <a:sym typeface="Calibri"/>
            </a:endParaRPr>
          </a:p>
          <a:p>
            <a:pPr marL="0" lvl="0" indent="0" algn="l" rtl="0">
              <a:lnSpc>
                <a:spcPct val="100000"/>
              </a:lnSpc>
              <a:spcBef>
                <a:spcPts val="0"/>
              </a:spcBef>
              <a:spcAft>
                <a:spcPts val="0"/>
              </a:spcAft>
              <a:buNone/>
            </a:pPr>
            <a:r>
              <a:rPr lang="en-GB" sz="2000">
                <a:latin typeface="Calibri"/>
                <a:ea typeface="Calibri"/>
                <a:cs typeface="Calibri"/>
                <a:sym typeface="Calibri"/>
              </a:rPr>
              <a:t>Y, entre los posibles indicios de profundidad para la visualización de datos abstractos se incluyen </a:t>
            </a:r>
            <a:endParaRPr/>
          </a:p>
          <a:p>
            <a:pPr marL="0" lvl="0" indent="0" algn="l" rtl="0">
              <a:lnSpc>
                <a:spcPct val="100000"/>
              </a:lnSpc>
              <a:spcBef>
                <a:spcPts val="0"/>
              </a:spcBef>
              <a:spcAft>
                <a:spcPts val="0"/>
              </a:spcAft>
              <a:buNone/>
            </a:pPr>
            <a:r>
              <a:rPr lang="en-GB" sz="2000">
                <a:latin typeface="Calibri"/>
                <a:ea typeface="Calibri"/>
                <a:cs typeface="Calibri"/>
                <a:sym typeface="Calibri"/>
              </a:rPr>
              <a:t>	el uso de la profundidad para mostrar una dimensión abstracta adicional </a:t>
            </a:r>
            <a:endParaRPr/>
          </a:p>
          <a:p>
            <a:pPr marL="0" lvl="0" indent="0" algn="l" rtl="0">
              <a:lnSpc>
                <a:spcPct val="100000"/>
              </a:lnSpc>
              <a:spcBef>
                <a:spcPts val="0"/>
              </a:spcBef>
              <a:spcAft>
                <a:spcPts val="0"/>
              </a:spcAft>
              <a:buNone/>
            </a:pPr>
            <a:r>
              <a:rPr lang="en-GB" sz="2000">
                <a:latin typeface="Calibri"/>
                <a:ea typeface="Calibri"/>
                <a:cs typeface="Calibri"/>
                <a:sym typeface="Calibri"/>
              </a:rPr>
              <a:t>	vistas en superficies no planas y vistas egocéntricas en las que los datos se sitúan alrededor del espectador, </a:t>
            </a:r>
            <a:endParaRPr/>
          </a:p>
          <a:p>
            <a:pPr marL="0" lvl="0" indent="0" algn="l" rtl="0">
              <a:lnSpc>
                <a:spcPct val="100000"/>
              </a:lnSpc>
              <a:spcBef>
                <a:spcPts val="0"/>
              </a:spcBef>
              <a:spcAft>
                <a:spcPts val="0"/>
              </a:spcAft>
              <a:buNone/>
            </a:pPr>
            <a:r>
              <a:rPr lang="en-GB" sz="2000">
                <a:latin typeface="Calibri"/>
                <a:ea typeface="Calibri"/>
                <a:cs typeface="Calibri"/>
                <a:sym typeface="Calibri"/>
              </a:rPr>
              <a:t>	la visualización de datos abstractos con una incrustación espacial, así como la organización de múltiples vistas en el espacio 3D.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4e082b0776_0_4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6" name="Google Shape;616;g34e082b0776_0_40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000">
                <a:latin typeface="Calibri"/>
                <a:ea typeface="Calibri"/>
                <a:cs typeface="Calibri"/>
                <a:sym typeface="Calibri"/>
              </a:rPr>
              <a:t>Se trata de las visualizaciones de Matrix Cubes, en las que se utiliza la tercera dimensión para mostrar el tiempo.</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4e082b0776_0_411: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4" name="Google Shape;624;g34e082b0776_0_4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34e082b0776_0_4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9" name="Google Shape;629;g34e082b0776_0_41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000">
                <a:latin typeface="Calibri"/>
                <a:ea typeface="Calibri"/>
                <a:cs typeface="Calibri"/>
                <a:sym typeface="Calibri"/>
              </a:rPr>
              <a:t>Este es un ejemplo en el que las visualizaciones en 2D se vinculan mediante aristas en un espacio 3D</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34e082b0776_0_4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7" name="Google Shape;637;g34e082b0776_0_4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000">
                <a:latin typeface="Calibri"/>
                <a:ea typeface="Calibri"/>
                <a:cs typeface="Calibri"/>
                <a:sym typeface="Calibri"/>
              </a:rPr>
              <a:t>Este es un ejemplo de ImAxes, en el que los usuarios pueden explorar un conjunto de datos interactuando con los ejes que representan las dimensiones del conjunto de datos.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4e082b0776_0_4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5" name="Google Shape;645;g34e082b0776_0_4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000">
                <a:latin typeface="Calibri"/>
                <a:ea typeface="Calibri"/>
                <a:cs typeface="Calibri"/>
                <a:sym typeface="Calibri"/>
              </a:rPr>
              <a:t>Se trata de PerfVis, que utiliza una visualización de ciudades en 3D, complementada con un gráfico de dispersión, para analizar las métricas del rendimiento de un sistema de software. </a:t>
            </a:r>
            <a:endParaRPr/>
          </a:p>
          <a:p>
            <a:pPr marL="0" lvl="0" indent="0" algn="l" rtl="0">
              <a:lnSpc>
                <a:spcPct val="100000"/>
              </a:lnSpc>
              <a:spcBef>
                <a:spcPts val="0"/>
              </a:spcBef>
              <a:spcAft>
                <a:spcPts val="0"/>
              </a:spcAft>
              <a:buNone/>
            </a:pPr>
            <a:r>
              <a:rPr lang="en-GB" sz="2000">
                <a:latin typeface="Calibri"/>
                <a:ea typeface="Calibri"/>
                <a:cs typeface="Calibri"/>
                <a:sym typeface="Calibri"/>
              </a:rPr>
              <a:t>La visualización es dinámica, es decir, los cambios en el rendimiento del sistema se reflejan sobre la marcha en las visualizaciones.</a:t>
            </a:r>
            <a:endParaRPr/>
          </a:p>
          <a:p>
            <a:pPr marL="0" lvl="0" indent="0" algn="l" rtl="0">
              <a:lnSpc>
                <a:spcPct val="100000"/>
              </a:lnSpc>
              <a:spcBef>
                <a:spcPts val="0"/>
              </a:spcBef>
              <a:spcAft>
                <a:spcPts val="0"/>
              </a:spcAft>
              <a:buNone/>
            </a:pPr>
            <a:r>
              <a:rPr lang="en-GB" sz="2000">
                <a:latin typeface="Calibri"/>
                <a:ea typeface="Calibri"/>
                <a:cs typeface="Calibri"/>
                <a:sym typeface="Calibri"/>
              </a:rPr>
              <a:t>En la visualización, los edificios representan clases del sistema, y el color del edificio codifica el número de veces que se invocan sus métodos.</a:t>
            </a:r>
            <a:endParaRPr/>
          </a:p>
          <a:p>
            <a:pPr marL="0" lvl="0" indent="0" algn="l" rtl="0">
              <a:lnSpc>
                <a:spcPct val="100000"/>
              </a:lnSpc>
              <a:spcBef>
                <a:spcPts val="0"/>
              </a:spcBef>
              <a:spcAft>
                <a:spcPts val="0"/>
              </a:spcAft>
              <a:buNone/>
            </a:pPr>
            <a:r>
              <a:rPr lang="en-GB" sz="2000">
                <a:latin typeface="Calibri"/>
                <a:ea typeface="Calibri"/>
                <a:cs typeface="Calibri"/>
                <a:sym typeface="Calibri"/>
              </a:rPr>
              <a:t>Los usuarios pueden seleccionar el edificio y obtener detalles de la historia del rendimiento de la clase representada en el gráfico de dispersión.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352450871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3" name="Google Shape;653;g3524508716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4e082b0776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8" name="Google Shape;658;g34e082b0776_0_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Un problema que se observa en las herramientas de visualizacion situada es el limitado soporte a la agilidad en términos de expresividad (es decir, como los usuarios puede expresar diseños), la comprehensividad (que se refiere a cuan extenso es el soporte al proceso de visualizacion) y la vivacidad que señala si los cambios tienen efecto en tiempo real.</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34e082b0776_0_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6" name="Google Shape;666;g34e082b0776_0_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Si revisamos trabajos relacionados, vemos un limitado numero de técnicas de visualizacion debido a la falta de integración con motores de visualizacion y nulo soporte a la transformación de datos que es el proceso inicial en la construcción de una visualizacion.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34e027b9989_0_1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5" name="Google Shape;675;g34e027b9989_0_1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Si revisamos trabajos relacionados, vemos un limitado numero de técnicas de visualizacion debido a la falta de integración con motores de visualizacion y nulo soporte a la transformación de datos que es el proceso inicial en la construcción de una visualizacion.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34e082b0776_0_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3" name="Google Shape;683;g34e082b0776_0_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500">
                <a:latin typeface="Calibri"/>
                <a:ea typeface="Calibri"/>
                <a:cs typeface="Calibri"/>
                <a:sym typeface="Calibri"/>
              </a:rPr>
              <a:t>AVAR usa una arquitectura cliente servidor.</a:t>
            </a:r>
            <a:endParaRPr/>
          </a:p>
          <a:p>
            <a:pPr marL="0" lvl="0" indent="0" algn="l" rtl="0">
              <a:lnSpc>
                <a:spcPct val="100000"/>
              </a:lnSpc>
              <a:spcBef>
                <a:spcPts val="0"/>
              </a:spcBef>
              <a:spcAft>
                <a:spcPts val="0"/>
              </a:spcAft>
              <a:buNone/>
            </a:pPr>
            <a:r>
              <a:rPr lang="en-GB" sz="2500">
                <a:latin typeface="Calibri"/>
                <a:ea typeface="Calibri"/>
                <a:cs typeface="Calibri"/>
                <a:sym typeface="Calibri"/>
              </a:rPr>
              <a:t>El usuario usa la aplicación cliente y define visualizaciones via un script el que es enviado a través de la red hacia la aplicación servidor. </a:t>
            </a:r>
            <a:endParaRPr/>
          </a:p>
          <a:p>
            <a:pPr marL="0" lvl="0" indent="0" algn="l" rtl="0">
              <a:lnSpc>
                <a:spcPct val="100000"/>
              </a:lnSpc>
              <a:spcBef>
                <a:spcPts val="0"/>
              </a:spcBef>
              <a:spcAft>
                <a:spcPts val="0"/>
              </a:spcAft>
              <a:buNone/>
            </a:pPr>
            <a:r>
              <a:rPr lang="en-GB" sz="2500">
                <a:latin typeface="Calibri"/>
                <a:ea typeface="Calibri"/>
                <a:cs typeface="Calibri"/>
                <a:sym typeface="Calibri"/>
              </a:rPr>
              <a:t>Esta interpreta el script y genera un modelo que distingue visualizaciones de  otros objetos.  </a:t>
            </a:r>
            <a:endParaRPr/>
          </a:p>
          <a:p>
            <a:pPr marL="0" lvl="0" indent="0" algn="l" rtl="0">
              <a:lnSpc>
                <a:spcPct val="100000"/>
              </a:lnSpc>
              <a:spcBef>
                <a:spcPts val="0"/>
              </a:spcBef>
              <a:spcAft>
                <a:spcPts val="0"/>
              </a:spcAft>
              <a:buNone/>
            </a:pPr>
            <a:r>
              <a:rPr lang="en-GB" sz="2500">
                <a:latin typeface="Calibri"/>
                <a:ea typeface="Calibri"/>
                <a:cs typeface="Calibri"/>
                <a:sym typeface="Calibri"/>
              </a:rPr>
              <a:t>El modelo de retorna al cliente, el que identifica el tipo de respuesta (textual o visual), y en consecuencia, genera una respuesta adecuada en la escena.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34e082b0776_0_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3" name="Google Shape;743;g34e082b0776_0_9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Así se utiliza AVAR. El usuario utiliza un headset Microsoft HoloLens y un teclado Bluetooth.</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4e082b0776_0_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1" name="Google Shape;751;g34e082b0776_0_10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AVAR presenta una interfaz que permite al usuario definir un script, o eventualmente cargar una visualizacion de ejemplo.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34e082b0776_0_1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0" name="Google Shape;760;g34e082b0776_0_1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Por ejemplo, el usuario define un script como la siguiente función fibonacci</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34e082b0776_0_1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2" name="Google Shape;772;g34e082b0776_0_1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El script se envía al servidor, se interpreta</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34e082b0776_0_1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0" name="Google Shape;790;g34e082b0776_0_14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y retorna</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34e082b0776_0_1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9" name="Google Shape;809;g34e082b0776_0_16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como el resultado no es una visualizacion, este se presenta de forma textual en la parte inferior de la ventana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34e082b0776_0_1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9" name="Google Shape;829;g34e082b0776_0_18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Si en cambio el resultado es una visualizacion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g34e082b0776_0_193: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1" name="Google Shape;841;g34e082b0776_0_1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34e082b0776_0_2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9" name="Google Shape;859;g34e082b0776_0_21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entonces la visualizacion se presenta en el espacio tridimensional</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34e082b0776_0_2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9" name="Google Shape;879;g34e082b0776_0_2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Nuevamente revisamos el modelo de referencia y vemos como AVAR ofrece soporte a los tres procesos fundamentales de visualizacion</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34e082b0776_0_2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5" name="Google Shape;905;g34e082b0776_0_25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Transformaciones de datos</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4e027b9989_0_2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g34e027b9989_0_2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34e082b0776_0_2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5" name="Google Shape;935;g34e082b0776_0_28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Una vez que se define la tabla de datos, se realiza el mateo visual</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34e027b9989_0_2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0" name="Google Shape;960;g34e027b9989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34e082b0776_0_3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5" name="Google Shape;965;g34e082b0776_0_30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GB" sz="2500">
                <a:latin typeface="Calibri"/>
                <a:ea typeface="Calibri"/>
                <a:cs typeface="Calibri"/>
                <a:sym typeface="Calibri"/>
              </a:rPr>
              <a:t>Ya definidas las estructuras visuales, se definen transformaciones a la vista</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34e027b9989_0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0" name="Google Shape;990;g34e027b9989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34e027b9989_0_2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5" name="Google Shape;995;g34e027b9989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34e082b0776_0_3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0" name="Google Shape;1000;g34e082b0776_0_3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500">
                <a:latin typeface="Calibri"/>
                <a:ea typeface="Calibri"/>
                <a:cs typeface="Calibri"/>
                <a:sym typeface="Calibri"/>
              </a:rPr>
              <a:t>Se realizo un estudio exploratorio con AVAR y siete participantes. Los que tuvieron que construir una visualización de un conjunto de datos especificado. Los usuarios utilizaron un dispositivo Microsoft HoloLens y un teclado Bluetooth. </a:t>
            </a:r>
            <a:endParaRPr/>
          </a:p>
          <a:p>
            <a:pPr marL="0" lvl="0" indent="0" algn="l" rtl="0">
              <a:lnSpc>
                <a:spcPct val="100000"/>
              </a:lnSpc>
              <a:spcBef>
                <a:spcPts val="0"/>
              </a:spcBef>
              <a:spcAft>
                <a:spcPts val="0"/>
              </a:spcAft>
              <a:buNone/>
            </a:pPr>
            <a:r>
              <a:rPr lang="en-GB" sz="2500">
                <a:latin typeface="Calibri"/>
                <a:ea typeface="Calibri"/>
                <a:cs typeface="Calibri"/>
                <a:sym typeface="Calibri"/>
              </a:rPr>
              <a:t>La sesiones fueron grabadas en video, se registraron las interacciones, y se recolectaron impresiones de los participantes.</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34e082b0776_0_3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8" name="Google Shape;1008;g34e082b0776_0_3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400">
                <a:latin typeface="Calibri"/>
                <a:ea typeface="Calibri"/>
                <a:cs typeface="Calibri"/>
                <a:sym typeface="Calibri"/>
              </a:rPr>
              <a:t>Aqui vemos graficos con datos recolectados de tres participantes.</a:t>
            </a:r>
            <a:endParaRPr/>
          </a:p>
          <a:p>
            <a:pPr marL="0" lvl="0" indent="0" algn="l" rtl="0">
              <a:lnSpc>
                <a:spcPct val="100000"/>
              </a:lnSpc>
              <a:spcBef>
                <a:spcPts val="0"/>
              </a:spcBef>
              <a:spcAft>
                <a:spcPts val="0"/>
              </a:spcAft>
              <a:buNone/>
            </a:pPr>
            <a:r>
              <a:rPr lang="en-GB" sz="2400">
                <a:latin typeface="Calibri"/>
                <a:ea typeface="Calibri"/>
                <a:cs typeface="Calibri"/>
                <a:sym typeface="Calibri"/>
              </a:rPr>
              <a:t>El eje horizontal corresponde al tiempo. La barra gris indica el tiempo de la sesión. El 100% corresponde a aproximadamente 2 horas.</a:t>
            </a:r>
            <a:endParaRPr/>
          </a:p>
          <a:p>
            <a:pPr marL="0" lvl="0" indent="0" algn="l" rtl="0">
              <a:lnSpc>
                <a:spcPct val="100000"/>
              </a:lnSpc>
              <a:spcBef>
                <a:spcPts val="0"/>
              </a:spcBef>
              <a:spcAft>
                <a:spcPts val="0"/>
              </a:spcAft>
              <a:buNone/>
            </a:pPr>
            <a:r>
              <a:rPr lang="en-GB" sz="2400">
                <a:latin typeface="Calibri"/>
                <a:ea typeface="Calibri"/>
                <a:cs typeface="Calibri"/>
                <a:sym typeface="Calibri"/>
              </a:rPr>
              <a:t>En la parte superior del gráfico se presentan las interacciones del usuario con AVAR, tanto en la construcción del script, como con la visualizacion resultante.</a:t>
            </a:r>
            <a:endParaRPr/>
          </a:p>
          <a:p>
            <a:pPr marL="0" lvl="0" indent="0" algn="l" rtl="0">
              <a:lnSpc>
                <a:spcPct val="100000"/>
              </a:lnSpc>
              <a:spcBef>
                <a:spcPts val="0"/>
              </a:spcBef>
              <a:spcAft>
                <a:spcPts val="0"/>
              </a:spcAft>
              <a:buNone/>
            </a:pPr>
            <a:r>
              <a:rPr lang="en-GB" sz="2400">
                <a:latin typeface="Calibri"/>
                <a:ea typeface="Calibri"/>
                <a:cs typeface="Calibri"/>
                <a:sym typeface="Calibri"/>
              </a:rPr>
              <a:t>Los circulos verdes y rojos corresponden a ejecuciones exitosas y fallidas del script.</a:t>
            </a:r>
            <a:endParaRPr/>
          </a:p>
          <a:p>
            <a:pPr marL="0" lvl="0" indent="0" algn="l" rtl="0">
              <a:lnSpc>
                <a:spcPct val="100000"/>
              </a:lnSpc>
              <a:spcBef>
                <a:spcPts val="0"/>
              </a:spcBef>
              <a:spcAft>
                <a:spcPts val="0"/>
              </a:spcAft>
              <a:buNone/>
            </a:pPr>
            <a:r>
              <a:rPr lang="en-GB" sz="2400">
                <a:latin typeface="Calibri"/>
                <a:ea typeface="Calibri"/>
                <a:cs typeface="Calibri"/>
                <a:sym typeface="Calibri"/>
              </a:rPr>
              <a:t>En la parte inferior se presentan los cambios sobre el script a lo largo de la sesion, en términos de adicion y eliminacion de caracteres.</a:t>
            </a:r>
            <a:endParaRPr/>
          </a:p>
          <a:p>
            <a:pPr marL="0" lvl="0" indent="0" algn="l" rtl="0">
              <a:lnSpc>
                <a:spcPct val="100000"/>
              </a:lnSpc>
              <a:spcBef>
                <a:spcPts val="0"/>
              </a:spcBef>
              <a:spcAft>
                <a:spcPts val="0"/>
              </a:spcAft>
              <a:buNone/>
            </a:pPr>
            <a:r>
              <a:rPr lang="en-GB" sz="2400">
                <a:latin typeface="Calibri"/>
                <a:ea typeface="Calibri"/>
                <a:cs typeface="Calibri"/>
                <a:sym typeface="Calibri"/>
              </a:rPr>
              <a:t>Por ejemplo, vemos que el participante 5 tuvo una larga sesion, hizo un uso intensivo de los ejemplo al inicio, y luego realizo múltiples modificaciones increméntales al script.</a:t>
            </a:r>
            <a:endParaRPr/>
          </a:p>
          <a:p>
            <a:pPr marL="0" lvl="0" indent="0" algn="l" rtl="0">
              <a:lnSpc>
                <a:spcPct val="100000"/>
              </a:lnSpc>
              <a:spcBef>
                <a:spcPts val="0"/>
              </a:spcBef>
              <a:spcAft>
                <a:spcPts val="0"/>
              </a:spcAft>
              <a:buNone/>
            </a:pPr>
            <a:r>
              <a:rPr lang="en-GB" sz="2400">
                <a:latin typeface="Calibri"/>
                <a:ea typeface="Calibri"/>
                <a:cs typeface="Calibri"/>
                <a:sym typeface="Calibri"/>
              </a:rPr>
              <a:t>El participante 6 en cambio interactuó intensamente con la visualizacion al inicio, selecciono un único ejemplo, y realizo modificaciones puntuales.</a:t>
            </a:r>
            <a:endParaRPr/>
          </a:p>
          <a:p>
            <a:pPr marL="0" lvl="0" indent="0" algn="l" rtl="0">
              <a:lnSpc>
                <a:spcPct val="100000"/>
              </a:lnSpc>
              <a:spcBef>
                <a:spcPts val="0"/>
              </a:spcBef>
              <a:spcAft>
                <a:spcPts val="0"/>
              </a:spcAft>
              <a:buNone/>
            </a:pPr>
            <a:r>
              <a:rPr lang="en-GB" sz="2400">
                <a:latin typeface="Calibri"/>
                <a:ea typeface="Calibri"/>
                <a:cs typeface="Calibri"/>
                <a:sym typeface="Calibri"/>
              </a:rPr>
              <a:t>Finalmente, el séptimo participante tardo una fracción del tiempo de los anteriores, utilizo un único ejemplo, y realizo pocas modificaciones .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34e082b0776_0_3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3" name="Google Shape;1013;g34e082b0776_0_34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GB" sz="2500">
                <a:latin typeface="Calibri"/>
                <a:ea typeface="Calibri"/>
                <a:cs typeface="Calibri"/>
                <a:sym typeface="Calibri"/>
              </a:rPr>
              <a:t>Así se concluye que la herramienta ofrece un adecuado nivel de expresividad que se materializo fundamentalmente en el uso de ejemplos y funciones en la creación y modificación de visualizaciones.</a:t>
            </a:r>
            <a:endParaRPr/>
          </a:p>
          <a:p>
            <a:pPr marL="0" lvl="0" indent="0" algn="l" rtl="0">
              <a:lnSpc>
                <a:spcPct val="100000"/>
              </a:lnSpc>
              <a:spcBef>
                <a:spcPts val="0"/>
              </a:spcBef>
              <a:spcAft>
                <a:spcPts val="0"/>
              </a:spcAft>
              <a:buNone/>
            </a:pPr>
            <a:r>
              <a:rPr lang="en-GB" sz="2500">
                <a:latin typeface="Calibri"/>
                <a:ea typeface="Calibri"/>
                <a:cs typeface="Calibri"/>
                <a:sym typeface="Calibri"/>
              </a:rPr>
              <a:t>La comprehensividad de AVAR permitió a los usuarios estar inmersos por un periodo prolongado</a:t>
            </a:r>
            <a:endParaRPr/>
          </a:p>
          <a:p>
            <a:pPr marL="0" lvl="0" indent="0" algn="l" rtl="0">
              <a:lnSpc>
                <a:spcPct val="100000"/>
              </a:lnSpc>
              <a:spcBef>
                <a:spcPts val="0"/>
              </a:spcBef>
              <a:spcAft>
                <a:spcPts val="0"/>
              </a:spcAft>
              <a:buNone/>
            </a:pPr>
            <a:r>
              <a:rPr lang="en-GB" sz="2500">
                <a:latin typeface="Calibri"/>
                <a:ea typeface="Calibri"/>
                <a:cs typeface="Calibri"/>
                <a:sym typeface="Calibri"/>
              </a:rPr>
              <a:t>Finalmente, las sesiones fueron altamente interactivas gracias a que el efecto de los cambios se aprecia en tiempo real, así permitiendo una construcción de visualizaciones de forma ágil.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338c10f2ed1_1_502:notes"/>
          <p:cNvSpPr txBox="1">
            <a:spLocks noGrp="1"/>
          </p:cNvSpPr>
          <p:nvPr>
            <p:ph type="body" idx="1"/>
          </p:nvPr>
        </p:nvSpPr>
        <p:spPr>
          <a:xfrm>
            <a:off x="914400" y="4343400"/>
            <a:ext cx="50292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9" name="Google Shape;1019;g338c10f2ed1_1_5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Cerrar el caso resumiendo aportes y límites de AVAR (Merino et al., CHI 2020) y abrir la discusión.</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Conectar la clase con CU1 (juicio de esquinas) y CU2 (aproximación a obstáculo) del informe Hito 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819950" y="526350"/>
            <a:ext cx="5504100" cy="4090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ulo y cuerpo">
  <p:cSld name="Titulo y cuerpo">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80"/>
            <a:ext cx="8229600" cy="441900"/>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1400"/>
              <a:buNone/>
              <a:defRPr/>
            </a:lvl1pPr>
            <a:lvl2pPr lvl="1" algn="l">
              <a:lnSpc>
                <a:spcPct val="100000"/>
              </a:lnSpc>
              <a:spcBef>
                <a:spcPts val="0"/>
              </a:spcBef>
              <a:spcAft>
                <a:spcPts val="0"/>
              </a:spcAft>
              <a:buClr>
                <a:srgbClr val="376092"/>
              </a:buClr>
              <a:buSzPts val="1400"/>
              <a:buNone/>
              <a:defRPr/>
            </a:lvl2pPr>
            <a:lvl3pPr lvl="2" algn="l">
              <a:lnSpc>
                <a:spcPct val="100000"/>
              </a:lnSpc>
              <a:spcBef>
                <a:spcPts val="0"/>
              </a:spcBef>
              <a:spcAft>
                <a:spcPts val="0"/>
              </a:spcAft>
              <a:buClr>
                <a:srgbClr val="376092"/>
              </a:buClr>
              <a:buSzPts val="1400"/>
              <a:buNone/>
              <a:defRPr/>
            </a:lvl3pPr>
            <a:lvl4pPr lvl="3" algn="l">
              <a:lnSpc>
                <a:spcPct val="100000"/>
              </a:lnSpc>
              <a:spcBef>
                <a:spcPts val="0"/>
              </a:spcBef>
              <a:spcAft>
                <a:spcPts val="0"/>
              </a:spcAft>
              <a:buClr>
                <a:srgbClr val="376092"/>
              </a:buClr>
              <a:buSzPts val="1400"/>
              <a:buNone/>
              <a:defRPr/>
            </a:lvl4pPr>
            <a:lvl5pPr lvl="4" algn="l">
              <a:lnSpc>
                <a:spcPct val="100000"/>
              </a:lnSpc>
              <a:spcBef>
                <a:spcPts val="0"/>
              </a:spcBef>
              <a:spcAft>
                <a:spcPts val="0"/>
              </a:spcAft>
              <a:buClr>
                <a:srgbClr val="376092"/>
              </a:buClr>
              <a:buSzPts val="1400"/>
              <a:buNone/>
              <a:defRPr/>
            </a:lvl5pPr>
            <a:lvl6pPr lvl="5" algn="l">
              <a:lnSpc>
                <a:spcPct val="100000"/>
              </a:lnSpc>
              <a:spcBef>
                <a:spcPts val="0"/>
              </a:spcBef>
              <a:spcAft>
                <a:spcPts val="0"/>
              </a:spcAft>
              <a:buClr>
                <a:srgbClr val="376092"/>
              </a:buClr>
              <a:buSzPts val="1400"/>
              <a:buNone/>
              <a:defRPr/>
            </a:lvl6pPr>
            <a:lvl7pPr lvl="6" algn="l">
              <a:lnSpc>
                <a:spcPct val="100000"/>
              </a:lnSpc>
              <a:spcBef>
                <a:spcPts val="0"/>
              </a:spcBef>
              <a:spcAft>
                <a:spcPts val="0"/>
              </a:spcAft>
              <a:buClr>
                <a:srgbClr val="376092"/>
              </a:buClr>
              <a:buSzPts val="1400"/>
              <a:buNone/>
              <a:defRPr/>
            </a:lvl7pPr>
            <a:lvl8pPr lvl="7" algn="l">
              <a:lnSpc>
                <a:spcPct val="100000"/>
              </a:lnSpc>
              <a:spcBef>
                <a:spcPts val="0"/>
              </a:spcBef>
              <a:spcAft>
                <a:spcPts val="0"/>
              </a:spcAft>
              <a:buClr>
                <a:srgbClr val="376092"/>
              </a:buClr>
              <a:buSzPts val="1400"/>
              <a:buNone/>
              <a:defRPr/>
            </a:lvl8pPr>
            <a:lvl9pPr lvl="8" algn="l">
              <a:lnSpc>
                <a:spcPct val="100000"/>
              </a:lnSpc>
              <a:spcBef>
                <a:spcPts val="0"/>
              </a:spcBef>
              <a:spcAft>
                <a:spcPts val="0"/>
              </a:spcAft>
              <a:buClr>
                <a:srgbClr val="376092"/>
              </a:buClr>
              <a:buSzPts val="1400"/>
              <a:buNone/>
              <a:defRPr/>
            </a:lvl9pPr>
          </a:lstStyle>
          <a:p>
            <a:endParaRPr/>
          </a:p>
        </p:txBody>
      </p:sp>
      <p:sp>
        <p:nvSpPr>
          <p:cNvPr id="52" name="Google Shape;52;p13"/>
          <p:cNvSpPr txBox="1">
            <a:spLocks noGrp="1"/>
          </p:cNvSpPr>
          <p:nvPr>
            <p:ph type="body" idx="1"/>
          </p:nvPr>
        </p:nvSpPr>
        <p:spPr>
          <a:xfrm>
            <a:off x="457200" y="884063"/>
            <a:ext cx="8229600" cy="3710700"/>
          </a:xfrm>
          <a:prstGeom prst="rect">
            <a:avLst/>
          </a:prstGeom>
          <a:noFill/>
          <a:ln>
            <a:noFill/>
          </a:ln>
        </p:spPr>
        <p:txBody>
          <a:bodyPr spcFirstLastPara="1" wrap="square" lIns="34275" tIns="34275" rIns="34275" bIns="34275" anchor="t" anchorCtr="0">
            <a:normAutofit/>
          </a:bodyPr>
          <a:lstStyle>
            <a:lvl1pPr marL="457200" lvl="0" indent="-317500" algn="l">
              <a:lnSpc>
                <a:spcPct val="100000"/>
              </a:lnSpc>
              <a:spcBef>
                <a:spcPts val="500"/>
              </a:spcBef>
              <a:spcAft>
                <a:spcPts val="0"/>
              </a:spcAft>
              <a:buClr>
                <a:srgbClr val="000000"/>
              </a:buClr>
              <a:buSzPts val="1400"/>
              <a:buChar char="●"/>
              <a:defRPr/>
            </a:lvl1pPr>
            <a:lvl2pPr marL="914400" lvl="1" indent="-317500" algn="l">
              <a:lnSpc>
                <a:spcPct val="100000"/>
              </a:lnSpc>
              <a:spcBef>
                <a:spcPts val="500"/>
              </a:spcBef>
              <a:spcAft>
                <a:spcPts val="0"/>
              </a:spcAft>
              <a:buClr>
                <a:srgbClr val="000000"/>
              </a:buClr>
              <a:buSzPts val="1400"/>
              <a:buChar char="○"/>
              <a:defRPr/>
            </a:lvl2pPr>
            <a:lvl3pPr marL="1371600" lvl="2" indent="-317500" algn="l">
              <a:lnSpc>
                <a:spcPct val="100000"/>
              </a:lnSpc>
              <a:spcBef>
                <a:spcPts val="500"/>
              </a:spcBef>
              <a:spcAft>
                <a:spcPts val="0"/>
              </a:spcAft>
              <a:buClr>
                <a:srgbClr val="000000"/>
              </a:buClr>
              <a:buSzPts val="1400"/>
              <a:buChar char="■"/>
              <a:defRPr/>
            </a:lvl3pPr>
            <a:lvl4pPr marL="1828800" lvl="3" indent="-317500" algn="l">
              <a:lnSpc>
                <a:spcPct val="100000"/>
              </a:lnSpc>
              <a:spcBef>
                <a:spcPts val="500"/>
              </a:spcBef>
              <a:spcAft>
                <a:spcPts val="0"/>
              </a:spcAft>
              <a:buClr>
                <a:srgbClr val="000000"/>
              </a:buClr>
              <a:buSzPts val="1400"/>
              <a:buChar char="●"/>
              <a:defRPr/>
            </a:lvl4pPr>
            <a:lvl5pPr marL="2286000" lvl="4" indent="-317500" algn="l">
              <a:lnSpc>
                <a:spcPct val="100000"/>
              </a:lnSpc>
              <a:spcBef>
                <a:spcPts val="500"/>
              </a:spcBef>
              <a:spcAft>
                <a:spcPts val="0"/>
              </a:spcAft>
              <a:buClr>
                <a:srgbClr val="000000"/>
              </a:buClr>
              <a:buSzPts val="1400"/>
              <a:buChar char="○"/>
              <a:defRPr/>
            </a:lvl5pPr>
            <a:lvl6pPr marL="2743200" lvl="5" indent="-317500" algn="l">
              <a:lnSpc>
                <a:spcPct val="100000"/>
              </a:lnSpc>
              <a:spcBef>
                <a:spcPts val="500"/>
              </a:spcBef>
              <a:spcAft>
                <a:spcPts val="0"/>
              </a:spcAft>
              <a:buClr>
                <a:srgbClr val="000000"/>
              </a:buClr>
              <a:buSzPts val="1400"/>
              <a:buChar char="■"/>
              <a:defRPr/>
            </a:lvl6pPr>
            <a:lvl7pPr marL="3200400" lvl="6" indent="-317500" algn="l">
              <a:lnSpc>
                <a:spcPct val="100000"/>
              </a:lnSpc>
              <a:spcBef>
                <a:spcPts val="500"/>
              </a:spcBef>
              <a:spcAft>
                <a:spcPts val="0"/>
              </a:spcAft>
              <a:buClr>
                <a:srgbClr val="000000"/>
              </a:buClr>
              <a:buSzPts val="1400"/>
              <a:buChar char="●"/>
              <a:defRPr/>
            </a:lvl7pPr>
            <a:lvl8pPr marL="3657600" lvl="7" indent="-317500" algn="l">
              <a:lnSpc>
                <a:spcPct val="100000"/>
              </a:lnSpc>
              <a:spcBef>
                <a:spcPts val="500"/>
              </a:spcBef>
              <a:spcAft>
                <a:spcPts val="0"/>
              </a:spcAft>
              <a:buClr>
                <a:srgbClr val="000000"/>
              </a:buClr>
              <a:buSzPts val="1400"/>
              <a:buChar char="○"/>
              <a:defRPr/>
            </a:lvl8pPr>
            <a:lvl9pPr marL="4114800" lvl="8" indent="-317500" algn="l">
              <a:lnSpc>
                <a:spcPct val="100000"/>
              </a:lnSpc>
              <a:spcBef>
                <a:spcPts val="500"/>
              </a:spcBef>
              <a:spcAft>
                <a:spcPts val="0"/>
              </a:spcAft>
              <a:buClr>
                <a:srgbClr val="000000"/>
              </a:buClr>
              <a:buSzPts val="1400"/>
              <a:buChar char="■"/>
              <a:defRPr/>
            </a:lvl9pPr>
          </a:lstStyle>
          <a:p>
            <a:endParaRPr/>
          </a:p>
        </p:txBody>
      </p:sp>
      <p:sp>
        <p:nvSpPr>
          <p:cNvPr id="53" name="Google Shape;53;p13"/>
          <p:cNvSpPr txBox="1">
            <a:spLocks noGrp="1"/>
          </p:cNvSpPr>
          <p:nvPr>
            <p:ph type="sldNum" idx="12"/>
          </p:nvPr>
        </p:nvSpPr>
        <p:spPr>
          <a:xfrm>
            <a:off x="8356595" y="4803225"/>
            <a:ext cx="330300" cy="284700"/>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a:lvl1pPr>
            <a:lvl2pPr marL="0" lvl="1" indent="0" algn="r">
              <a:lnSpc>
                <a:spcPct val="100000"/>
              </a:lnSpc>
              <a:spcBef>
                <a:spcPts val="0"/>
              </a:spcBef>
              <a:spcAft>
                <a:spcPts val="0"/>
              </a:spcAft>
              <a:buClr>
                <a:srgbClr val="888888"/>
              </a:buClr>
              <a:buSzPts val="900"/>
              <a:buFont typeface="Calibri"/>
              <a:buNone/>
              <a:defRPr/>
            </a:lvl2pPr>
            <a:lvl3pPr marL="0" lvl="2" indent="0" algn="r">
              <a:lnSpc>
                <a:spcPct val="100000"/>
              </a:lnSpc>
              <a:spcBef>
                <a:spcPts val="0"/>
              </a:spcBef>
              <a:spcAft>
                <a:spcPts val="0"/>
              </a:spcAft>
              <a:buClr>
                <a:srgbClr val="888888"/>
              </a:buClr>
              <a:buSzPts val="900"/>
              <a:buFont typeface="Calibri"/>
              <a:buNone/>
              <a:defRPr/>
            </a:lvl3pPr>
            <a:lvl4pPr marL="0" lvl="3" indent="0" algn="r">
              <a:lnSpc>
                <a:spcPct val="100000"/>
              </a:lnSpc>
              <a:spcBef>
                <a:spcPts val="0"/>
              </a:spcBef>
              <a:spcAft>
                <a:spcPts val="0"/>
              </a:spcAft>
              <a:buClr>
                <a:srgbClr val="888888"/>
              </a:buClr>
              <a:buSzPts val="900"/>
              <a:buFont typeface="Calibri"/>
              <a:buNone/>
              <a:defRPr/>
            </a:lvl4pPr>
            <a:lvl5pPr marL="0" lvl="4" indent="0" algn="r">
              <a:lnSpc>
                <a:spcPct val="100000"/>
              </a:lnSpc>
              <a:spcBef>
                <a:spcPts val="0"/>
              </a:spcBef>
              <a:spcAft>
                <a:spcPts val="0"/>
              </a:spcAft>
              <a:buClr>
                <a:srgbClr val="888888"/>
              </a:buClr>
              <a:buSzPts val="900"/>
              <a:buFont typeface="Calibri"/>
              <a:buNone/>
              <a:defRPr/>
            </a:lvl5pPr>
            <a:lvl6pPr marL="0" lvl="5" indent="0" algn="r">
              <a:lnSpc>
                <a:spcPct val="100000"/>
              </a:lnSpc>
              <a:spcBef>
                <a:spcPts val="0"/>
              </a:spcBef>
              <a:spcAft>
                <a:spcPts val="0"/>
              </a:spcAft>
              <a:buClr>
                <a:srgbClr val="888888"/>
              </a:buClr>
              <a:buSzPts val="900"/>
              <a:buFont typeface="Calibri"/>
              <a:buNone/>
              <a:defRPr/>
            </a:lvl6pPr>
            <a:lvl7pPr marL="0" lvl="6" indent="0" algn="r">
              <a:lnSpc>
                <a:spcPct val="100000"/>
              </a:lnSpc>
              <a:spcBef>
                <a:spcPts val="0"/>
              </a:spcBef>
              <a:spcAft>
                <a:spcPts val="0"/>
              </a:spcAft>
              <a:buClr>
                <a:srgbClr val="888888"/>
              </a:buClr>
              <a:buSzPts val="900"/>
              <a:buFont typeface="Calibri"/>
              <a:buNone/>
              <a:defRPr/>
            </a:lvl7pPr>
            <a:lvl8pPr marL="0" lvl="7" indent="0" algn="r">
              <a:lnSpc>
                <a:spcPct val="100000"/>
              </a:lnSpc>
              <a:spcBef>
                <a:spcPts val="0"/>
              </a:spcBef>
              <a:spcAft>
                <a:spcPts val="0"/>
              </a:spcAft>
              <a:buClr>
                <a:srgbClr val="888888"/>
              </a:buClr>
              <a:buSzPts val="900"/>
              <a:buFont typeface="Calibri"/>
              <a:buNone/>
              <a:defRPr/>
            </a:lvl8pPr>
            <a:lvl9pPr marL="0" lvl="8" indent="0" algn="r">
              <a:lnSpc>
                <a:spcPct val="100000"/>
              </a:lnSpc>
              <a:spcBef>
                <a:spcPts val="0"/>
              </a:spcBef>
              <a:spcAft>
                <a:spcPts val="0"/>
              </a:spcAft>
              <a:buClr>
                <a:srgbClr val="888888"/>
              </a:buClr>
              <a:buSzPts val="900"/>
              <a:buFont typeface="Calibri"/>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Separador">
  <p:cSld name="Separador">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3621713" y="2206538"/>
            <a:ext cx="1900500" cy="730500"/>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3300"/>
              <a:buFont typeface="Helvetica Neue"/>
              <a:buNone/>
              <a:defRPr sz="3300" b="1">
                <a:latin typeface="Helvetica Neue"/>
                <a:ea typeface="Helvetica Neue"/>
                <a:cs typeface="Helvetica Neue"/>
                <a:sym typeface="Helvetica Neue"/>
              </a:defRPr>
            </a:lvl1pPr>
            <a:lvl2pPr lvl="1" algn="l">
              <a:lnSpc>
                <a:spcPct val="100000"/>
              </a:lnSpc>
              <a:spcBef>
                <a:spcPts val="0"/>
              </a:spcBef>
              <a:spcAft>
                <a:spcPts val="0"/>
              </a:spcAft>
              <a:buClr>
                <a:srgbClr val="376092"/>
              </a:buClr>
              <a:buSzPts val="1400"/>
              <a:buNone/>
              <a:defRPr/>
            </a:lvl2pPr>
            <a:lvl3pPr lvl="2" algn="l">
              <a:lnSpc>
                <a:spcPct val="100000"/>
              </a:lnSpc>
              <a:spcBef>
                <a:spcPts val="0"/>
              </a:spcBef>
              <a:spcAft>
                <a:spcPts val="0"/>
              </a:spcAft>
              <a:buClr>
                <a:srgbClr val="376092"/>
              </a:buClr>
              <a:buSzPts val="1400"/>
              <a:buNone/>
              <a:defRPr/>
            </a:lvl3pPr>
            <a:lvl4pPr lvl="3" algn="l">
              <a:lnSpc>
                <a:spcPct val="100000"/>
              </a:lnSpc>
              <a:spcBef>
                <a:spcPts val="0"/>
              </a:spcBef>
              <a:spcAft>
                <a:spcPts val="0"/>
              </a:spcAft>
              <a:buClr>
                <a:srgbClr val="376092"/>
              </a:buClr>
              <a:buSzPts val="1400"/>
              <a:buNone/>
              <a:defRPr/>
            </a:lvl4pPr>
            <a:lvl5pPr lvl="4" algn="l">
              <a:lnSpc>
                <a:spcPct val="100000"/>
              </a:lnSpc>
              <a:spcBef>
                <a:spcPts val="0"/>
              </a:spcBef>
              <a:spcAft>
                <a:spcPts val="0"/>
              </a:spcAft>
              <a:buClr>
                <a:srgbClr val="376092"/>
              </a:buClr>
              <a:buSzPts val="1400"/>
              <a:buNone/>
              <a:defRPr/>
            </a:lvl5pPr>
            <a:lvl6pPr lvl="5" algn="l">
              <a:lnSpc>
                <a:spcPct val="100000"/>
              </a:lnSpc>
              <a:spcBef>
                <a:spcPts val="0"/>
              </a:spcBef>
              <a:spcAft>
                <a:spcPts val="0"/>
              </a:spcAft>
              <a:buClr>
                <a:srgbClr val="376092"/>
              </a:buClr>
              <a:buSzPts val="1400"/>
              <a:buNone/>
              <a:defRPr/>
            </a:lvl6pPr>
            <a:lvl7pPr lvl="6" algn="l">
              <a:lnSpc>
                <a:spcPct val="100000"/>
              </a:lnSpc>
              <a:spcBef>
                <a:spcPts val="0"/>
              </a:spcBef>
              <a:spcAft>
                <a:spcPts val="0"/>
              </a:spcAft>
              <a:buClr>
                <a:srgbClr val="376092"/>
              </a:buClr>
              <a:buSzPts val="1400"/>
              <a:buNone/>
              <a:defRPr/>
            </a:lvl7pPr>
            <a:lvl8pPr lvl="7" algn="l">
              <a:lnSpc>
                <a:spcPct val="100000"/>
              </a:lnSpc>
              <a:spcBef>
                <a:spcPts val="0"/>
              </a:spcBef>
              <a:spcAft>
                <a:spcPts val="0"/>
              </a:spcAft>
              <a:buClr>
                <a:srgbClr val="376092"/>
              </a:buClr>
              <a:buSzPts val="1400"/>
              <a:buNone/>
              <a:defRPr/>
            </a:lvl8pPr>
            <a:lvl9pPr lvl="8" algn="l">
              <a:lnSpc>
                <a:spcPct val="100000"/>
              </a:lnSpc>
              <a:spcBef>
                <a:spcPts val="0"/>
              </a:spcBef>
              <a:spcAft>
                <a:spcPts val="0"/>
              </a:spcAft>
              <a:buClr>
                <a:srgbClr val="376092"/>
              </a:buClr>
              <a:buSzPts val="1400"/>
              <a:buNone/>
              <a:defRPr/>
            </a:lvl9pPr>
          </a:lstStyle>
          <a:p>
            <a:endParaRPr/>
          </a:p>
        </p:txBody>
      </p:sp>
      <p:sp>
        <p:nvSpPr>
          <p:cNvPr id="56" name="Google Shape;56;p14"/>
          <p:cNvSpPr txBox="1">
            <a:spLocks noGrp="1"/>
          </p:cNvSpPr>
          <p:nvPr>
            <p:ph type="sldNum" idx="12"/>
          </p:nvPr>
        </p:nvSpPr>
        <p:spPr>
          <a:xfrm>
            <a:off x="8492832" y="4803221"/>
            <a:ext cx="194100" cy="207900"/>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400">
              <a:solidFill>
                <a:schemeClr val="dk1"/>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OBJECT" type="obj">
  <p:cSld name="OBJECT">
    <p:spTree>
      <p:nvGrpSpPr>
        <p:cNvPr id="1" name="Shape 57"/>
        <p:cNvGrpSpPr/>
        <p:nvPr/>
      </p:nvGrpSpPr>
      <p:grpSpPr>
        <a:xfrm>
          <a:off x="0" y="0"/>
          <a:ext cx="0" cy="0"/>
          <a:chOff x="0" y="0"/>
          <a:chExt cx="0" cy="0"/>
        </a:xfrm>
      </p:grpSpPr>
      <p:sp>
        <p:nvSpPr>
          <p:cNvPr id="58" name="Google Shape;58;p15"/>
          <p:cNvSpPr txBox="1">
            <a:spLocks noGrp="1"/>
          </p:cNvSpPr>
          <p:nvPr>
            <p:ph type="title"/>
          </p:nvPr>
        </p:nvSpPr>
        <p:spPr>
          <a:xfrm>
            <a:off x="457200" y="205980"/>
            <a:ext cx="8229600" cy="441900"/>
          </a:xfrm>
          <a:prstGeom prst="rect">
            <a:avLst/>
          </a:prstGeom>
          <a:noFill/>
          <a:ln>
            <a:noFill/>
          </a:ln>
        </p:spPr>
        <p:txBody>
          <a:bodyPr spcFirstLastPara="1" wrap="square" lIns="34250" tIns="34250" rIns="34250" bIns="34250" anchor="ctr" anchorCtr="0">
            <a:normAutofit/>
          </a:bodyPr>
          <a:lstStyle>
            <a:lvl1pPr lvl="0" algn="l">
              <a:lnSpc>
                <a:spcPct val="100000"/>
              </a:lnSpc>
              <a:spcBef>
                <a:spcPts val="0"/>
              </a:spcBef>
              <a:spcAft>
                <a:spcPts val="0"/>
              </a:spcAft>
              <a:buClr>
                <a:srgbClr val="366092"/>
              </a:buClr>
              <a:buSzPts val="2400"/>
              <a:buFont typeface="Calibri"/>
              <a:buNone/>
              <a:defRPr>
                <a:solidFill>
                  <a:srgbClr val="366092"/>
                </a:solidFill>
                <a:latin typeface="Calibri"/>
                <a:ea typeface="Calibri"/>
                <a:cs typeface="Calibri"/>
                <a:sym typeface="Calibri"/>
              </a:defRPr>
            </a:lvl1pPr>
            <a:lvl2pPr lvl="1" algn="l">
              <a:lnSpc>
                <a:spcPct val="100000"/>
              </a:lnSpc>
              <a:spcBef>
                <a:spcPts val="0"/>
              </a:spcBef>
              <a:spcAft>
                <a:spcPts val="0"/>
              </a:spcAft>
              <a:buClr>
                <a:srgbClr val="376092"/>
              </a:buClr>
              <a:buSzPts val="1400"/>
              <a:buNone/>
              <a:defRPr/>
            </a:lvl2pPr>
            <a:lvl3pPr lvl="2" algn="l">
              <a:lnSpc>
                <a:spcPct val="100000"/>
              </a:lnSpc>
              <a:spcBef>
                <a:spcPts val="0"/>
              </a:spcBef>
              <a:spcAft>
                <a:spcPts val="0"/>
              </a:spcAft>
              <a:buClr>
                <a:srgbClr val="376092"/>
              </a:buClr>
              <a:buSzPts val="1400"/>
              <a:buNone/>
              <a:defRPr/>
            </a:lvl3pPr>
            <a:lvl4pPr lvl="3" algn="l">
              <a:lnSpc>
                <a:spcPct val="100000"/>
              </a:lnSpc>
              <a:spcBef>
                <a:spcPts val="0"/>
              </a:spcBef>
              <a:spcAft>
                <a:spcPts val="0"/>
              </a:spcAft>
              <a:buClr>
                <a:srgbClr val="376092"/>
              </a:buClr>
              <a:buSzPts val="1400"/>
              <a:buNone/>
              <a:defRPr/>
            </a:lvl4pPr>
            <a:lvl5pPr lvl="4" algn="l">
              <a:lnSpc>
                <a:spcPct val="100000"/>
              </a:lnSpc>
              <a:spcBef>
                <a:spcPts val="0"/>
              </a:spcBef>
              <a:spcAft>
                <a:spcPts val="0"/>
              </a:spcAft>
              <a:buClr>
                <a:srgbClr val="376092"/>
              </a:buClr>
              <a:buSzPts val="1400"/>
              <a:buNone/>
              <a:defRPr/>
            </a:lvl5pPr>
            <a:lvl6pPr lvl="5" algn="l">
              <a:lnSpc>
                <a:spcPct val="100000"/>
              </a:lnSpc>
              <a:spcBef>
                <a:spcPts val="0"/>
              </a:spcBef>
              <a:spcAft>
                <a:spcPts val="0"/>
              </a:spcAft>
              <a:buClr>
                <a:srgbClr val="376092"/>
              </a:buClr>
              <a:buSzPts val="1400"/>
              <a:buNone/>
              <a:defRPr/>
            </a:lvl6pPr>
            <a:lvl7pPr lvl="6" algn="l">
              <a:lnSpc>
                <a:spcPct val="100000"/>
              </a:lnSpc>
              <a:spcBef>
                <a:spcPts val="0"/>
              </a:spcBef>
              <a:spcAft>
                <a:spcPts val="0"/>
              </a:spcAft>
              <a:buClr>
                <a:srgbClr val="376092"/>
              </a:buClr>
              <a:buSzPts val="1400"/>
              <a:buNone/>
              <a:defRPr/>
            </a:lvl7pPr>
            <a:lvl8pPr lvl="7" algn="l">
              <a:lnSpc>
                <a:spcPct val="100000"/>
              </a:lnSpc>
              <a:spcBef>
                <a:spcPts val="0"/>
              </a:spcBef>
              <a:spcAft>
                <a:spcPts val="0"/>
              </a:spcAft>
              <a:buClr>
                <a:srgbClr val="376092"/>
              </a:buClr>
              <a:buSzPts val="1400"/>
              <a:buNone/>
              <a:defRPr/>
            </a:lvl8pPr>
            <a:lvl9pPr lvl="8" algn="l">
              <a:lnSpc>
                <a:spcPct val="100000"/>
              </a:lnSpc>
              <a:spcBef>
                <a:spcPts val="0"/>
              </a:spcBef>
              <a:spcAft>
                <a:spcPts val="0"/>
              </a:spcAft>
              <a:buClr>
                <a:srgbClr val="376092"/>
              </a:buClr>
              <a:buSzPts val="1400"/>
              <a:buNone/>
              <a:defRPr/>
            </a:lvl9pPr>
          </a:lstStyle>
          <a:p>
            <a:endParaRPr/>
          </a:p>
        </p:txBody>
      </p:sp>
      <p:sp>
        <p:nvSpPr>
          <p:cNvPr id="59" name="Google Shape;59;p15"/>
          <p:cNvSpPr txBox="1">
            <a:spLocks noGrp="1"/>
          </p:cNvSpPr>
          <p:nvPr>
            <p:ph type="body" idx="1"/>
          </p:nvPr>
        </p:nvSpPr>
        <p:spPr>
          <a:xfrm>
            <a:off x="457200" y="884063"/>
            <a:ext cx="8229600" cy="3710700"/>
          </a:xfrm>
          <a:prstGeom prst="rect">
            <a:avLst/>
          </a:prstGeom>
          <a:noFill/>
          <a:ln>
            <a:noFill/>
          </a:ln>
        </p:spPr>
        <p:txBody>
          <a:bodyPr spcFirstLastPara="1" wrap="square" lIns="34250" tIns="34250" rIns="34250" bIns="34250" anchor="t" anchorCtr="0">
            <a:normAutofit/>
          </a:bodyPr>
          <a:lstStyle>
            <a:lvl1pPr marL="457200" lvl="0"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1pPr>
            <a:lvl2pPr marL="914400" lvl="1"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2pPr>
            <a:lvl3pPr marL="1371600" lvl="2"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3pPr>
            <a:lvl4pPr marL="1828800" lvl="3"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4pPr>
            <a:lvl5pPr marL="2286000" lvl="4" indent="-361950" algn="l">
              <a:lnSpc>
                <a:spcPct val="100000"/>
              </a:lnSpc>
              <a:spcBef>
                <a:spcPts val="400"/>
              </a:spcBef>
              <a:spcAft>
                <a:spcPts val="0"/>
              </a:spcAft>
              <a:buClr>
                <a:srgbClr val="000000"/>
              </a:buClr>
              <a:buSzPts val="2100"/>
              <a:buChar char="○"/>
              <a:defRPr sz="2100">
                <a:latin typeface="Calibri"/>
                <a:ea typeface="Calibri"/>
                <a:cs typeface="Calibri"/>
                <a:sym typeface="Calibri"/>
              </a:defRPr>
            </a:lvl5pPr>
            <a:lvl6pPr marL="2743200" lvl="5" indent="-317500" algn="l">
              <a:lnSpc>
                <a:spcPct val="100000"/>
              </a:lnSpc>
              <a:spcBef>
                <a:spcPts val="500"/>
              </a:spcBef>
              <a:spcAft>
                <a:spcPts val="0"/>
              </a:spcAft>
              <a:buClr>
                <a:srgbClr val="000000"/>
              </a:buClr>
              <a:buSzPts val="1400"/>
              <a:buChar char="■"/>
              <a:defRPr/>
            </a:lvl6pPr>
            <a:lvl7pPr marL="3200400" lvl="6" indent="-317500" algn="l">
              <a:lnSpc>
                <a:spcPct val="100000"/>
              </a:lnSpc>
              <a:spcBef>
                <a:spcPts val="500"/>
              </a:spcBef>
              <a:spcAft>
                <a:spcPts val="0"/>
              </a:spcAft>
              <a:buClr>
                <a:srgbClr val="000000"/>
              </a:buClr>
              <a:buSzPts val="1400"/>
              <a:buChar char="●"/>
              <a:defRPr/>
            </a:lvl7pPr>
            <a:lvl8pPr marL="3657600" lvl="7" indent="-317500" algn="l">
              <a:lnSpc>
                <a:spcPct val="100000"/>
              </a:lnSpc>
              <a:spcBef>
                <a:spcPts val="500"/>
              </a:spcBef>
              <a:spcAft>
                <a:spcPts val="0"/>
              </a:spcAft>
              <a:buClr>
                <a:srgbClr val="000000"/>
              </a:buClr>
              <a:buSzPts val="1400"/>
              <a:buChar char="○"/>
              <a:defRPr/>
            </a:lvl8pPr>
            <a:lvl9pPr marL="4114800" lvl="8" indent="-317500" algn="l">
              <a:lnSpc>
                <a:spcPct val="100000"/>
              </a:lnSpc>
              <a:spcBef>
                <a:spcPts val="500"/>
              </a:spcBef>
              <a:spcAft>
                <a:spcPts val="0"/>
              </a:spcAft>
              <a:buClr>
                <a:srgbClr val="000000"/>
              </a:buClr>
              <a:buSzPts val="1400"/>
              <a:buChar char="■"/>
              <a:defRPr/>
            </a:lvl9pPr>
          </a:lstStyle>
          <a:p>
            <a:endParaRPr/>
          </a:p>
        </p:txBody>
      </p:sp>
      <p:cxnSp>
        <p:nvCxnSpPr>
          <p:cNvPr id="60" name="Google Shape;60;p15"/>
          <p:cNvCxnSpPr/>
          <p:nvPr/>
        </p:nvCxnSpPr>
        <p:spPr>
          <a:xfrm>
            <a:off x="457199" y="715294"/>
            <a:ext cx="8229600" cy="0"/>
          </a:xfrm>
          <a:prstGeom prst="straightConnector1">
            <a:avLst/>
          </a:prstGeom>
          <a:noFill/>
          <a:ln w="76200" cap="flat" cmpd="sng">
            <a:solidFill>
              <a:srgbClr val="366092"/>
            </a:solidFill>
            <a:prstDash val="solid"/>
            <a:round/>
            <a:headEnd type="none" w="sm" len="sm"/>
            <a:tailEnd type="none" w="sm" len="sm"/>
          </a:ln>
          <a:effectLst>
            <a:outerShdw blurRad="50800" dist="38100" dir="2700000" rotWithShape="0">
              <a:srgbClr val="000000">
                <a:alpha val="40000"/>
              </a:srgbClr>
            </a:outerShdw>
          </a:effectLst>
        </p:spPr>
      </p:cxnSp>
      <p:sp>
        <p:nvSpPr>
          <p:cNvPr id="61" name="Google Shape;61;p15"/>
          <p:cNvSpPr txBox="1">
            <a:spLocks noGrp="1"/>
          </p:cNvSpPr>
          <p:nvPr>
            <p:ph type="sldNum" idx="12"/>
          </p:nvPr>
        </p:nvSpPr>
        <p:spPr>
          <a:xfrm>
            <a:off x="8492862" y="4803236"/>
            <a:ext cx="193800" cy="207600"/>
          </a:xfrm>
          <a:prstGeom prst="rect">
            <a:avLst/>
          </a:prstGeom>
          <a:noFill/>
          <a:ln>
            <a:noFill/>
          </a:ln>
        </p:spPr>
        <p:txBody>
          <a:bodyPr spcFirstLastPara="1" wrap="square" lIns="34250" tIns="34250" rIns="34250" bIns="34250"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400">
              <a:solidFill>
                <a:schemeClr val="dk1"/>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Vacia">
  <p:cSld name="Vacia">
    <p:spTree>
      <p:nvGrpSpPr>
        <p:cNvPr id="1" name="Shape 62"/>
        <p:cNvGrpSpPr/>
        <p:nvPr/>
      </p:nvGrpSpPr>
      <p:grpSpPr>
        <a:xfrm>
          <a:off x="0" y="0"/>
          <a:ext cx="0" cy="0"/>
          <a:chOff x="0" y="0"/>
          <a:chExt cx="0" cy="0"/>
        </a:xfrm>
      </p:grpSpPr>
      <p:sp>
        <p:nvSpPr>
          <p:cNvPr id="63" name="Google Shape;63;p16"/>
          <p:cNvSpPr txBox="1">
            <a:spLocks noGrp="1"/>
          </p:cNvSpPr>
          <p:nvPr>
            <p:ph type="sldNum" idx="12"/>
          </p:nvPr>
        </p:nvSpPr>
        <p:spPr>
          <a:xfrm>
            <a:off x="8492832" y="4803221"/>
            <a:ext cx="194100" cy="207900"/>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400">
              <a:solidFill>
                <a:schemeClr val="dk1"/>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ortada">
  <p:cSld name="TITLE_AND_BODY_1">
    <p:spTree>
      <p:nvGrpSpPr>
        <p:cNvPr id="1" name="Shape 64"/>
        <p:cNvGrpSpPr/>
        <p:nvPr/>
      </p:nvGrpSpPr>
      <p:grpSpPr>
        <a:xfrm>
          <a:off x="0" y="0"/>
          <a:ext cx="0" cy="0"/>
          <a:chOff x="0" y="0"/>
          <a:chExt cx="0" cy="0"/>
        </a:xfrm>
      </p:grpSpPr>
      <p:sp>
        <p:nvSpPr>
          <p:cNvPr id="65" name="Google Shape;65;p17"/>
          <p:cNvSpPr txBox="1">
            <a:spLocks noGrp="1"/>
          </p:cNvSpPr>
          <p:nvPr>
            <p:ph type="title"/>
          </p:nvPr>
        </p:nvSpPr>
        <p:spPr>
          <a:xfrm>
            <a:off x="673837" y="735546"/>
            <a:ext cx="7772400" cy="1404300"/>
          </a:xfrm>
          <a:prstGeom prst="rect">
            <a:avLst/>
          </a:prstGeom>
          <a:noFill/>
          <a:ln>
            <a:noFill/>
          </a:ln>
        </p:spPr>
        <p:txBody>
          <a:bodyPr spcFirstLastPara="1" wrap="square" lIns="34275" tIns="34275" rIns="34275" bIns="34275" anchor="b" anchorCtr="0">
            <a:normAutofit/>
          </a:bodyPr>
          <a:lstStyle>
            <a:lvl1pPr lvl="0" algn="l">
              <a:lnSpc>
                <a:spcPct val="100000"/>
              </a:lnSpc>
              <a:spcBef>
                <a:spcPts val="0"/>
              </a:spcBef>
              <a:spcAft>
                <a:spcPts val="0"/>
              </a:spcAft>
              <a:buClr>
                <a:srgbClr val="376092"/>
              </a:buClr>
              <a:buSzPts val="3300"/>
              <a:buFont typeface="Helvetica Neue"/>
              <a:buNone/>
              <a:defRPr sz="3300" b="1">
                <a:solidFill>
                  <a:srgbClr val="376092"/>
                </a:solidFill>
                <a:latin typeface="Helvetica Neue"/>
                <a:ea typeface="Helvetica Neue"/>
                <a:cs typeface="Helvetica Neue"/>
                <a:sym typeface="Helvetica Neu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66" name="Google Shape;66;p17"/>
          <p:cNvSpPr txBox="1">
            <a:spLocks noGrp="1"/>
          </p:cNvSpPr>
          <p:nvPr>
            <p:ph type="body" idx="1"/>
          </p:nvPr>
        </p:nvSpPr>
        <p:spPr>
          <a:xfrm>
            <a:off x="4684259" y="3544325"/>
            <a:ext cx="3744000" cy="1404300"/>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00"/>
              </a:spcBef>
              <a:spcAft>
                <a:spcPts val="0"/>
              </a:spcAft>
              <a:buClr>
                <a:srgbClr val="000000"/>
              </a:buClr>
              <a:buSzPts val="1800"/>
              <a:buFont typeface="Helvetica Neue"/>
              <a:buNone/>
              <a:defRPr sz="1800">
                <a:latin typeface="Helvetica Neue"/>
                <a:ea typeface="Helvetica Neue"/>
                <a:cs typeface="Helvetica Neue"/>
                <a:sym typeface="Helvetica Neue"/>
              </a:defRPr>
            </a:lvl1pPr>
            <a:lvl2pPr marL="914400" lvl="1"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2pPr>
            <a:lvl3pPr marL="1371600" lvl="2"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3pPr>
            <a:lvl4pPr marL="1828800" lvl="3"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4pPr>
            <a:lvl5pPr marL="2286000" lvl="4"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67" name="Google Shape;67;p17"/>
          <p:cNvSpPr txBox="1">
            <a:spLocks noGrp="1"/>
          </p:cNvSpPr>
          <p:nvPr>
            <p:ph type="body" idx="2"/>
          </p:nvPr>
        </p:nvSpPr>
        <p:spPr>
          <a:xfrm>
            <a:off x="673571" y="2301720"/>
            <a:ext cx="5038800" cy="754500"/>
          </a:xfrm>
          <a:prstGeom prst="rect">
            <a:avLst/>
          </a:prstGeom>
          <a:noFill/>
          <a:ln>
            <a:noFill/>
          </a:ln>
        </p:spPr>
        <p:txBody>
          <a:bodyPr spcFirstLastPara="1" wrap="square" lIns="34275" tIns="34275" rIns="34275" bIns="34275" anchor="t" anchorCtr="0">
            <a:normAutofit/>
          </a:bodyPr>
          <a:lstStyle>
            <a:lvl1pPr marL="457200" lvl="0" indent="-279400" algn="l">
              <a:lnSpc>
                <a:spcPct val="100000"/>
              </a:lnSpc>
              <a:spcBef>
                <a:spcPts val="2200"/>
              </a:spcBef>
              <a:spcAft>
                <a:spcPts val="0"/>
              </a:spcAft>
              <a:buClr>
                <a:srgbClr val="000000"/>
              </a:buClr>
              <a:buSzPts val="800"/>
              <a:buChar char="●"/>
              <a:defRPr/>
            </a:lvl1pPr>
            <a:lvl2pPr marL="914400" lvl="1" indent="-279400" algn="l">
              <a:lnSpc>
                <a:spcPct val="100000"/>
              </a:lnSpc>
              <a:spcBef>
                <a:spcPts val="2200"/>
              </a:spcBef>
              <a:spcAft>
                <a:spcPts val="0"/>
              </a:spcAft>
              <a:buClr>
                <a:srgbClr val="000000"/>
              </a:buClr>
              <a:buSzPts val="800"/>
              <a:buChar char="○"/>
              <a:defRPr/>
            </a:lvl2pPr>
            <a:lvl3pPr marL="1371600" lvl="2" indent="-279400" algn="l">
              <a:lnSpc>
                <a:spcPct val="100000"/>
              </a:lnSpc>
              <a:spcBef>
                <a:spcPts val="2200"/>
              </a:spcBef>
              <a:spcAft>
                <a:spcPts val="0"/>
              </a:spcAft>
              <a:buClr>
                <a:srgbClr val="000000"/>
              </a:buClr>
              <a:buSzPts val="800"/>
              <a:buChar char="■"/>
              <a:defRPr/>
            </a:lvl3pPr>
            <a:lvl4pPr marL="1828800" lvl="3" indent="-279400" algn="l">
              <a:lnSpc>
                <a:spcPct val="100000"/>
              </a:lnSpc>
              <a:spcBef>
                <a:spcPts val="2200"/>
              </a:spcBef>
              <a:spcAft>
                <a:spcPts val="0"/>
              </a:spcAft>
              <a:buClr>
                <a:srgbClr val="000000"/>
              </a:buClr>
              <a:buSzPts val="800"/>
              <a:buChar char="●"/>
              <a:defRPr/>
            </a:lvl4pPr>
            <a:lvl5pPr marL="2286000" lvl="4" indent="-279400" algn="l">
              <a:lnSpc>
                <a:spcPct val="100000"/>
              </a:lnSpc>
              <a:spcBef>
                <a:spcPts val="2200"/>
              </a:spcBef>
              <a:spcAft>
                <a:spcPts val="0"/>
              </a:spcAft>
              <a:buClr>
                <a:srgbClr val="000000"/>
              </a:buClr>
              <a:buSzPts val="800"/>
              <a:buChar char="○"/>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pic>
        <p:nvPicPr>
          <p:cNvPr id="68" name="Google Shape;68;p17" descr="Image"/>
          <p:cNvPicPr preferRelativeResize="0"/>
          <p:nvPr/>
        </p:nvPicPr>
        <p:blipFill rotWithShape="1">
          <a:blip r:embed="rId2">
            <a:alphaModFix/>
          </a:blip>
          <a:srcRect/>
          <a:stretch/>
        </p:blipFill>
        <p:spPr>
          <a:xfrm>
            <a:off x="8024683" y="56887"/>
            <a:ext cx="908252" cy="1197106"/>
          </a:xfrm>
          <a:prstGeom prst="rect">
            <a:avLst/>
          </a:prstGeom>
          <a:noFill/>
          <a:ln>
            <a:noFill/>
          </a:ln>
        </p:spPr>
      </p:pic>
      <p:sp>
        <p:nvSpPr>
          <p:cNvPr id="69" name="Google Shape;69;p17"/>
          <p:cNvSpPr txBox="1">
            <a:spLocks noGrp="1"/>
          </p:cNvSpPr>
          <p:nvPr>
            <p:ph type="sldNum" idx="12"/>
          </p:nvPr>
        </p:nvSpPr>
        <p:spPr>
          <a:xfrm>
            <a:off x="4419600" y="4629150"/>
            <a:ext cx="2133600" cy="284700"/>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el und Inhalt">
  <p:cSld name="Titel und Inhalt">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457200" y="205980"/>
            <a:ext cx="8229600" cy="441900"/>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2400">
                <a:solidFill>
                  <a:srgbClr val="376092"/>
                </a:solidFill>
                <a:latin typeface="Calibri"/>
                <a:ea typeface="Calibri"/>
                <a:cs typeface="Calibri"/>
                <a:sym typeface="Calibri"/>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72" name="Google Shape;72;p18"/>
          <p:cNvSpPr txBox="1">
            <a:spLocks noGrp="1"/>
          </p:cNvSpPr>
          <p:nvPr>
            <p:ph type="body" idx="1"/>
          </p:nvPr>
        </p:nvSpPr>
        <p:spPr>
          <a:xfrm>
            <a:off x="457200" y="884063"/>
            <a:ext cx="8229600" cy="3710700"/>
          </a:xfrm>
          <a:prstGeom prst="rect">
            <a:avLst/>
          </a:prstGeom>
          <a:noFill/>
          <a:ln>
            <a:noFill/>
          </a:ln>
        </p:spPr>
        <p:txBody>
          <a:bodyPr spcFirstLastPara="1" wrap="square" lIns="34275" tIns="34275" rIns="34275" bIns="34275" anchor="t" anchorCtr="0">
            <a:normAutofit/>
          </a:bodyPr>
          <a:lstStyle>
            <a:lvl1pPr marL="457200" lvl="0"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1pPr>
            <a:lvl2pPr marL="914400" lvl="1"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2pPr>
            <a:lvl3pPr marL="1371600" lvl="2"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3pPr>
            <a:lvl4pPr marL="1828800" lvl="3"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4pPr>
            <a:lvl5pPr marL="2286000" lvl="4"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cxnSp>
        <p:nvCxnSpPr>
          <p:cNvPr id="73" name="Google Shape;73;p18"/>
          <p:cNvCxnSpPr/>
          <p:nvPr/>
        </p:nvCxnSpPr>
        <p:spPr>
          <a:xfrm>
            <a:off x="457199" y="715294"/>
            <a:ext cx="8229600" cy="0"/>
          </a:xfrm>
          <a:prstGeom prst="straightConnector1">
            <a:avLst/>
          </a:prstGeom>
          <a:noFill/>
          <a:ln w="152400" cap="flat" cmpd="sng">
            <a:solidFill>
              <a:srgbClr val="8BA4C4"/>
            </a:solidFill>
            <a:prstDash val="solid"/>
            <a:round/>
            <a:headEnd type="none" w="sm" len="sm"/>
            <a:tailEnd type="none" w="sm" len="sm"/>
          </a:ln>
          <a:effectLst>
            <a:outerShdw blurRad="101600" dist="76200" dir="2700000" rotWithShape="0">
              <a:srgbClr val="000000">
                <a:alpha val="40000"/>
              </a:srgbClr>
            </a:outerShdw>
          </a:effectLst>
        </p:spPr>
      </p:cxnSp>
      <p:sp>
        <p:nvSpPr>
          <p:cNvPr id="74" name="Google Shape;74;p18"/>
          <p:cNvSpPr txBox="1">
            <a:spLocks noGrp="1"/>
          </p:cNvSpPr>
          <p:nvPr>
            <p:ph type="sldNum" idx="12"/>
          </p:nvPr>
        </p:nvSpPr>
        <p:spPr>
          <a:xfrm>
            <a:off x="8497595" y="4800840"/>
            <a:ext cx="189300" cy="284700"/>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el und frei">
  <p:cSld name="Titel und frei">
    <p:spTree>
      <p:nvGrpSpPr>
        <p:cNvPr id="1" name="Shape 75"/>
        <p:cNvGrpSpPr/>
        <p:nvPr/>
      </p:nvGrpSpPr>
      <p:grpSpPr>
        <a:xfrm>
          <a:off x="0" y="0"/>
          <a:ext cx="0" cy="0"/>
          <a:chOff x="0" y="0"/>
          <a:chExt cx="0" cy="0"/>
        </a:xfrm>
      </p:grpSpPr>
      <p:sp>
        <p:nvSpPr>
          <p:cNvPr id="76" name="Google Shape;76;p19"/>
          <p:cNvSpPr txBox="1">
            <a:spLocks noGrp="1"/>
          </p:cNvSpPr>
          <p:nvPr>
            <p:ph type="title"/>
          </p:nvPr>
        </p:nvSpPr>
        <p:spPr>
          <a:xfrm>
            <a:off x="457200" y="205980"/>
            <a:ext cx="8229600" cy="441900"/>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2400">
                <a:solidFill>
                  <a:srgbClr val="376092"/>
                </a:solidFill>
                <a:latin typeface="Calibri"/>
                <a:ea typeface="Calibri"/>
                <a:cs typeface="Calibri"/>
                <a:sym typeface="Calibri"/>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cxnSp>
        <p:nvCxnSpPr>
          <p:cNvPr id="77" name="Google Shape;77;p19"/>
          <p:cNvCxnSpPr/>
          <p:nvPr/>
        </p:nvCxnSpPr>
        <p:spPr>
          <a:xfrm>
            <a:off x="457199" y="715294"/>
            <a:ext cx="8229600" cy="0"/>
          </a:xfrm>
          <a:prstGeom prst="straightConnector1">
            <a:avLst/>
          </a:prstGeom>
          <a:noFill/>
          <a:ln w="152400" cap="flat" cmpd="sng">
            <a:solidFill>
              <a:srgbClr val="8BA4C4"/>
            </a:solidFill>
            <a:prstDash val="solid"/>
            <a:round/>
            <a:headEnd type="none" w="sm" len="sm"/>
            <a:tailEnd type="none" w="sm" len="sm"/>
          </a:ln>
          <a:effectLst>
            <a:outerShdw blurRad="101600" dist="76200" dir="2700000" rotWithShape="0">
              <a:srgbClr val="000000">
                <a:alpha val="40000"/>
              </a:srgbClr>
            </a:outerShdw>
          </a:effectLst>
        </p:spPr>
      </p:cxnSp>
      <p:sp>
        <p:nvSpPr>
          <p:cNvPr id="78" name="Google Shape;78;p19"/>
          <p:cNvSpPr txBox="1">
            <a:spLocks noGrp="1"/>
          </p:cNvSpPr>
          <p:nvPr>
            <p:ph type="sldNum" idx="12"/>
          </p:nvPr>
        </p:nvSpPr>
        <p:spPr>
          <a:xfrm>
            <a:off x="8497595" y="4800840"/>
            <a:ext cx="189300" cy="284700"/>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1812726" y="1701106"/>
            <a:ext cx="5518500" cy="1741200"/>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81" name="Google Shape;81;p20"/>
          <p:cNvSpPr txBox="1">
            <a:spLocks noGrp="1"/>
          </p:cNvSpPr>
          <p:nvPr>
            <p:ph type="sldNum" idx="12"/>
          </p:nvPr>
        </p:nvSpPr>
        <p:spPr>
          <a:xfrm>
            <a:off x="4472168" y="4871457"/>
            <a:ext cx="189300" cy="284700"/>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Calibri"/>
              <a:buNone/>
              <a:defRPr>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latin typeface="Space Mono"/>
              <a:ea typeface="Space Mono"/>
              <a:cs typeface="Space Mono"/>
              <a:sym typeface="Space Mon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1">
  <p:cSld name="Blank">
    <p:spTree>
      <p:nvGrpSpPr>
        <p:cNvPr id="1" name="Shape 82"/>
        <p:cNvGrpSpPr/>
        <p:nvPr/>
      </p:nvGrpSpPr>
      <p:grpSpPr>
        <a:xfrm>
          <a:off x="0" y="0"/>
          <a:ext cx="0" cy="0"/>
          <a:chOff x="0" y="0"/>
          <a:chExt cx="0" cy="0"/>
        </a:xfrm>
      </p:grpSpPr>
      <p:sp>
        <p:nvSpPr>
          <p:cNvPr id="83" name="Google Shape;83;p21"/>
          <p:cNvSpPr txBox="1">
            <a:spLocks noGrp="1"/>
          </p:cNvSpPr>
          <p:nvPr>
            <p:ph type="sldNum" idx="12"/>
          </p:nvPr>
        </p:nvSpPr>
        <p:spPr>
          <a:xfrm>
            <a:off x="4484637" y="4905375"/>
            <a:ext cx="170100" cy="177000"/>
          </a:xfrm>
          <a:prstGeom prst="rect">
            <a:avLst/>
          </a:prstGeom>
          <a:noFill/>
          <a:ln>
            <a:noFill/>
          </a:ln>
        </p:spPr>
        <p:txBody>
          <a:bodyPr spcFirstLastPara="1" wrap="square" lIns="19050" tIns="19050" rIns="19050" bIns="19050" anchor="t" anchorCtr="0">
            <a:spAutoFit/>
          </a:bodyPr>
          <a:lstStyle>
            <a:lvl1pPr marL="0" lvl="0"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900"/>
              <a:buFont typeface="Helvetica Neue Light"/>
              <a:buNone/>
              <a:defRPr sz="900">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GB"/>
              <a:t>‹#›</a:t>
            </a:fld>
            <a:endParaRPr sz="1400">
              <a:latin typeface="Space Mono"/>
              <a:ea typeface="Space Mono"/>
              <a:cs typeface="Space Mono"/>
              <a:sym typeface="Space Mon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Portada">
  <p:cSld name="TITLE_AND_BODY_2">
    <p:spTree>
      <p:nvGrpSpPr>
        <p:cNvPr id="1" name="Shape 84"/>
        <p:cNvGrpSpPr/>
        <p:nvPr/>
      </p:nvGrpSpPr>
      <p:grpSpPr>
        <a:xfrm>
          <a:off x="0" y="0"/>
          <a:ext cx="0" cy="0"/>
          <a:chOff x="0" y="0"/>
          <a:chExt cx="0" cy="0"/>
        </a:xfrm>
      </p:grpSpPr>
      <p:sp>
        <p:nvSpPr>
          <p:cNvPr id="85" name="Google Shape;85;p22"/>
          <p:cNvSpPr txBox="1">
            <a:spLocks noGrp="1"/>
          </p:cNvSpPr>
          <p:nvPr>
            <p:ph type="title"/>
          </p:nvPr>
        </p:nvSpPr>
        <p:spPr>
          <a:xfrm>
            <a:off x="673837" y="735546"/>
            <a:ext cx="7772401" cy="1404157"/>
          </a:xfrm>
          <a:prstGeom prst="rect">
            <a:avLst/>
          </a:prstGeom>
          <a:noFill/>
          <a:ln>
            <a:noFill/>
          </a:ln>
        </p:spPr>
        <p:txBody>
          <a:bodyPr spcFirstLastPara="1" wrap="square" lIns="34275" tIns="34275" rIns="34275" bIns="34275" anchor="b" anchorCtr="0">
            <a:normAutofit/>
          </a:bodyPr>
          <a:lstStyle>
            <a:lvl1pPr lvl="0" algn="l">
              <a:lnSpc>
                <a:spcPct val="100000"/>
              </a:lnSpc>
              <a:spcBef>
                <a:spcPts val="0"/>
              </a:spcBef>
              <a:spcAft>
                <a:spcPts val="0"/>
              </a:spcAft>
              <a:buClr>
                <a:srgbClr val="376092"/>
              </a:buClr>
              <a:buSzPts val="3300"/>
              <a:buFont typeface="Helvetica Neue"/>
              <a:buNone/>
              <a:defRPr sz="3300" b="1">
                <a:latin typeface="Helvetica Neue"/>
                <a:ea typeface="Helvetica Neue"/>
                <a:cs typeface="Helvetica Neue"/>
                <a:sym typeface="Helvetica Neue"/>
              </a:defRPr>
            </a:lvl1pPr>
            <a:lvl2pPr lvl="1" algn="l">
              <a:lnSpc>
                <a:spcPct val="100000"/>
              </a:lnSpc>
              <a:spcBef>
                <a:spcPts val="0"/>
              </a:spcBef>
              <a:spcAft>
                <a:spcPts val="0"/>
              </a:spcAft>
              <a:buClr>
                <a:srgbClr val="376092"/>
              </a:buClr>
              <a:buSzPts val="1400"/>
              <a:buNone/>
              <a:defRPr sz="1100"/>
            </a:lvl2pPr>
            <a:lvl3pPr lvl="2" algn="l">
              <a:lnSpc>
                <a:spcPct val="100000"/>
              </a:lnSpc>
              <a:spcBef>
                <a:spcPts val="0"/>
              </a:spcBef>
              <a:spcAft>
                <a:spcPts val="0"/>
              </a:spcAft>
              <a:buClr>
                <a:srgbClr val="376092"/>
              </a:buClr>
              <a:buSzPts val="1400"/>
              <a:buNone/>
              <a:defRPr sz="1100"/>
            </a:lvl3pPr>
            <a:lvl4pPr lvl="3" algn="l">
              <a:lnSpc>
                <a:spcPct val="100000"/>
              </a:lnSpc>
              <a:spcBef>
                <a:spcPts val="0"/>
              </a:spcBef>
              <a:spcAft>
                <a:spcPts val="0"/>
              </a:spcAft>
              <a:buClr>
                <a:srgbClr val="376092"/>
              </a:buClr>
              <a:buSzPts val="1400"/>
              <a:buNone/>
              <a:defRPr sz="1100"/>
            </a:lvl4pPr>
            <a:lvl5pPr lvl="4" algn="l">
              <a:lnSpc>
                <a:spcPct val="100000"/>
              </a:lnSpc>
              <a:spcBef>
                <a:spcPts val="0"/>
              </a:spcBef>
              <a:spcAft>
                <a:spcPts val="0"/>
              </a:spcAft>
              <a:buClr>
                <a:srgbClr val="376092"/>
              </a:buClr>
              <a:buSzPts val="1400"/>
              <a:buNone/>
              <a:defRPr sz="1100"/>
            </a:lvl5pPr>
            <a:lvl6pPr lvl="5" algn="l">
              <a:lnSpc>
                <a:spcPct val="100000"/>
              </a:lnSpc>
              <a:spcBef>
                <a:spcPts val="0"/>
              </a:spcBef>
              <a:spcAft>
                <a:spcPts val="0"/>
              </a:spcAft>
              <a:buClr>
                <a:srgbClr val="376092"/>
              </a:buClr>
              <a:buSzPts val="1400"/>
              <a:buNone/>
              <a:defRPr sz="1100"/>
            </a:lvl6pPr>
            <a:lvl7pPr lvl="6" algn="l">
              <a:lnSpc>
                <a:spcPct val="100000"/>
              </a:lnSpc>
              <a:spcBef>
                <a:spcPts val="0"/>
              </a:spcBef>
              <a:spcAft>
                <a:spcPts val="0"/>
              </a:spcAft>
              <a:buClr>
                <a:srgbClr val="376092"/>
              </a:buClr>
              <a:buSzPts val="1400"/>
              <a:buNone/>
              <a:defRPr sz="1100"/>
            </a:lvl7pPr>
            <a:lvl8pPr lvl="7" algn="l">
              <a:lnSpc>
                <a:spcPct val="100000"/>
              </a:lnSpc>
              <a:spcBef>
                <a:spcPts val="0"/>
              </a:spcBef>
              <a:spcAft>
                <a:spcPts val="0"/>
              </a:spcAft>
              <a:buClr>
                <a:srgbClr val="376092"/>
              </a:buClr>
              <a:buSzPts val="1400"/>
              <a:buNone/>
              <a:defRPr sz="1100"/>
            </a:lvl8pPr>
            <a:lvl9pPr lvl="8" algn="l">
              <a:lnSpc>
                <a:spcPct val="100000"/>
              </a:lnSpc>
              <a:spcBef>
                <a:spcPts val="0"/>
              </a:spcBef>
              <a:spcAft>
                <a:spcPts val="0"/>
              </a:spcAft>
              <a:buClr>
                <a:srgbClr val="376092"/>
              </a:buClr>
              <a:buSzPts val="1400"/>
              <a:buNone/>
              <a:defRPr sz="1100"/>
            </a:lvl9pPr>
          </a:lstStyle>
          <a:p>
            <a:endParaRPr/>
          </a:p>
        </p:txBody>
      </p:sp>
      <p:sp>
        <p:nvSpPr>
          <p:cNvPr id="86" name="Google Shape;86;p22"/>
          <p:cNvSpPr txBox="1">
            <a:spLocks noGrp="1"/>
          </p:cNvSpPr>
          <p:nvPr>
            <p:ph type="body" idx="1"/>
          </p:nvPr>
        </p:nvSpPr>
        <p:spPr>
          <a:xfrm>
            <a:off x="4684258" y="3544325"/>
            <a:ext cx="3743921" cy="140415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00"/>
              </a:spcBef>
              <a:spcAft>
                <a:spcPts val="0"/>
              </a:spcAft>
              <a:buClr>
                <a:srgbClr val="000000"/>
              </a:buClr>
              <a:buSzPts val="1800"/>
              <a:buFont typeface="Helvetica Neue"/>
              <a:buNone/>
              <a:defRPr sz="1800">
                <a:latin typeface="Helvetica Neue"/>
                <a:ea typeface="Helvetica Neue"/>
                <a:cs typeface="Helvetica Neue"/>
                <a:sym typeface="Helvetica Neue"/>
              </a:defRPr>
            </a:lvl1pPr>
            <a:lvl2pPr marL="914400" lvl="1"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2pPr>
            <a:lvl3pPr marL="1371600" lvl="2"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3pPr>
            <a:lvl4pPr marL="1828800" lvl="3"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4pPr>
            <a:lvl5pPr marL="2286000" lvl="4"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sp>
        <p:nvSpPr>
          <p:cNvPr id="87" name="Google Shape;87;p22"/>
          <p:cNvSpPr txBox="1">
            <a:spLocks noGrp="1"/>
          </p:cNvSpPr>
          <p:nvPr>
            <p:ph type="body" idx="2"/>
          </p:nvPr>
        </p:nvSpPr>
        <p:spPr>
          <a:xfrm>
            <a:off x="673571" y="2301719"/>
            <a:ext cx="5038726" cy="754448"/>
          </a:xfrm>
          <a:prstGeom prst="rect">
            <a:avLst/>
          </a:prstGeom>
          <a:noFill/>
          <a:ln>
            <a:noFill/>
          </a:ln>
        </p:spPr>
        <p:txBody>
          <a:bodyPr spcFirstLastPara="1" wrap="square" lIns="34275" tIns="34275" rIns="34275" bIns="34275" anchor="t" anchorCtr="0">
            <a:normAutofit/>
          </a:bodyPr>
          <a:lstStyle>
            <a:lvl1pPr marL="457200" lvl="0" indent="-317500" algn="l">
              <a:lnSpc>
                <a:spcPct val="100000"/>
              </a:lnSpc>
              <a:spcBef>
                <a:spcPts val="500"/>
              </a:spcBef>
              <a:spcAft>
                <a:spcPts val="0"/>
              </a:spcAft>
              <a:buClr>
                <a:srgbClr val="000000"/>
              </a:buClr>
              <a:buSzPts val="1400"/>
              <a:buChar char="●"/>
              <a:defRPr sz="1100"/>
            </a:lvl1pPr>
            <a:lvl2pPr marL="914400" lvl="1" indent="-317500" algn="l">
              <a:lnSpc>
                <a:spcPct val="100000"/>
              </a:lnSpc>
              <a:spcBef>
                <a:spcPts val="500"/>
              </a:spcBef>
              <a:spcAft>
                <a:spcPts val="0"/>
              </a:spcAft>
              <a:buClr>
                <a:srgbClr val="000000"/>
              </a:buClr>
              <a:buSzPts val="1400"/>
              <a:buChar char="○"/>
              <a:defRPr sz="1100"/>
            </a:lvl2pPr>
            <a:lvl3pPr marL="1371600" lvl="2" indent="-317500" algn="l">
              <a:lnSpc>
                <a:spcPct val="100000"/>
              </a:lnSpc>
              <a:spcBef>
                <a:spcPts val="500"/>
              </a:spcBef>
              <a:spcAft>
                <a:spcPts val="0"/>
              </a:spcAft>
              <a:buClr>
                <a:srgbClr val="000000"/>
              </a:buClr>
              <a:buSzPts val="1400"/>
              <a:buChar char="■"/>
              <a:defRPr sz="1100"/>
            </a:lvl3pPr>
            <a:lvl4pPr marL="1828800" lvl="3" indent="-317500" algn="l">
              <a:lnSpc>
                <a:spcPct val="100000"/>
              </a:lnSpc>
              <a:spcBef>
                <a:spcPts val="500"/>
              </a:spcBef>
              <a:spcAft>
                <a:spcPts val="0"/>
              </a:spcAft>
              <a:buClr>
                <a:srgbClr val="000000"/>
              </a:buClr>
              <a:buSzPts val="1400"/>
              <a:buChar char="●"/>
              <a:defRPr sz="1100"/>
            </a:lvl4pPr>
            <a:lvl5pPr marL="2286000" lvl="4" indent="-317500" algn="l">
              <a:lnSpc>
                <a:spcPct val="100000"/>
              </a:lnSpc>
              <a:spcBef>
                <a:spcPts val="500"/>
              </a:spcBef>
              <a:spcAft>
                <a:spcPts val="0"/>
              </a:spcAft>
              <a:buClr>
                <a:srgbClr val="000000"/>
              </a:buClr>
              <a:buSzPts val="1400"/>
              <a:buChar char="○"/>
              <a:defRPr sz="1100"/>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pic>
        <p:nvPicPr>
          <p:cNvPr id="88" name="Google Shape;88;p22" descr="Image"/>
          <p:cNvPicPr preferRelativeResize="0"/>
          <p:nvPr/>
        </p:nvPicPr>
        <p:blipFill rotWithShape="1">
          <a:blip r:embed="rId2">
            <a:alphaModFix/>
          </a:blip>
          <a:srcRect/>
          <a:stretch/>
        </p:blipFill>
        <p:spPr>
          <a:xfrm>
            <a:off x="8024683" y="56887"/>
            <a:ext cx="908252" cy="1197106"/>
          </a:xfrm>
          <a:prstGeom prst="rect">
            <a:avLst/>
          </a:prstGeom>
          <a:noFill/>
          <a:ln>
            <a:noFill/>
          </a:ln>
        </p:spPr>
      </p:pic>
      <p:sp>
        <p:nvSpPr>
          <p:cNvPr id="89" name="Google Shape;89;p22"/>
          <p:cNvSpPr txBox="1">
            <a:spLocks noGrp="1"/>
          </p:cNvSpPr>
          <p:nvPr>
            <p:ph type="sldNum" idx="12"/>
          </p:nvPr>
        </p:nvSpPr>
        <p:spPr>
          <a:xfrm>
            <a:off x="4419600" y="4629150"/>
            <a:ext cx="2133600" cy="276226"/>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100">
              <a:solidFill>
                <a:schemeClr val="dk1"/>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1_Titel und Inhalt">
  <p:cSld name="1_Titel und Inhalt">
    <p:spTree>
      <p:nvGrpSpPr>
        <p:cNvPr id="1" name="Shape 90"/>
        <p:cNvGrpSpPr/>
        <p:nvPr/>
      </p:nvGrpSpPr>
      <p:grpSpPr>
        <a:xfrm>
          <a:off x="0" y="0"/>
          <a:ext cx="0" cy="0"/>
          <a:chOff x="0" y="0"/>
          <a:chExt cx="0" cy="0"/>
        </a:xfrm>
      </p:grpSpPr>
      <p:sp>
        <p:nvSpPr>
          <p:cNvPr id="91" name="Google Shape;91;p23"/>
          <p:cNvSpPr txBox="1">
            <a:spLocks noGrp="1"/>
          </p:cNvSpPr>
          <p:nvPr>
            <p:ph type="title"/>
          </p:nvPr>
        </p:nvSpPr>
        <p:spPr>
          <a:xfrm>
            <a:off x="457200" y="205979"/>
            <a:ext cx="8229600" cy="441809"/>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1100">
                <a:latin typeface="Calibri"/>
                <a:ea typeface="Calibri"/>
                <a:cs typeface="Calibri"/>
                <a:sym typeface="Calibri"/>
              </a:defRPr>
            </a:lvl1pPr>
            <a:lvl2pPr lvl="1" algn="l">
              <a:lnSpc>
                <a:spcPct val="100000"/>
              </a:lnSpc>
              <a:spcBef>
                <a:spcPts val="0"/>
              </a:spcBef>
              <a:spcAft>
                <a:spcPts val="0"/>
              </a:spcAft>
              <a:buClr>
                <a:srgbClr val="376092"/>
              </a:buClr>
              <a:buSzPts val="1400"/>
              <a:buNone/>
              <a:defRPr sz="1100"/>
            </a:lvl2pPr>
            <a:lvl3pPr lvl="2" algn="l">
              <a:lnSpc>
                <a:spcPct val="100000"/>
              </a:lnSpc>
              <a:spcBef>
                <a:spcPts val="0"/>
              </a:spcBef>
              <a:spcAft>
                <a:spcPts val="0"/>
              </a:spcAft>
              <a:buClr>
                <a:srgbClr val="376092"/>
              </a:buClr>
              <a:buSzPts val="1400"/>
              <a:buNone/>
              <a:defRPr sz="1100"/>
            </a:lvl3pPr>
            <a:lvl4pPr lvl="3" algn="l">
              <a:lnSpc>
                <a:spcPct val="100000"/>
              </a:lnSpc>
              <a:spcBef>
                <a:spcPts val="0"/>
              </a:spcBef>
              <a:spcAft>
                <a:spcPts val="0"/>
              </a:spcAft>
              <a:buClr>
                <a:srgbClr val="376092"/>
              </a:buClr>
              <a:buSzPts val="1400"/>
              <a:buNone/>
              <a:defRPr sz="1100"/>
            </a:lvl4pPr>
            <a:lvl5pPr lvl="4" algn="l">
              <a:lnSpc>
                <a:spcPct val="100000"/>
              </a:lnSpc>
              <a:spcBef>
                <a:spcPts val="0"/>
              </a:spcBef>
              <a:spcAft>
                <a:spcPts val="0"/>
              </a:spcAft>
              <a:buClr>
                <a:srgbClr val="376092"/>
              </a:buClr>
              <a:buSzPts val="1400"/>
              <a:buNone/>
              <a:defRPr sz="1100"/>
            </a:lvl5pPr>
            <a:lvl6pPr lvl="5" algn="l">
              <a:lnSpc>
                <a:spcPct val="100000"/>
              </a:lnSpc>
              <a:spcBef>
                <a:spcPts val="0"/>
              </a:spcBef>
              <a:spcAft>
                <a:spcPts val="0"/>
              </a:spcAft>
              <a:buClr>
                <a:srgbClr val="376092"/>
              </a:buClr>
              <a:buSzPts val="1400"/>
              <a:buNone/>
              <a:defRPr sz="1100"/>
            </a:lvl6pPr>
            <a:lvl7pPr lvl="6" algn="l">
              <a:lnSpc>
                <a:spcPct val="100000"/>
              </a:lnSpc>
              <a:spcBef>
                <a:spcPts val="0"/>
              </a:spcBef>
              <a:spcAft>
                <a:spcPts val="0"/>
              </a:spcAft>
              <a:buClr>
                <a:srgbClr val="376092"/>
              </a:buClr>
              <a:buSzPts val="1400"/>
              <a:buNone/>
              <a:defRPr sz="1100"/>
            </a:lvl7pPr>
            <a:lvl8pPr lvl="7" algn="l">
              <a:lnSpc>
                <a:spcPct val="100000"/>
              </a:lnSpc>
              <a:spcBef>
                <a:spcPts val="0"/>
              </a:spcBef>
              <a:spcAft>
                <a:spcPts val="0"/>
              </a:spcAft>
              <a:buClr>
                <a:srgbClr val="376092"/>
              </a:buClr>
              <a:buSzPts val="1400"/>
              <a:buNone/>
              <a:defRPr sz="1100"/>
            </a:lvl8pPr>
            <a:lvl9pPr lvl="8" algn="l">
              <a:lnSpc>
                <a:spcPct val="100000"/>
              </a:lnSpc>
              <a:spcBef>
                <a:spcPts val="0"/>
              </a:spcBef>
              <a:spcAft>
                <a:spcPts val="0"/>
              </a:spcAft>
              <a:buClr>
                <a:srgbClr val="376092"/>
              </a:buClr>
              <a:buSzPts val="1400"/>
              <a:buNone/>
              <a:defRPr sz="1100"/>
            </a:lvl9pPr>
          </a:lstStyle>
          <a:p>
            <a:endParaRPr/>
          </a:p>
        </p:txBody>
      </p:sp>
      <p:sp>
        <p:nvSpPr>
          <p:cNvPr id="92" name="Google Shape;92;p23"/>
          <p:cNvSpPr txBox="1">
            <a:spLocks noGrp="1"/>
          </p:cNvSpPr>
          <p:nvPr>
            <p:ph type="body" idx="1"/>
          </p:nvPr>
        </p:nvSpPr>
        <p:spPr>
          <a:xfrm>
            <a:off x="457200" y="884063"/>
            <a:ext cx="8229600" cy="3710561"/>
          </a:xfrm>
          <a:prstGeom prst="rect">
            <a:avLst/>
          </a:prstGeom>
          <a:noFill/>
          <a:ln>
            <a:noFill/>
          </a:ln>
        </p:spPr>
        <p:txBody>
          <a:bodyPr spcFirstLastPara="1" wrap="square" lIns="34275" tIns="34275" rIns="34275" bIns="34275" anchor="t" anchorCtr="0">
            <a:normAutofit/>
          </a:bodyPr>
          <a:lstStyle>
            <a:lvl1pPr marL="457200" lvl="0"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1pPr>
            <a:lvl2pPr marL="914400" lvl="1"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2pPr>
            <a:lvl3pPr marL="1371600" lvl="2"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3pPr>
            <a:lvl4pPr marL="1828800" lvl="3"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4pPr>
            <a:lvl5pPr marL="2286000" lvl="4"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cxnSp>
        <p:nvCxnSpPr>
          <p:cNvPr id="93" name="Google Shape;93;p23"/>
          <p:cNvCxnSpPr/>
          <p:nvPr/>
        </p:nvCxnSpPr>
        <p:spPr>
          <a:xfrm>
            <a:off x="457199" y="715294"/>
            <a:ext cx="8229601" cy="1"/>
          </a:xfrm>
          <a:prstGeom prst="straightConnector1">
            <a:avLst/>
          </a:prstGeom>
          <a:noFill/>
          <a:ln w="76200" cap="flat" cmpd="sng">
            <a:solidFill>
              <a:srgbClr val="8BA4C4"/>
            </a:solidFill>
            <a:prstDash val="solid"/>
            <a:round/>
            <a:headEnd type="none" w="sm" len="sm"/>
            <a:tailEnd type="none" w="sm" len="sm"/>
          </a:ln>
          <a:effectLst>
            <a:outerShdw blurRad="50800" dist="38100" dir="2700000" rotWithShape="0">
              <a:srgbClr val="000000">
                <a:alpha val="40000"/>
              </a:srgbClr>
            </a:outerShdw>
          </a:effectLst>
        </p:spPr>
      </p:cxnSp>
      <p:sp>
        <p:nvSpPr>
          <p:cNvPr id="94" name="Google Shape;94;p23"/>
          <p:cNvSpPr txBox="1">
            <a:spLocks noGrp="1"/>
          </p:cNvSpPr>
          <p:nvPr>
            <p:ph type="sldNum" idx="12"/>
          </p:nvPr>
        </p:nvSpPr>
        <p:spPr>
          <a:xfrm>
            <a:off x="8492834" y="4803222"/>
            <a:ext cx="193967" cy="201929"/>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100">
              <a:solidFill>
                <a:schemeClr val="dk1"/>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Portada">
  <p:cSld name="TITLE_AND_BODY_3">
    <p:spTree>
      <p:nvGrpSpPr>
        <p:cNvPr id="1" name="Shape 95"/>
        <p:cNvGrpSpPr/>
        <p:nvPr/>
      </p:nvGrpSpPr>
      <p:grpSpPr>
        <a:xfrm>
          <a:off x="0" y="0"/>
          <a:ext cx="0" cy="0"/>
          <a:chOff x="0" y="0"/>
          <a:chExt cx="0" cy="0"/>
        </a:xfrm>
      </p:grpSpPr>
      <p:sp>
        <p:nvSpPr>
          <p:cNvPr id="96" name="Google Shape;96;p24"/>
          <p:cNvSpPr txBox="1">
            <a:spLocks noGrp="1"/>
          </p:cNvSpPr>
          <p:nvPr>
            <p:ph type="title"/>
          </p:nvPr>
        </p:nvSpPr>
        <p:spPr>
          <a:xfrm>
            <a:off x="673837" y="735546"/>
            <a:ext cx="7772401" cy="1404157"/>
          </a:xfrm>
          <a:prstGeom prst="rect">
            <a:avLst/>
          </a:prstGeom>
          <a:noFill/>
          <a:ln>
            <a:noFill/>
          </a:ln>
        </p:spPr>
        <p:txBody>
          <a:bodyPr spcFirstLastPara="1" wrap="square" lIns="34275" tIns="34275" rIns="34275" bIns="34275" anchor="b" anchorCtr="0">
            <a:normAutofit/>
          </a:bodyPr>
          <a:lstStyle>
            <a:lvl1pPr lvl="0" algn="l">
              <a:lnSpc>
                <a:spcPct val="100000"/>
              </a:lnSpc>
              <a:spcBef>
                <a:spcPts val="0"/>
              </a:spcBef>
              <a:spcAft>
                <a:spcPts val="0"/>
              </a:spcAft>
              <a:buClr>
                <a:srgbClr val="376092"/>
              </a:buClr>
              <a:buSzPts val="3300"/>
              <a:buFont typeface="Helvetica Neue"/>
              <a:buNone/>
              <a:defRPr sz="3300" b="1">
                <a:latin typeface="Helvetica Neue"/>
                <a:ea typeface="Helvetica Neue"/>
                <a:cs typeface="Helvetica Neue"/>
                <a:sym typeface="Helvetica Neue"/>
              </a:defRPr>
            </a:lvl1pPr>
            <a:lvl2pPr lvl="1" algn="l">
              <a:lnSpc>
                <a:spcPct val="100000"/>
              </a:lnSpc>
              <a:spcBef>
                <a:spcPts val="0"/>
              </a:spcBef>
              <a:spcAft>
                <a:spcPts val="0"/>
              </a:spcAft>
              <a:buClr>
                <a:srgbClr val="376092"/>
              </a:buClr>
              <a:buSzPts val="1400"/>
              <a:buNone/>
              <a:defRPr sz="1100"/>
            </a:lvl2pPr>
            <a:lvl3pPr lvl="2" algn="l">
              <a:lnSpc>
                <a:spcPct val="100000"/>
              </a:lnSpc>
              <a:spcBef>
                <a:spcPts val="0"/>
              </a:spcBef>
              <a:spcAft>
                <a:spcPts val="0"/>
              </a:spcAft>
              <a:buClr>
                <a:srgbClr val="376092"/>
              </a:buClr>
              <a:buSzPts val="1400"/>
              <a:buNone/>
              <a:defRPr sz="1100"/>
            </a:lvl3pPr>
            <a:lvl4pPr lvl="3" algn="l">
              <a:lnSpc>
                <a:spcPct val="100000"/>
              </a:lnSpc>
              <a:spcBef>
                <a:spcPts val="0"/>
              </a:spcBef>
              <a:spcAft>
                <a:spcPts val="0"/>
              </a:spcAft>
              <a:buClr>
                <a:srgbClr val="376092"/>
              </a:buClr>
              <a:buSzPts val="1400"/>
              <a:buNone/>
              <a:defRPr sz="1100"/>
            </a:lvl4pPr>
            <a:lvl5pPr lvl="4" algn="l">
              <a:lnSpc>
                <a:spcPct val="100000"/>
              </a:lnSpc>
              <a:spcBef>
                <a:spcPts val="0"/>
              </a:spcBef>
              <a:spcAft>
                <a:spcPts val="0"/>
              </a:spcAft>
              <a:buClr>
                <a:srgbClr val="376092"/>
              </a:buClr>
              <a:buSzPts val="1400"/>
              <a:buNone/>
              <a:defRPr sz="1100"/>
            </a:lvl5pPr>
            <a:lvl6pPr lvl="5" algn="l">
              <a:lnSpc>
                <a:spcPct val="100000"/>
              </a:lnSpc>
              <a:spcBef>
                <a:spcPts val="0"/>
              </a:spcBef>
              <a:spcAft>
                <a:spcPts val="0"/>
              </a:spcAft>
              <a:buClr>
                <a:srgbClr val="376092"/>
              </a:buClr>
              <a:buSzPts val="1400"/>
              <a:buNone/>
              <a:defRPr sz="1100"/>
            </a:lvl6pPr>
            <a:lvl7pPr lvl="6" algn="l">
              <a:lnSpc>
                <a:spcPct val="100000"/>
              </a:lnSpc>
              <a:spcBef>
                <a:spcPts val="0"/>
              </a:spcBef>
              <a:spcAft>
                <a:spcPts val="0"/>
              </a:spcAft>
              <a:buClr>
                <a:srgbClr val="376092"/>
              </a:buClr>
              <a:buSzPts val="1400"/>
              <a:buNone/>
              <a:defRPr sz="1100"/>
            </a:lvl7pPr>
            <a:lvl8pPr lvl="7" algn="l">
              <a:lnSpc>
                <a:spcPct val="100000"/>
              </a:lnSpc>
              <a:spcBef>
                <a:spcPts val="0"/>
              </a:spcBef>
              <a:spcAft>
                <a:spcPts val="0"/>
              </a:spcAft>
              <a:buClr>
                <a:srgbClr val="376092"/>
              </a:buClr>
              <a:buSzPts val="1400"/>
              <a:buNone/>
              <a:defRPr sz="1100"/>
            </a:lvl8pPr>
            <a:lvl9pPr lvl="8" algn="l">
              <a:lnSpc>
                <a:spcPct val="100000"/>
              </a:lnSpc>
              <a:spcBef>
                <a:spcPts val="0"/>
              </a:spcBef>
              <a:spcAft>
                <a:spcPts val="0"/>
              </a:spcAft>
              <a:buClr>
                <a:srgbClr val="376092"/>
              </a:buClr>
              <a:buSzPts val="1400"/>
              <a:buNone/>
              <a:defRPr sz="1100"/>
            </a:lvl9pPr>
          </a:lstStyle>
          <a:p>
            <a:endParaRPr/>
          </a:p>
        </p:txBody>
      </p:sp>
      <p:sp>
        <p:nvSpPr>
          <p:cNvPr id="97" name="Google Shape;97;p24"/>
          <p:cNvSpPr txBox="1">
            <a:spLocks noGrp="1"/>
          </p:cNvSpPr>
          <p:nvPr>
            <p:ph type="body" idx="1"/>
          </p:nvPr>
        </p:nvSpPr>
        <p:spPr>
          <a:xfrm>
            <a:off x="4684258" y="3544325"/>
            <a:ext cx="3743921" cy="1404157"/>
          </a:xfrm>
          <a:prstGeom prst="rect">
            <a:avLst/>
          </a:prstGeom>
          <a:noFill/>
          <a:ln>
            <a:noFill/>
          </a:ln>
        </p:spPr>
        <p:txBody>
          <a:bodyPr spcFirstLastPara="1" wrap="square" lIns="0" tIns="0" rIns="0" bIns="0" anchor="t" anchorCtr="0">
            <a:normAutofit/>
          </a:bodyPr>
          <a:lstStyle>
            <a:lvl1pPr marL="457200" lvl="0" indent="-228600" algn="l">
              <a:lnSpc>
                <a:spcPct val="100000"/>
              </a:lnSpc>
              <a:spcBef>
                <a:spcPts val="400"/>
              </a:spcBef>
              <a:spcAft>
                <a:spcPts val="0"/>
              </a:spcAft>
              <a:buClr>
                <a:srgbClr val="000000"/>
              </a:buClr>
              <a:buSzPts val="1800"/>
              <a:buFont typeface="Helvetica Neue"/>
              <a:buNone/>
              <a:defRPr sz="1800">
                <a:latin typeface="Helvetica Neue"/>
                <a:ea typeface="Helvetica Neue"/>
                <a:cs typeface="Helvetica Neue"/>
                <a:sym typeface="Helvetica Neue"/>
              </a:defRPr>
            </a:lvl1pPr>
            <a:lvl2pPr marL="914400" lvl="1"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2pPr>
            <a:lvl3pPr marL="1371600" lvl="2"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3pPr>
            <a:lvl4pPr marL="1828800" lvl="3"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4pPr>
            <a:lvl5pPr marL="2286000" lvl="4" indent="-342900" algn="l">
              <a:lnSpc>
                <a:spcPct val="100000"/>
              </a:lnSpc>
              <a:spcBef>
                <a:spcPts val="400"/>
              </a:spcBef>
              <a:spcAft>
                <a:spcPts val="0"/>
              </a:spcAft>
              <a:buClr>
                <a:srgbClr val="000000"/>
              </a:buClr>
              <a:buSzPts val="1800"/>
              <a:buFont typeface="Helvetica Neue"/>
              <a:buChar char="○"/>
              <a:defRPr sz="1800">
                <a:latin typeface="Helvetica Neue"/>
                <a:ea typeface="Helvetica Neue"/>
                <a:cs typeface="Helvetica Neue"/>
                <a:sym typeface="Helvetica Neue"/>
              </a:defRPr>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sp>
        <p:nvSpPr>
          <p:cNvPr id="98" name="Google Shape;98;p24"/>
          <p:cNvSpPr txBox="1">
            <a:spLocks noGrp="1"/>
          </p:cNvSpPr>
          <p:nvPr>
            <p:ph type="body" idx="2"/>
          </p:nvPr>
        </p:nvSpPr>
        <p:spPr>
          <a:xfrm>
            <a:off x="673571" y="2301719"/>
            <a:ext cx="5038726" cy="754448"/>
          </a:xfrm>
          <a:prstGeom prst="rect">
            <a:avLst/>
          </a:prstGeom>
          <a:noFill/>
          <a:ln>
            <a:noFill/>
          </a:ln>
        </p:spPr>
        <p:txBody>
          <a:bodyPr spcFirstLastPara="1" wrap="square" lIns="34275" tIns="34275" rIns="34275" bIns="34275" anchor="t" anchorCtr="0">
            <a:normAutofit/>
          </a:bodyPr>
          <a:lstStyle>
            <a:lvl1pPr marL="457200" lvl="0" indent="-317500" algn="l">
              <a:lnSpc>
                <a:spcPct val="100000"/>
              </a:lnSpc>
              <a:spcBef>
                <a:spcPts val="500"/>
              </a:spcBef>
              <a:spcAft>
                <a:spcPts val="0"/>
              </a:spcAft>
              <a:buClr>
                <a:srgbClr val="000000"/>
              </a:buClr>
              <a:buSzPts val="1400"/>
              <a:buChar char="●"/>
              <a:defRPr sz="1100"/>
            </a:lvl1pPr>
            <a:lvl2pPr marL="914400" lvl="1" indent="-317500" algn="l">
              <a:lnSpc>
                <a:spcPct val="100000"/>
              </a:lnSpc>
              <a:spcBef>
                <a:spcPts val="500"/>
              </a:spcBef>
              <a:spcAft>
                <a:spcPts val="0"/>
              </a:spcAft>
              <a:buClr>
                <a:srgbClr val="000000"/>
              </a:buClr>
              <a:buSzPts val="1400"/>
              <a:buChar char="○"/>
              <a:defRPr sz="1100"/>
            </a:lvl2pPr>
            <a:lvl3pPr marL="1371600" lvl="2" indent="-317500" algn="l">
              <a:lnSpc>
                <a:spcPct val="100000"/>
              </a:lnSpc>
              <a:spcBef>
                <a:spcPts val="500"/>
              </a:spcBef>
              <a:spcAft>
                <a:spcPts val="0"/>
              </a:spcAft>
              <a:buClr>
                <a:srgbClr val="000000"/>
              </a:buClr>
              <a:buSzPts val="1400"/>
              <a:buChar char="■"/>
              <a:defRPr sz="1100"/>
            </a:lvl3pPr>
            <a:lvl4pPr marL="1828800" lvl="3" indent="-317500" algn="l">
              <a:lnSpc>
                <a:spcPct val="100000"/>
              </a:lnSpc>
              <a:spcBef>
                <a:spcPts val="500"/>
              </a:spcBef>
              <a:spcAft>
                <a:spcPts val="0"/>
              </a:spcAft>
              <a:buClr>
                <a:srgbClr val="000000"/>
              </a:buClr>
              <a:buSzPts val="1400"/>
              <a:buChar char="●"/>
              <a:defRPr sz="1100"/>
            </a:lvl4pPr>
            <a:lvl5pPr marL="2286000" lvl="4" indent="-317500" algn="l">
              <a:lnSpc>
                <a:spcPct val="100000"/>
              </a:lnSpc>
              <a:spcBef>
                <a:spcPts val="500"/>
              </a:spcBef>
              <a:spcAft>
                <a:spcPts val="0"/>
              </a:spcAft>
              <a:buClr>
                <a:srgbClr val="000000"/>
              </a:buClr>
              <a:buSzPts val="1400"/>
              <a:buChar char="○"/>
              <a:defRPr sz="1100"/>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pic>
        <p:nvPicPr>
          <p:cNvPr id="99" name="Google Shape;99;p24" descr="Image"/>
          <p:cNvPicPr preferRelativeResize="0"/>
          <p:nvPr/>
        </p:nvPicPr>
        <p:blipFill rotWithShape="1">
          <a:blip r:embed="rId2">
            <a:alphaModFix/>
          </a:blip>
          <a:srcRect/>
          <a:stretch/>
        </p:blipFill>
        <p:spPr>
          <a:xfrm>
            <a:off x="8024683" y="56887"/>
            <a:ext cx="908252" cy="1197106"/>
          </a:xfrm>
          <a:prstGeom prst="rect">
            <a:avLst/>
          </a:prstGeom>
          <a:noFill/>
          <a:ln>
            <a:noFill/>
          </a:ln>
        </p:spPr>
      </p:pic>
      <p:sp>
        <p:nvSpPr>
          <p:cNvPr id="100" name="Google Shape;100;p24"/>
          <p:cNvSpPr txBox="1">
            <a:spLocks noGrp="1"/>
          </p:cNvSpPr>
          <p:nvPr>
            <p:ph type="sldNum" idx="12"/>
          </p:nvPr>
        </p:nvSpPr>
        <p:spPr>
          <a:xfrm>
            <a:off x="4419600" y="4629150"/>
            <a:ext cx="2133600" cy="276226"/>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100">
              <a:solidFill>
                <a:schemeClr val="dk1"/>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Titel und Inhalt">
  <p:cSld name="Titel und Inhalt 2">
    <p:spTree>
      <p:nvGrpSpPr>
        <p:cNvPr id="1" name="Shape 101"/>
        <p:cNvGrpSpPr/>
        <p:nvPr/>
      </p:nvGrpSpPr>
      <p:grpSpPr>
        <a:xfrm>
          <a:off x="0" y="0"/>
          <a:ext cx="0" cy="0"/>
          <a:chOff x="0" y="0"/>
          <a:chExt cx="0" cy="0"/>
        </a:xfrm>
      </p:grpSpPr>
      <p:sp>
        <p:nvSpPr>
          <p:cNvPr id="102" name="Google Shape;102;p25"/>
          <p:cNvSpPr txBox="1">
            <a:spLocks noGrp="1"/>
          </p:cNvSpPr>
          <p:nvPr>
            <p:ph type="title"/>
          </p:nvPr>
        </p:nvSpPr>
        <p:spPr>
          <a:xfrm>
            <a:off x="457200" y="205980"/>
            <a:ext cx="8229600" cy="441809"/>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1100">
                <a:latin typeface="Calibri"/>
                <a:ea typeface="Calibri"/>
                <a:cs typeface="Calibri"/>
                <a:sym typeface="Calibri"/>
              </a:defRPr>
            </a:lvl1pPr>
            <a:lvl2pPr lvl="1" algn="l">
              <a:lnSpc>
                <a:spcPct val="100000"/>
              </a:lnSpc>
              <a:spcBef>
                <a:spcPts val="0"/>
              </a:spcBef>
              <a:spcAft>
                <a:spcPts val="0"/>
              </a:spcAft>
              <a:buClr>
                <a:srgbClr val="376092"/>
              </a:buClr>
              <a:buSzPts val="1400"/>
              <a:buNone/>
              <a:defRPr sz="1100"/>
            </a:lvl2pPr>
            <a:lvl3pPr lvl="2" algn="l">
              <a:lnSpc>
                <a:spcPct val="100000"/>
              </a:lnSpc>
              <a:spcBef>
                <a:spcPts val="0"/>
              </a:spcBef>
              <a:spcAft>
                <a:spcPts val="0"/>
              </a:spcAft>
              <a:buClr>
                <a:srgbClr val="376092"/>
              </a:buClr>
              <a:buSzPts val="1400"/>
              <a:buNone/>
              <a:defRPr sz="1100"/>
            </a:lvl3pPr>
            <a:lvl4pPr lvl="3" algn="l">
              <a:lnSpc>
                <a:spcPct val="100000"/>
              </a:lnSpc>
              <a:spcBef>
                <a:spcPts val="0"/>
              </a:spcBef>
              <a:spcAft>
                <a:spcPts val="0"/>
              </a:spcAft>
              <a:buClr>
                <a:srgbClr val="376092"/>
              </a:buClr>
              <a:buSzPts val="1400"/>
              <a:buNone/>
              <a:defRPr sz="1100"/>
            </a:lvl4pPr>
            <a:lvl5pPr lvl="4" algn="l">
              <a:lnSpc>
                <a:spcPct val="100000"/>
              </a:lnSpc>
              <a:spcBef>
                <a:spcPts val="0"/>
              </a:spcBef>
              <a:spcAft>
                <a:spcPts val="0"/>
              </a:spcAft>
              <a:buClr>
                <a:srgbClr val="376092"/>
              </a:buClr>
              <a:buSzPts val="1400"/>
              <a:buNone/>
              <a:defRPr sz="1100"/>
            </a:lvl5pPr>
            <a:lvl6pPr lvl="5" algn="l">
              <a:lnSpc>
                <a:spcPct val="100000"/>
              </a:lnSpc>
              <a:spcBef>
                <a:spcPts val="0"/>
              </a:spcBef>
              <a:spcAft>
                <a:spcPts val="0"/>
              </a:spcAft>
              <a:buClr>
                <a:srgbClr val="376092"/>
              </a:buClr>
              <a:buSzPts val="1400"/>
              <a:buNone/>
              <a:defRPr sz="1100"/>
            </a:lvl6pPr>
            <a:lvl7pPr lvl="6" algn="l">
              <a:lnSpc>
                <a:spcPct val="100000"/>
              </a:lnSpc>
              <a:spcBef>
                <a:spcPts val="0"/>
              </a:spcBef>
              <a:spcAft>
                <a:spcPts val="0"/>
              </a:spcAft>
              <a:buClr>
                <a:srgbClr val="376092"/>
              </a:buClr>
              <a:buSzPts val="1400"/>
              <a:buNone/>
              <a:defRPr sz="1100"/>
            </a:lvl7pPr>
            <a:lvl8pPr lvl="7" algn="l">
              <a:lnSpc>
                <a:spcPct val="100000"/>
              </a:lnSpc>
              <a:spcBef>
                <a:spcPts val="0"/>
              </a:spcBef>
              <a:spcAft>
                <a:spcPts val="0"/>
              </a:spcAft>
              <a:buClr>
                <a:srgbClr val="376092"/>
              </a:buClr>
              <a:buSzPts val="1400"/>
              <a:buNone/>
              <a:defRPr sz="1100"/>
            </a:lvl8pPr>
            <a:lvl9pPr lvl="8" algn="l">
              <a:lnSpc>
                <a:spcPct val="100000"/>
              </a:lnSpc>
              <a:spcBef>
                <a:spcPts val="0"/>
              </a:spcBef>
              <a:spcAft>
                <a:spcPts val="0"/>
              </a:spcAft>
              <a:buClr>
                <a:srgbClr val="376092"/>
              </a:buClr>
              <a:buSzPts val="1400"/>
              <a:buNone/>
              <a:defRPr sz="1100"/>
            </a:lvl9pPr>
          </a:lstStyle>
          <a:p>
            <a:endParaRPr/>
          </a:p>
        </p:txBody>
      </p:sp>
      <p:sp>
        <p:nvSpPr>
          <p:cNvPr id="103" name="Google Shape;103;p25"/>
          <p:cNvSpPr txBox="1">
            <a:spLocks noGrp="1"/>
          </p:cNvSpPr>
          <p:nvPr>
            <p:ph type="body" idx="1"/>
          </p:nvPr>
        </p:nvSpPr>
        <p:spPr>
          <a:xfrm>
            <a:off x="457200" y="884063"/>
            <a:ext cx="8229600" cy="3710561"/>
          </a:xfrm>
          <a:prstGeom prst="rect">
            <a:avLst/>
          </a:prstGeom>
          <a:noFill/>
          <a:ln>
            <a:noFill/>
          </a:ln>
        </p:spPr>
        <p:txBody>
          <a:bodyPr spcFirstLastPara="1" wrap="square" lIns="34275" tIns="34275" rIns="34275" bIns="34275" anchor="t" anchorCtr="0">
            <a:normAutofit/>
          </a:bodyPr>
          <a:lstStyle>
            <a:lvl1pPr marL="457200" lvl="0"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1pPr>
            <a:lvl2pPr marL="914400" lvl="1"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2pPr>
            <a:lvl3pPr marL="1371600" lvl="2"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3pPr>
            <a:lvl4pPr marL="1828800" lvl="3"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4pPr>
            <a:lvl5pPr marL="2286000" lvl="4" indent="-361950" algn="l">
              <a:lnSpc>
                <a:spcPct val="100000"/>
              </a:lnSpc>
              <a:spcBef>
                <a:spcPts val="500"/>
              </a:spcBef>
              <a:spcAft>
                <a:spcPts val="0"/>
              </a:spcAft>
              <a:buClr>
                <a:srgbClr val="000000"/>
              </a:buClr>
              <a:buSzPts val="2100"/>
              <a:buChar char="○"/>
              <a:defRPr sz="2100">
                <a:latin typeface="Calibri"/>
                <a:ea typeface="Calibri"/>
                <a:cs typeface="Calibri"/>
                <a:sym typeface="Calibri"/>
              </a:defRPr>
            </a:lvl5pPr>
            <a:lvl6pPr marL="2743200" lvl="5" indent="-317500" algn="l">
              <a:lnSpc>
                <a:spcPct val="100000"/>
              </a:lnSpc>
              <a:spcBef>
                <a:spcPts val="500"/>
              </a:spcBef>
              <a:spcAft>
                <a:spcPts val="0"/>
              </a:spcAft>
              <a:buClr>
                <a:srgbClr val="000000"/>
              </a:buClr>
              <a:buSzPts val="1400"/>
              <a:buChar char="■"/>
              <a:defRPr sz="1100"/>
            </a:lvl6pPr>
            <a:lvl7pPr marL="3200400" lvl="6" indent="-317500" algn="l">
              <a:lnSpc>
                <a:spcPct val="100000"/>
              </a:lnSpc>
              <a:spcBef>
                <a:spcPts val="500"/>
              </a:spcBef>
              <a:spcAft>
                <a:spcPts val="0"/>
              </a:spcAft>
              <a:buClr>
                <a:srgbClr val="000000"/>
              </a:buClr>
              <a:buSzPts val="1400"/>
              <a:buChar char="●"/>
              <a:defRPr sz="1100"/>
            </a:lvl7pPr>
            <a:lvl8pPr marL="3657600" lvl="7" indent="-317500" algn="l">
              <a:lnSpc>
                <a:spcPct val="100000"/>
              </a:lnSpc>
              <a:spcBef>
                <a:spcPts val="500"/>
              </a:spcBef>
              <a:spcAft>
                <a:spcPts val="0"/>
              </a:spcAft>
              <a:buClr>
                <a:srgbClr val="000000"/>
              </a:buClr>
              <a:buSzPts val="1400"/>
              <a:buChar char="○"/>
              <a:defRPr sz="1100"/>
            </a:lvl8pPr>
            <a:lvl9pPr marL="4114800" lvl="8" indent="-317500" algn="l">
              <a:lnSpc>
                <a:spcPct val="100000"/>
              </a:lnSpc>
              <a:spcBef>
                <a:spcPts val="500"/>
              </a:spcBef>
              <a:spcAft>
                <a:spcPts val="0"/>
              </a:spcAft>
              <a:buClr>
                <a:srgbClr val="000000"/>
              </a:buClr>
              <a:buSzPts val="1400"/>
              <a:buChar char="■"/>
              <a:defRPr sz="1100"/>
            </a:lvl9pPr>
          </a:lstStyle>
          <a:p>
            <a:endParaRPr/>
          </a:p>
        </p:txBody>
      </p:sp>
      <p:cxnSp>
        <p:nvCxnSpPr>
          <p:cNvPr id="104" name="Google Shape;104;p25"/>
          <p:cNvCxnSpPr/>
          <p:nvPr/>
        </p:nvCxnSpPr>
        <p:spPr>
          <a:xfrm>
            <a:off x="457199" y="715294"/>
            <a:ext cx="8229601" cy="1"/>
          </a:xfrm>
          <a:prstGeom prst="straightConnector1">
            <a:avLst/>
          </a:prstGeom>
          <a:noFill/>
          <a:ln w="76200" cap="flat" cmpd="sng">
            <a:solidFill>
              <a:srgbClr val="8BA4C4"/>
            </a:solidFill>
            <a:prstDash val="solid"/>
            <a:round/>
            <a:headEnd type="none" w="sm" len="sm"/>
            <a:tailEnd type="none" w="sm" len="sm"/>
          </a:ln>
          <a:effectLst>
            <a:outerShdw blurRad="50800" dist="38100" dir="2700000" rotWithShape="0">
              <a:srgbClr val="000000">
                <a:alpha val="40000"/>
              </a:srgbClr>
            </a:outerShdw>
          </a:effectLst>
        </p:spPr>
      </p:cxnSp>
      <p:sp>
        <p:nvSpPr>
          <p:cNvPr id="105" name="Google Shape;105;p25"/>
          <p:cNvSpPr txBox="1">
            <a:spLocks noGrp="1"/>
          </p:cNvSpPr>
          <p:nvPr>
            <p:ph type="sldNum" idx="12"/>
          </p:nvPr>
        </p:nvSpPr>
        <p:spPr>
          <a:xfrm>
            <a:off x="8492832" y="4803221"/>
            <a:ext cx="193968" cy="201931"/>
          </a:xfrm>
          <a:prstGeom prst="rect">
            <a:avLst/>
          </a:prstGeom>
          <a:noFill/>
          <a:ln>
            <a:noFill/>
          </a:ln>
        </p:spPr>
        <p:txBody>
          <a:bodyPr spcFirstLastPara="1" wrap="square" lIns="34275" tIns="34275" rIns="34275" bIns="342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defRPr>
            </a:lvl1pPr>
            <a:lvl2pPr marL="0" lvl="1" indent="0" algn="r">
              <a:lnSpc>
                <a:spcPct val="100000"/>
              </a:lnSpc>
              <a:spcBef>
                <a:spcPts val="0"/>
              </a:spcBef>
              <a:spcAft>
                <a:spcPts val="0"/>
              </a:spcAft>
              <a:buClr>
                <a:srgbClr val="888888"/>
              </a:buClr>
              <a:buSzPts val="900"/>
              <a:buFont typeface="Calibri"/>
              <a:buNone/>
              <a:defRPr sz="900">
                <a:solidFill>
                  <a:srgbClr val="888888"/>
                </a:solidFill>
              </a:defRPr>
            </a:lvl2pPr>
            <a:lvl3pPr marL="0" lvl="2" indent="0" algn="r">
              <a:lnSpc>
                <a:spcPct val="100000"/>
              </a:lnSpc>
              <a:spcBef>
                <a:spcPts val="0"/>
              </a:spcBef>
              <a:spcAft>
                <a:spcPts val="0"/>
              </a:spcAft>
              <a:buClr>
                <a:srgbClr val="888888"/>
              </a:buClr>
              <a:buSzPts val="900"/>
              <a:buFont typeface="Calibri"/>
              <a:buNone/>
              <a:defRPr sz="900">
                <a:solidFill>
                  <a:srgbClr val="888888"/>
                </a:solidFill>
              </a:defRPr>
            </a:lvl3pPr>
            <a:lvl4pPr marL="0" lvl="3" indent="0" algn="r">
              <a:lnSpc>
                <a:spcPct val="100000"/>
              </a:lnSpc>
              <a:spcBef>
                <a:spcPts val="0"/>
              </a:spcBef>
              <a:spcAft>
                <a:spcPts val="0"/>
              </a:spcAft>
              <a:buClr>
                <a:srgbClr val="888888"/>
              </a:buClr>
              <a:buSzPts val="900"/>
              <a:buFont typeface="Calibri"/>
              <a:buNone/>
              <a:defRPr sz="900">
                <a:solidFill>
                  <a:srgbClr val="888888"/>
                </a:solidFill>
              </a:defRPr>
            </a:lvl4pPr>
            <a:lvl5pPr marL="0" lvl="4" indent="0" algn="r">
              <a:lnSpc>
                <a:spcPct val="100000"/>
              </a:lnSpc>
              <a:spcBef>
                <a:spcPts val="0"/>
              </a:spcBef>
              <a:spcAft>
                <a:spcPts val="0"/>
              </a:spcAft>
              <a:buClr>
                <a:srgbClr val="888888"/>
              </a:buClr>
              <a:buSzPts val="900"/>
              <a:buFont typeface="Calibri"/>
              <a:buNone/>
              <a:defRPr sz="900">
                <a:solidFill>
                  <a:srgbClr val="888888"/>
                </a:solidFill>
              </a:defRPr>
            </a:lvl5pPr>
            <a:lvl6pPr marL="0" lvl="5" indent="0" algn="r">
              <a:lnSpc>
                <a:spcPct val="100000"/>
              </a:lnSpc>
              <a:spcBef>
                <a:spcPts val="0"/>
              </a:spcBef>
              <a:spcAft>
                <a:spcPts val="0"/>
              </a:spcAft>
              <a:buClr>
                <a:srgbClr val="888888"/>
              </a:buClr>
              <a:buSzPts val="900"/>
              <a:buFont typeface="Calibri"/>
              <a:buNone/>
              <a:defRPr sz="900">
                <a:solidFill>
                  <a:srgbClr val="888888"/>
                </a:solidFill>
              </a:defRPr>
            </a:lvl6pPr>
            <a:lvl7pPr marL="0" lvl="6" indent="0" algn="r">
              <a:lnSpc>
                <a:spcPct val="100000"/>
              </a:lnSpc>
              <a:spcBef>
                <a:spcPts val="0"/>
              </a:spcBef>
              <a:spcAft>
                <a:spcPts val="0"/>
              </a:spcAft>
              <a:buClr>
                <a:srgbClr val="888888"/>
              </a:buClr>
              <a:buSzPts val="900"/>
              <a:buFont typeface="Calibri"/>
              <a:buNone/>
              <a:defRPr sz="900">
                <a:solidFill>
                  <a:srgbClr val="888888"/>
                </a:solidFill>
              </a:defRPr>
            </a:lvl7pPr>
            <a:lvl8pPr marL="0" lvl="7" indent="0" algn="r">
              <a:lnSpc>
                <a:spcPct val="100000"/>
              </a:lnSpc>
              <a:spcBef>
                <a:spcPts val="0"/>
              </a:spcBef>
              <a:spcAft>
                <a:spcPts val="0"/>
              </a:spcAft>
              <a:buClr>
                <a:srgbClr val="888888"/>
              </a:buClr>
              <a:buSzPts val="900"/>
              <a:buFont typeface="Calibri"/>
              <a:buNone/>
              <a:defRPr sz="900">
                <a:solidFill>
                  <a:srgbClr val="888888"/>
                </a:solidFill>
              </a:defRPr>
            </a:lvl8pPr>
            <a:lvl9pPr marL="0" lvl="8" indent="0" algn="r">
              <a:lnSpc>
                <a:spcPct val="100000"/>
              </a:lnSpc>
              <a:spcBef>
                <a:spcPts val="0"/>
              </a:spcBef>
              <a:spcAft>
                <a:spcPts val="0"/>
              </a:spcAft>
              <a:buClr>
                <a:srgbClr val="888888"/>
              </a:buClr>
              <a:buSzPts val="900"/>
              <a:buFont typeface="Calibri"/>
              <a:buNone/>
              <a:defRPr sz="900">
                <a:solidFill>
                  <a:srgbClr val="888888"/>
                </a:solidFill>
              </a:defRPr>
            </a:lvl9pPr>
          </a:lstStyle>
          <a:p>
            <a:pPr marL="0" lvl="0" indent="0" algn="r" rtl="0">
              <a:spcBef>
                <a:spcPts val="0"/>
              </a:spcBef>
              <a:spcAft>
                <a:spcPts val="0"/>
              </a:spcAft>
              <a:buNone/>
            </a:pPr>
            <a:fld id="{00000000-1234-1234-1234-123412341234}" type="slidenum">
              <a:rPr lang="en-GB"/>
              <a:t>‹#›</a:t>
            </a:fld>
            <a:endParaRPr sz="1100">
              <a:solidFill>
                <a:schemeClr val="dk1"/>
              </a:solidFill>
            </a:endParaRPr>
          </a:p>
        </p:txBody>
      </p:sp>
      <p:sp>
        <p:nvSpPr>
          <p:cNvPr id="106" name="Google Shape;106;p25"/>
          <p:cNvSpPr txBox="1"/>
          <p:nvPr/>
        </p:nvSpPr>
        <p:spPr>
          <a:xfrm>
            <a:off x="3637756" y="4973845"/>
            <a:ext cx="1849495" cy="163831"/>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6A6A6"/>
              </a:buClr>
              <a:buSzPts val="600"/>
              <a:buFont typeface="Calibri"/>
              <a:buNone/>
            </a:pPr>
            <a:r>
              <a:rPr lang="en-GB" sz="600" b="0" i="0" u="none" strike="noStrike" cap="none">
                <a:solidFill>
                  <a:srgbClr val="A6A6A6"/>
                </a:solidFill>
                <a:latin typeface="Calibri"/>
                <a:ea typeface="Calibri"/>
                <a:cs typeface="Calibri"/>
                <a:sym typeface="Calibri"/>
              </a:rPr>
              <a:t>© Schmalstieg/Höllerer: www.augmentedrealitybook.org</a:t>
            </a:r>
            <a:endParaRPr sz="110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elfolie">
  <p:cSld name="TITLE_AND_BODY_4">
    <p:spTree>
      <p:nvGrpSpPr>
        <p:cNvPr id="1" name="Shape 107"/>
        <p:cNvGrpSpPr/>
        <p:nvPr/>
      </p:nvGrpSpPr>
      <p:grpSpPr>
        <a:xfrm>
          <a:off x="0" y="0"/>
          <a:ext cx="0" cy="0"/>
          <a:chOff x="0" y="0"/>
          <a:chExt cx="0" cy="0"/>
        </a:xfrm>
      </p:grpSpPr>
      <p:sp>
        <p:nvSpPr>
          <p:cNvPr id="108" name="Google Shape;108;p26"/>
          <p:cNvSpPr txBox="1">
            <a:spLocks noGrp="1"/>
          </p:cNvSpPr>
          <p:nvPr>
            <p:ph type="title"/>
          </p:nvPr>
        </p:nvSpPr>
        <p:spPr>
          <a:xfrm>
            <a:off x="685800" y="1597821"/>
            <a:ext cx="7772400" cy="1102519"/>
          </a:xfrm>
          <a:prstGeom prst="rect">
            <a:avLst/>
          </a:prstGeom>
          <a:noFill/>
          <a:ln>
            <a:noFill/>
          </a:ln>
        </p:spPr>
        <p:txBody>
          <a:bodyPr spcFirstLastPara="1" wrap="square" lIns="34275" tIns="34275" rIns="34275" bIns="34275" anchor="ctr" anchorCtr="0">
            <a:normAutofit/>
          </a:bodyPr>
          <a:lstStyle>
            <a:lvl1pPr lvl="0" algn="ctr">
              <a:lnSpc>
                <a:spcPct val="100000"/>
              </a:lnSpc>
              <a:spcBef>
                <a:spcPts val="0"/>
              </a:spcBef>
              <a:spcAft>
                <a:spcPts val="0"/>
              </a:spcAft>
              <a:buClr>
                <a:srgbClr val="000000"/>
              </a:buClr>
              <a:buSzPts val="3300"/>
              <a:buFont typeface="Calibri"/>
              <a:buNone/>
              <a:defRPr sz="3300">
                <a:latin typeface="Calibri"/>
                <a:ea typeface="Calibri"/>
                <a:cs typeface="Calibri"/>
                <a:sym typeface="Calibri"/>
              </a:defRPr>
            </a:lvl1pPr>
            <a:lvl2pPr lvl="1" algn="ctr">
              <a:lnSpc>
                <a:spcPct val="100000"/>
              </a:lnSpc>
              <a:spcBef>
                <a:spcPts val="0"/>
              </a:spcBef>
              <a:spcAft>
                <a:spcPts val="0"/>
              </a:spcAft>
              <a:buClr>
                <a:srgbClr val="000000"/>
              </a:buClr>
              <a:buSzPts val="700"/>
              <a:buNone/>
              <a:defRPr sz="500"/>
            </a:lvl2pPr>
            <a:lvl3pPr lvl="2" algn="ctr">
              <a:lnSpc>
                <a:spcPct val="100000"/>
              </a:lnSpc>
              <a:spcBef>
                <a:spcPts val="0"/>
              </a:spcBef>
              <a:spcAft>
                <a:spcPts val="0"/>
              </a:spcAft>
              <a:buClr>
                <a:srgbClr val="000000"/>
              </a:buClr>
              <a:buSzPts val="700"/>
              <a:buNone/>
              <a:defRPr sz="500"/>
            </a:lvl3pPr>
            <a:lvl4pPr lvl="3" algn="ctr">
              <a:lnSpc>
                <a:spcPct val="100000"/>
              </a:lnSpc>
              <a:spcBef>
                <a:spcPts val="0"/>
              </a:spcBef>
              <a:spcAft>
                <a:spcPts val="0"/>
              </a:spcAft>
              <a:buClr>
                <a:srgbClr val="000000"/>
              </a:buClr>
              <a:buSzPts val="700"/>
              <a:buNone/>
              <a:defRPr sz="500"/>
            </a:lvl4pPr>
            <a:lvl5pPr lvl="4" algn="ctr">
              <a:lnSpc>
                <a:spcPct val="100000"/>
              </a:lnSpc>
              <a:spcBef>
                <a:spcPts val="0"/>
              </a:spcBef>
              <a:spcAft>
                <a:spcPts val="0"/>
              </a:spcAft>
              <a:buClr>
                <a:srgbClr val="000000"/>
              </a:buClr>
              <a:buSzPts val="700"/>
              <a:buNone/>
              <a:defRPr sz="500"/>
            </a:lvl5pPr>
            <a:lvl6pPr lvl="5" algn="ctr">
              <a:lnSpc>
                <a:spcPct val="100000"/>
              </a:lnSpc>
              <a:spcBef>
                <a:spcPts val="0"/>
              </a:spcBef>
              <a:spcAft>
                <a:spcPts val="0"/>
              </a:spcAft>
              <a:buClr>
                <a:srgbClr val="000000"/>
              </a:buClr>
              <a:buSzPts val="700"/>
              <a:buNone/>
              <a:defRPr sz="500"/>
            </a:lvl6pPr>
            <a:lvl7pPr lvl="6" algn="ctr">
              <a:lnSpc>
                <a:spcPct val="100000"/>
              </a:lnSpc>
              <a:spcBef>
                <a:spcPts val="0"/>
              </a:spcBef>
              <a:spcAft>
                <a:spcPts val="0"/>
              </a:spcAft>
              <a:buClr>
                <a:srgbClr val="000000"/>
              </a:buClr>
              <a:buSzPts val="700"/>
              <a:buNone/>
              <a:defRPr sz="500"/>
            </a:lvl7pPr>
            <a:lvl8pPr lvl="7" algn="ctr">
              <a:lnSpc>
                <a:spcPct val="100000"/>
              </a:lnSpc>
              <a:spcBef>
                <a:spcPts val="0"/>
              </a:spcBef>
              <a:spcAft>
                <a:spcPts val="0"/>
              </a:spcAft>
              <a:buClr>
                <a:srgbClr val="000000"/>
              </a:buClr>
              <a:buSzPts val="700"/>
              <a:buNone/>
              <a:defRPr sz="500"/>
            </a:lvl8pPr>
            <a:lvl9pPr lvl="8" algn="ctr">
              <a:lnSpc>
                <a:spcPct val="100000"/>
              </a:lnSpc>
              <a:spcBef>
                <a:spcPts val="0"/>
              </a:spcBef>
              <a:spcAft>
                <a:spcPts val="0"/>
              </a:spcAft>
              <a:buClr>
                <a:srgbClr val="000000"/>
              </a:buClr>
              <a:buSzPts val="700"/>
              <a:buNone/>
              <a:defRPr sz="500"/>
            </a:lvl9pPr>
          </a:lstStyle>
          <a:p>
            <a:endParaRPr/>
          </a:p>
        </p:txBody>
      </p:sp>
      <p:sp>
        <p:nvSpPr>
          <p:cNvPr id="109" name="Google Shape;109;p26"/>
          <p:cNvSpPr txBox="1">
            <a:spLocks noGrp="1"/>
          </p:cNvSpPr>
          <p:nvPr>
            <p:ph type="sldNum" idx="12"/>
          </p:nvPr>
        </p:nvSpPr>
        <p:spPr>
          <a:xfrm>
            <a:off x="8497595" y="4800840"/>
            <a:ext cx="189205" cy="206693"/>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Titel und Inhalt">
  <p:cSld name="1_Titel und Inhalt 2">
    <p:spTree>
      <p:nvGrpSpPr>
        <p:cNvPr id="1" name="Shape 110"/>
        <p:cNvGrpSpPr/>
        <p:nvPr/>
      </p:nvGrpSpPr>
      <p:grpSpPr>
        <a:xfrm>
          <a:off x="0" y="0"/>
          <a:ext cx="0" cy="0"/>
          <a:chOff x="0" y="0"/>
          <a:chExt cx="0" cy="0"/>
        </a:xfrm>
      </p:grpSpPr>
      <p:sp>
        <p:nvSpPr>
          <p:cNvPr id="111" name="Google Shape;111;p27"/>
          <p:cNvSpPr txBox="1">
            <a:spLocks noGrp="1"/>
          </p:cNvSpPr>
          <p:nvPr>
            <p:ph type="title"/>
          </p:nvPr>
        </p:nvSpPr>
        <p:spPr>
          <a:xfrm>
            <a:off x="457200" y="205980"/>
            <a:ext cx="8229600" cy="441809"/>
          </a:xfrm>
          <a:prstGeom prst="rect">
            <a:avLst/>
          </a:prstGeom>
          <a:noFill/>
          <a:ln>
            <a:noFill/>
          </a:ln>
        </p:spPr>
        <p:txBody>
          <a:bodyPr spcFirstLastPara="1" wrap="square" lIns="34275" tIns="34275" rIns="34275" bIns="34275" anchor="ctr" anchorCtr="0">
            <a:normAutofit/>
          </a:bodyPr>
          <a:lstStyle>
            <a:lvl1pPr lvl="0" algn="l">
              <a:lnSpc>
                <a:spcPct val="100000"/>
              </a:lnSpc>
              <a:spcBef>
                <a:spcPts val="0"/>
              </a:spcBef>
              <a:spcAft>
                <a:spcPts val="0"/>
              </a:spcAft>
              <a:buClr>
                <a:srgbClr val="376092"/>
              </a:buClr>
              <a:buSzPts val="2400"/>
              <a:buFont typeface="Calibri"/>
              <a:buNone/>
              <a:defRPr sz="2400">
                <a:solidFill>
                  <a:srgbClr val="376092"/>
                </a:solidFill>
                <a:latin typeface="Calibri"/>
                <a:ea typeface="Calibri"/>
                <a:cs typeface="Calibri"/>
                <a:sym typeface="Calibri"/>
              </a:defRPr>
            </a:lvl1pPr>
            <a:lvl2pPr lvl="1" algn="ctr">
              <a:lnSpc>
                <a:spcPct val="100000"/>
              </a:lnSpc>
              <a:spcBef>
                <a:spcPts val="0"/>
              </a:spcBef>
              <a:spcAft>
                <a:spcPts val="0"/>
              </a:spcAft>
              <a:buClr>
                <a:srgbClr val="000000"/>
              </a:buClr>
              <a:buSzPts val="700"/>
              <a:buNone/>
              <a:defRPr sz="500"/>
            </a:lvl2pPr>
            <a:lvl3pPr lvl="2" algn="ctr">
              <a:lnSpc>
                <a:spcPct val="100000"/>
              </a:lnSpc>
              <a:spcBef>
                <a:spcPts val="0"/>
              </a:spcBef>
              <a:spcAft>
                <a:spcPts val="0"/>
              </a:spcAft>
              <a:buClr>
                <a:srgbClr val="000000"/>
              </a:buClr>
              <a:buSzPts val="700"/>
              <a:buNone/>
              <a:defRPr sz="500"/>
            </a:lvl3pPr>
            <a:lvl4pPr lvl="3" algn="ctr">
              <a:lnSpc>
                <a:spcPct val="100000"/>
              </a:lnSpc>
              <a:spcBef>
                <a:spcPts val="0"/>
              </a:spcBef>
              <a:spcAft>
                <a:spcPts val="0"/>
              </a:spcAft>
              <a:buClr>
                <a:srgbClr val="000000"/>
              </a:buClr>
              <a:buSzPts val="700"/>
              <a:buNone/>
              <a:defRPr sz="500"/>
            </a:lvl4pPr>
            <a:lvl5pPr lvl="4" algn="ctr">
              <a:lnSpc>
                <a:spcPct val="100000"/>
              </a:lnSpc>
              <a:spcBef>
                <a:spcPts val="0"/>
              </a:spcBef>
              <a:spcAft>
                <a:spcPts val="0"/>
              </a:spcAft>
              <a:buClr>
                <a:srgbClr val="000000"/>
              </a:buClr>
              <a:buSzPts val="700"/>
              <a:buNone/>
              <a:defRPr sz="500"/>
            </a:lvl5pPr>
            <a:lvl6pPr lvl="5" algn="ctr">
              <a:lnSpc>
                <a:spcPct val="100000"/>
              </a:lnSpc>
              <a:spcBef>
                <a:spcPts val="0"/>
              </a:spcBef>
              <a:spcAft>
                <a:spcPts val="0"/>
              </a:spcAft>
              <a:buClr>
                <a:srgbClr val="000000"/>
              </a:buClr>
              <a:buSzPts val="700"/>
              <a:buNone/>
              <a:defRPr sz="500"/>
            </a:lvl6pPr>
            <a:lvl7pPr lvl="6" algn="ctr">
              <a:lnSpc>
                <a:spcPct val="100000"/>
              </a:lnSpc>
              <a:spcBef>
                <a:spcPts val="0"/>
              </a:spcBef>
              <a:spcAft>
                <a:spcPts val="0"/>
              </a:spcAft>
              <a:buClr>
                <a:srgbClr val="000000"/>
              </a:buClr>
              <a:buSzPts val="700"/>
              <a:buNone/>
              <a:defRPr sz="500"/>
            </a:lvl7pPr>
            <a:lvl8pPr lvl="7" algn="ctr">
              <a:lnSpc>
                <a:spcPct val="100000"/>
              </a:lnSpc>
              <a:spcBef>
                <a:spcPts val="0"/>
              </a:spcBef>
              <a:spcAft>
                <a:spcPts val="0"/>
              </a:spcAft>
              <a:buClr>
                <a:srgbClr val="000000"/>
              </a:buClr>
              <a:buSzPts val="700"/>
              <a:buNone/>
              <a:defRPr sz="500"/>
            </a:lvl8pPr>
            <a:lvl9pPr lvl="8" algn="ctr">
              <a:lnSpc>
                <a:spcPct val="100000"/>
              </a:lnSpc>
              <a:spcBef>
                <a:spcPts val="0"/>
              </a:spcBef>
              <a:spcAft>
                <a:spcPts val="0"/>
              </a:spcAft>
              <a:buClr>
                <a:srgbClr val="000000"/>
              </a:buClr>
              <a:buSzPts val="700"/>
              <a:buNone/>
              <a:defRPr sz="500"/>
            </a:lvl9pPr>
          </a:lstStyle>
          <a:p>
            <a:endParaRPr/>
          </a:p>
        </p:txBody>
      </p:sp>
      <p:sp>
        <p:nvSpPr>
          <p:cNvPr id="112" name="Google Shape;112;p27"/>
          <p:cNvSpPr txBox="1">
            <a:spLocks noGrp="1"/>
          </p:cNvSpPr>
          <p:nvPr>
            <p:ph type="body" idx="1"/>
          </p:nvPr>
        </p:nvSpPr>
        <p:spPr>
          <a:xfrm>
            <a:off x="457200" y="884063"/>
            <a:ext cx="8229600" cy="3710561"/>
          </a:xfrm>
          <a:prstGeom prst="rect">
            <a:avLst/>
          </a:prstGeom>
          <a:noFill/>
          <a:ln>
            <a:noFill/>
          </a:ln>
        </p:spPr>
        <p:txBody>
          <a:bodyPr spcFirstLastPara="1" wrap="square" lIns="34275" tIns="34275" rIns="34275" bIns="34275" anchor="t" anchorCtr="0">
            <a:normAutofit/>
          </a:bodyPr>
          <a:lstStyle>
            <a:lvl1pPr marL="457200" lvl="0"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1pPr>
            <a:lvl2pPr marL="914400" lvl="1"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2pPr>
            <a:lvl3pPr marL="1371600" lvl="2"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3pPr>
            <a:lvl4pPr marL="1828800" lvl="3"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4pPr>
            <a:lvl5pPr marL="2286000" lvl="4" indent="-361950" algn="l">
              <a:lnSpc>
                <a:spcPct val="100000"/>
              </a:lnSpc>
              <a:spcBef>
                <a:spcPts val="500"/>
              </a:spcBef>
              <a:spcAft>
                <a:spcPts val="0"/>
              </a:spcAft>
              <a:buClr>
                <a:srgbClr val="000000"/>
              </a:buClr>
              <a:buSzPts val="2100"/>
              <a:buFont typeface="Arial"/>
              <a:buChar char="»"/>
              <a:defRPr sz="2100">
                <a:latin typeface="Calibri"/>
                <a:ea typeface="Calibri"/>
                <a:cs typeface="Calibri"/>
                <a:sym typeface="Calibri"/>
              </a:defRPr>
            </a:lvl5pPr>
            <a:lvl6pPr marL="2743200" lvl="5" indent="-279400" algn="l">
              <a:lnSpc>
                <a:spcPct val="100000"/>
              </a:lnSpc>
              <a:spcBef>
                <a:spcPts val="2200"/>
              </a:spcBef>
              <a:spcAft>
                <a:spcPts val="0"/>
              </a:spcAft>
              <a:buClr>
                <a:srgbClr val="000000"/>
              </a:buClr>
              <a:buSzPts val="800"/>
              <a:buChar char="■"/>
              <a:defRPr sz="500"/>
            </a:lvl6pPr>
            <a:lvl7pPr marL="3200400" lvl="6" indent="-279400" algn="l">
              <a:lnSpc>
                <a:spcPct val="100000"/>
              </a:lnSpc>
              <a:spcBef>
                <a:spcPts val="2200"/>
              </a:spcBef>
              <a:spcAft>
                <a:spcPts val="0"/>
              </a:spcAft>
              <a:buClr>
                <a:srgbClr val="000000"/>
              </a:buClr>
              <a:buSzPts val="800"/>
              <a:buChar char="●"/>
              <a:defRPr sz="500"/>
            </a:lvl7pPr>
            <a:lvl8pPr marL="3657600" lvl="7" indent="-279400" algn="l">
              <a:lnSpc>
                <a:spcPct val="100000"/>
              </a:lnSpc>
              <a:spcBef>
                <a:spcPts val="2200"/>
              </a:spcBef>
              <a:spcAft>
                <a:spcPts val="0"/>
              </a:spcAft>
              <a:buClr>
                <a:srgbClr val="000000"/>
              </a:buClr>
              <a:buSzPts val="800"/>
              <a:buChar char="○"/>
              <a:defRPr sz="500"/>
            </a:lvl8pPr>
            <a:lvl9pPr marL="4114800" lvl="8" indent="-279400" algn="l">
              <a:lnSpc>
                <a:spcPct val="100000"/>
              </a:lnSpc>
              <a:spcBef>
                <a:spcPts val="2200"/>
              </a:spcBef>
              <a:spcAft>
                <a:spcPts val="0"/>
              </a:spcAft>
              <a:buClr>
                <a:srgbClr val="000000"/>
              </a:buClr>
              <a:buSzPts val="800"/>
              <a:buChar char="■"/>
              <a:defRPr sz="500"/>
            </a:lvl9pPr>
          </a:lstStyle>
          <a:p>
            <a:endParaRPr/>
          </a:p>
        </p:txBody>
      </p:sp>
      <p:cxnSp>
        <p:nvCxnSpPr>
          <p:cNvPr id="113" name="Google Shape;113;p27"/>
          <p:cNvCxnSpPr/>
          <p:nvPr/>
        </p:nvCxnSpPr>
        <p:spPr>
          <a:xfrm>
            <a:off x="457199" y="715294"/>
            <a:ext cx="8229601" cy="0"/>
          </a:xfrm>
          <a:prstGeom prst="straightConnector1">
            <a:avLst/>
          </a:prstGeom>
          <a:noFill/>
          <a:ln w="152400" cap="flat" cmpd="sng">
            <a:solidFill>
              <a:srgbClr val="8BA4C4"/>
            </a:solidFill>
            <a:prstDash val="solid"/>
            <a:round/>
            <a:headEnd type="none" w="sm" len="sm"/>
            <a:tailEnd type="none" w="sm" len="sm"/>
          </a:ln>
          <a:effectLst>
            <a:outerShdw blurRad="101600" dist="76200" dir="2700000" rotWithShape="0">
              <a:srgbClr val="000000">
                <a:alpha val="40000"/>
              </a:srgbClr>
            </a:outerShdw>
          </a:effectLst>
        </p:spPr>
      </p:cxnSp>
      <p:sp>
        <p:nvSpPr>
          <p:cNvPr id="114" name="Google Shape;114;p27"/>
          <p:cNvSpPr txBox="1">
            <a:spLocks noGrp="1"/>
          </p:cNvSpPr>
          <p:nvPr>
            <p:ph type="sldNum" idx="12"/>
          </p:nvPr>
        </p:nvSpPr>
        <p:spPr>
          <a:xfrm>
            <a:off x="8497596" y="4800841"/>
            <a:ext cx="189204" cy="20669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5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solidFill>
                <a:schemeClr val="dk1"/>
              </a:solidFill>
              <a:latin typeface="Space Mono"/>
              <a:ea typeface="Space Mono"/>
              <a:cs typeface="Space Mono"/>
              <a:sym typeface="Space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828E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1pPr>
            <a:lvl2pPr lvl="1">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2pPr>
            <a:lvl3pPr lvl="2">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3pPr>
            <a:lvl4pPr lvl="3">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4pPr>
            <a:lvl5pPr lvl="4">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5pPr>
            <a:lvl6pPr lvl="5">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6pPr>
            <a:lvl7pPr lvl="6">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7pPr>
            <a:lvl8pPr lvl="7">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8pPr>
            <a:lvl9pPr lvl="8">
              <a:spcBef>
                <a:spcPts val="0"/>
              </a:spcBef>
              <a:spcAft>
                <a:spcPts val="0"/>
              </a:spcAft>
              <a:buClr>
                <a:schemeClr val="dk1"/>
              </a:buClr>
              <a:buSzPts val="2800"/>
              <a:buFont typeface="Space Mono"/>
              <a:buNone/>
              <a:defRPr sz="2800">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Space Mono"/>
              <a:buChar char="●"/>
              <a:defRPr sz="1800">
                <a:solidFill>
                  <a:schemeClr val="dk1"/>
                </a:solidFill>
                <a:latin typeface="Space Mono"/>
                <a:ea typeface="Space Mono"/>
                <a:cs typeface="Space Mono"/>
                <a:sym typeface="Space Mono"/>
              </a:defRPr>
            </a:lvl1pPr>
            <a:lvl2pPr marL="914400" lvl="1"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2pPr>
            <a:lvl3pPr marL="1371600" lvl="2"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3pPr>
            <a:lvl4pPr marL="1828800" lvl="3"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4pPr>
            <a:lvl5pPr marL="2286000" lvl="4"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5pPr>
            <a:lvl6pPr marL="2743200" lvl="5"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6pPr>
            <a:lvl7pPr marL="3200400" lvl="6"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7pPr>
            <a:lvl8pPr marL="3657600" lvl="7"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8pPr>
            <a:lvl9pPr marL="4114800" lvl="8" indent="-317500">
              <a:lnSpc>
                <a:spcPct val="115000"/>
              </a:lnSpc>
              <a:spcBef>
                <a:spcPts val="0"/>
              </a:spcBef>
              <a:spcAft>
                <a:spcPts val="0"/>
              </a:spcAft>
              <a:buClr>
                <a:schemeClr val="dk1"/>
              </a:buClr>
              <a:buSzPts val="1400"/>
              <a:buFont typeface="Space Mono"/>
              <a:buChar char="■"/>
              <a:defRPr>
                <a:solidFill>
                  <a:schemeClr val="dk1"/>
                </a:solidFill>
                <a:latin typeface="Space Mono"/>
                <a:ea typeface="Space Mono"/>
                <a:cs typeface="Space Mono"/>
                <a:sym typeface="Space Mon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a:solidFill>
                  <a:schemeClr val="dk1"/>
                </a:solidFill>
                <a:latin typeface="Space Mono"/>
                <a:ea typeface="Space Mono"/>
                <a:cs typeface="Space Mono"/>
                <a:sym typeface="Space Mono"/>
              </a:defRPr>
            </a:lvl1pPr>
            <a:lvl2pPr lvl="1" algn="r">
              <a:buNone/>
              <a:defRPr>
                <a:solidFill>
                  <a:schemeClr val="dk1"/>
                </a:solidFill>
                <a:latin typeface="Space Mono"/>
                <a:ea typeface="Space Mono"/>
                <a:cs typeface="Space Mono"/>
                <a:sym typeface="Space Mono"/>
              </a:defRPr>
            </a:lvl2pPr>
            <a:lvl3pPr lvl="2" algn="r">
              <a:buNone/>
              <a:defRPr>
                <a:solidFill>
                  <a:schemeClr val="dk1"/>
                </a:solidFill>
                <a:latin typeface="Space Mono"/>
                <a:ea typeface="Space Mono"/>
                <a:cs typeface="Space Mono"/>
                <a:sym typeface="Space Mono"/>
              </a:defRPr>
            </a:lvl3pPr>
            <a:lvl4pPr lvl="3" algn="r">
              <a:buNone/>
              <a:defRPr>
                <a:solidFill>
                  <a:schemeClr val="dk1"/>
                </a:solidFill>
                <a:latin typeface="Space Mono"/>
                <a:ea typeface="Space Mono"/>
                <a:cs typeface="Space Mono"/>
                <a:sym typeface="Space Mono"/>
              </a:defRPr>
            </a:lvl4pPr>
            <a:lvl5pPr lvl="4" algn="r">
              <a:buNone/>
              <a:defRPr>
                <a:solidFill>
                  <a:schemeClr val="dk1"/>
                </a:solidFill>
                <a:latin typeface="Space Mono"/>
                <a:ea typeface="Space Mono"/>
                <a:cs typeface="Space Mono"/>
                <a:sym typeface="Space Mono"/>
              </a:defRPr>
            </a:lvl5pPr>
            <a:lvl6pPr lvl="5" algn="r">
              <a:buNone/>
              <a:defRPr>
                <a:solidFill>
                  <a:schemeClr val="dk1"/>
                </a:solidFill>
                <a:latin typeface="Space Mono"/>
                <a:ea typeface="Space Mono"/>
                <a:cs typeface="Space Mono"/>
                <a:sym typeface="Space Mono"/>
              </a:defRPr>
            </a:lvl6pPr>
            <a:lvl7pPr lvl="6" algn="r">
              <a:buNone/>
              <a:defRPr>
                <a:solidFill>
                  <a:schemeClr val="dk1"/>
                </a:solidFill>
                <a:latin typeface="Space Mono"/>
                <a:ea typeface="Space Mono"/>
                <a:cs typeface="Space Mono"/>
                <a:sym typeface="Space Mono"/>
              </a:defRPr>
            </a:lvl7pPr>
            <a:lvl8pPr lvl="7" algn="r">
              <a:buNone/>
              <a:defRPr>
                <a:solidFill>
                  <a:schemeClr val="dk1"/>
                </a:solidFill>
                <a:latin typeface="Space Mono"/>
                <a:ea typeface="Space Mono"/>
                <a:cs typeface="Space Mono"/>
                <a:sym typeface="Space Mono"/>
              </a:defRPr>
            </a:lvl8pPr>
            <a:lvl9pPr lvl="8" algn="r">
              <a:buNone/>
              <a:defRPr>
                <a:solidFill>
                  <a:schemeClr val="dk1"/>
                </a:solidFill>
                <a:latin typeface="Space Mono"/>
                <a:ea typeface="Space Mono"/>
                <a:cs typeface="Space Mono"/>
                <a:sym typeface="Space Mon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8.jpg"/><Relationship Id="rId4" Type="http://schemas.openxmlformats.org/officeDocument/2006/relationships/image" Target="../media/image2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3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28.jpg"/><Relationship Id="rId6" Type="http://schemas.openxmlformats.org/officeDocument/2006/relationships/image" Target="../media/image42.jpg"/><Relationship Id="rId7" Type="http://schemas.openxmlformats.org/officeDocument/2006/relationships/image" Target="../media/image4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4.png"/><Relationship Id="rId4" Type="http://schemas.openxmlformats.org/officeDocument/2006/relationships/image" Target="../media/image4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6.png"/><Relationship Id="rId4" Type="http://schemas.openxmlformats.org/officeDocument/2006/relationships/image" Target="../media/image47.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51.png"/><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53.png"/><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55.jpg"/><Relationship Id="rId4" Type="http://schemas.openxmlformats.org/officeDocument/2006/relationships/image" Target="../media/image56.png"/><Relationship Id="rId5"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5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5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6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61.jpg"/><Relationship Id="rId4" Type="http://schemas.openxmlformats.org/officeDocument/2006/relationships/image" Target="../media/image6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63.png"/><Relationship Id="rId4" Type="http://schemas.openxmlformats.org/officeDocument/2006/relationships/image" Target="../media/image6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65.png"/><Relationship Id="rId4" Type="http://schemas.openxmlformats.org/officeDocument/2006/relationships/image" Target="../media/image6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6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hyperlink" Target="http://www.youtube.com/watch?v=kP99FT1iYis" TargetMode="External"/><Relationship Id="rId4" Type="http://schemas.openxmlformats.org/officeDocument/2006/relationships/image" Target="../media/image68.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6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hyperlink" Target="http://www.youtube.com/watch?v=hxqJJ934Reg" TargetMode="External"/><Relationship Id="rId4" Type="http://schemas.openxmlformats.org/officeDocument/2006/relationships/image" Target="../media/image70.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hyperlink" Target="http://www.youtube.com/watch?v=4BRqN9GTc4c" TargetMode="External"/><Relationship Id="rId4" Type="http://schemas.openxmlformats.org/officeDocument/2006/relationships/image" Target="../media/image7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7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7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0.xml"/><Relationship Id="rId3"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1.xml"/><Relationship Id="rId3" Type="http://schemas.openxmlformats.org/officeDocument/2006/relationships/image" Target="../media/image73.png"/><Relationship Id="rId4" Type="http://schemas.openxmlformats.org/officeDocument/2006/relationships/image" Target="../media/image7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2.xml"/><Relationship Id="rId3" Type="http://schemas.openxmlformats.org/officeDocument/2006/relationships/image" Target="../media/image73.png"/><Relationship Id="rId4" Type="http://schemas.openxmlformats.org/officeDocument/2006/relationships/image" Target="../media/image7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3.xml"/><Relationship Id="rId3" Type="http://schemas.openxmlformats.org/officeDocument/2006/relationships/image" Target="../media/image73.png"/><Relationship Id="rId4" Type="http://schemas.openxmlformats.org/officeDocument/2006/relationships/image" Target="../media/image7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4.xml"/><Relationship Id="rId3" Type="http://schemas.openxmlformats.org/officeDocument/2006/relationships/image" Target="../media/image73.png"/><Relationship Id="rId4" Type="http://schemas.openxmlformats.org/officeDocument/2006/relationships/image" Target="../media/image7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5.xml"/><Relationship Id="rId3" Type="http://schemas.openxmlformats.org/officeDocument/2006/relationships/image" Target="../media/image73.png"/><Relationship Id="rId4" Type="http://schemas.openxmlformats.org/officeDocument/2006/relationships/image" Target="../media/image7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6.xml"/><Relationship Id="rId3" Type="http://schemas.openxmlformats.org/officeDocument/2006/relationships/image" Target="../media/image73.png"/><Relationship Id="rId4" Type="http://schemas.openxmlformats.org/officeDocument/2006/relationships/image" Target="../media/image7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7.xml"/><Relationship Id="rId3" Type="http://schemas.openxmlformats.org/officeDocument/2006/relationships/image" Target="../media/image73.png"/><Relationship Id="rId4" Type="http://schemas.openxmlformats.org/officeDocument/2006/relationships/image" Target="../media/image7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8.xml"/><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 Id="rId3" Type="http://schemas.openxmlformats.org/officeDocument/2006/relationships/image" Target="../media/image7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 Id="rId3" Type="http://schemas.openxmlformats.org/officeDocument/2006/relationships/hyperlink" Target="http://www.youtube.com/watch?v=Xm46kakfvUc" TargetMode="External"/><Relationship Id="rId4" Type="http://schemas.openxmlformats.org/officeDocument/2006/relationships/image" Target="../media/image77.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 Id="rId3" Type="http://schemas.openxmlformats.org/officeDocument/2006/relationships/image" Target="../media/image7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hyperlink" Target="http://www.youtube.com/watch?v=h1bkl9PeEzM" TargetMode="External"/><Relationship Id="rId4" Type="http://schemas.openxmlformats.org/officeDocument/2006/relationships/image" Target="../media/image79.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8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hyperlink" Target="http://www.youtube.com/watch?v=RBzfN1YDBLQ" TargetMode="External"/><Relationship Id="rId4" Type="http://schemas.openxmlformats.org/officeDocument/2006/relationships/image" Target="../media/image8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 Id="rId3" Type="http://schemas.openxmlformats.org/officeDocument/2006/relationships/hyperlink" Target="http://www.youtube.com/watch?v=1Z73k44gh3Q" TargetMode="External"/><Relationship Id="rId4" Type="http://schemas.openxmlformats.org/officeDocument/2006/relationships/image" Target="../media/image82.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 Id="rId3" Type="http://schemas.openxmlformats.org/officeDocument/2006/relationships/image" Target="../media/image8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 Id="rId3" Type="http://schemas.openxmlformats.org/officeDocument/2006/relationships/image" Target="../media/image8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0.xml"/><Relationship Id="rId3" Type="http://schemas.openxmlformats.org/officeDocument/2006/relationships/image" Target="../media/image8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C8AFF"/>
        </a:solidFill>
        <a:effectLst/>
      </p:bgPr>
    </p:bg>
    <p:spTree>
      <p:nvGrpSpPr>
        <p:cNvPr id="1" name="Shape 118"/>
        <p:cNvGrpSpPr/>
        <p:nvPr/>
      </p:nvGrpSpPr>
      <p:grpSpPr>
        <a:xfrm>
          <a:off x="0" y="0"/>
          <a:ext cx="0" cy="0"/>
          <a:chOff x="0" y="0"/>
          <a:chExt cx="0" cy="0"/>
        </a:xfrm>
      </p:grpSpPr>
      <p:sp>
        <p:nvSpPr>
          <p:cNvPr id="119" name="Google Shape;119;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GB"/>
              <a:t>1</a:t>
            </a:fld>
            <a:endParaRPr/>
          </a:p>
        </p:txBody>
      </p:sp>
      <p:pic>
        <p:nvPicPr>
          <p:cNvPr id="120" name="Google Shape;120;p28"/>
          <p:cNvPicPr preferRelativeResize="0"/>
          <p:nvPr/>
        </p:nvPicPr>
        <p:blipFill rotWithShape="1">
          <a:blip r:embed="rId3">
            <a:alphaModFix/>
          </a:blip>
          <a:srcRect t="456" b="15027"/>
          <a:stretch/>
        </p:blipFill>
        <p:spPr>
          <a:xfrm>
            <a:off x="-175" y="0"/>
            <a:ext cx="9177098" cy="5143499"/>
          </a:xfrm>
          <a:prstGeom prst="rect">
            <a:avLst/>
          </a:prstGeom>
          <a:noFill/>
          <a:ln>
            <a:noFill/>
          </a:ln>
        </p:spPr>
      </p:pic>
      <p:sp>
        <p:nvSpPr>
          <p:cNvPr id="121" name="Google Shape;121;p28"/>
          <p:cNvSpPr txBox="1"/>
          <p:nvPr/>
        </p:nvSpPr>
        <p:spPr>
          <a:xfrm>
            <a:off x="408950" y="450575"/>
            <a:ext cx="7108200" cy="738600"/>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0000"/>
              </a:buClr>
              <a:buSzPts val="1100"/>
              <a:buFont typeface="Arial"/>
              <a:buNone/>
            </a:pPr>
            <a:r>
              <a:rPr lang="en-GB" sz="3000" b="1">
                <a:latin typeface="Space Mono"/>
                <a:ea typeface="Space Mono"/>
                <a:cs typeface="Space Mono"/>
                <a:sym typeface="Space Mono"/>
              </a:rPr>
              <a:t>IDI3185 - Realidad Extendida</a:t>
            </a:r>
            <a:endParaRPr sz="3000" b="1" i="0" u="none" strike="noStrike" cap="none">
              <a:solidFill>
                <a:srgbClr val="000000"/>
              </a:solidFill>
              <a:latin typeface="Space Mono"/>
              <a:ea typeface="Space Mono"/>
              <a:cs typeface="Space Mono"/>
              <a:sym typeface="Space Mono"/>
            </a:endParaRPr>
          </a:p>
        </p:txBody>
      </p:sp>
      <p:sp>
        <p:nvSpPr>
          <p:cNvPr id="122" name="Google Shape;122;p28"/>
          <p:cNvSpPr txBox="1"/>
          <p:nvPr/>
        </p:nvSpPr>
        <p:spPr>
          <a:xfrm>
            <a:off x="408950" y="1833150"/>
            <a:ext cx="4260600" cy="738600"/>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0000"/>
              </a:buClr>
              <a:buSzPts val="1100"/>
              <a:buFont typeface="Arial"/>
              <a:buNone/>
            </a:pPr>
            <a:r>
              <a:rPr lang="en-GB" sz="2400" b="1">
                <a:latin typeface="Space Mono"/>
                <a:ea typeface="Space Mono"/>
                <a:cs typeface="Space Mono"/>
                <a:sym typeface="Space Mono"/>
              </a:rPr>
              <a:t>Clase 11 - Analíticas Inmersivas y Visualización Situada</a:t>
            </a:r>
            <a:endParaRPr sz="2400" b="1" i="0" u="none" strike="noStrike" cap="none">
              <a:solidFill>
                <a:srgbClr val="000000"/>
              </a:solidFill>
              <a:latin typeface="Space Mono"/>
              <a:ea typeface="Space Mono"/>
              <a:cs typeface="Space Mono"/>
              <a:sym typeface="Space Mono"/>
            </a:endParaRPr>
          </a:p>
        </p:txBody>
      </p:sp>
      <p:sp>
        <p:nvSpPr>
          <p:cNvPr id="123" name="Google Shape;123;p28"/>
          <p:cNvSpPr txBox="1"/>
          <p:nvPr/>
        </p:nvSpPr>
        <p:spPr>
          <a:xfrm>
            <a:off x="472450" y="3215725"/>
            <a:ext cx="4518600" cy="738600"/>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0000"/>
              </a:buClr>
              <a:buSzPts val="1100"/>
              <a:buFont typeface="Arial"/>
              <a:buNone/>
            </a:pPr>
            <a:r>
              <a:rPr lang="en-GB" sz="2000" b="1">
                <a:latin typeface="Space Mono"/>
                <a:ea typeface="Space Mono"/>
                <a:cs typeface="Space Mono"/>
                <a:sym typeface="Space Mono"/>
              </a:rPr>
              <a:t>Prof. Leonel Merino</a:t>
            </a:r>
            <a:endParaRPr sz="2000" b="1">
              <a:latin typeface="Space Mono"/>
              <a:ea typeface="Space Mono"/>
              <a:cs typeface="Space Mono"/>
              <a:sym typeface="Space Mono"/>
            </a:endParaRPr>
          </a:p>
          <a:p>
            <a:pPr marL="0" marR="0" lvl="0" indent="0" algn="l" rtl="0">
              <a:lnSpc>
                <a:spcPct val="90000"/>
              </a:lnSpc>
              <a:spcBef>
                <a:spcPts val="0"/>
              </a:spcBef>
              <a:spcAft>
                <a:spcPts val="0"/>
              </a:spcAft>
              <a:buClr>
                <a:srgbClr val="000000"/>
              </a:buClr>
              <a:buSzPts val="1100"/>
              <a:buFont typeface="Arial"/>
              <a:buNone/>
            </a:pPr>
            <a:endParaRPr sz="2000" b="1">
              <a:latin typeface="Space Mono"/>
              <a:ea typeface="Space Mono"/>
              <a:cs typeface="Space Mono"/>
              <a:sym typeface="Space Mono"/>
            </a:endParaRPr>
          </a:p>
        </p:txBody>
      </p:sp>
      <p:pic>
        <p:nvPicPr>
          <p:cNvPr id="124" name="Google Shape;124;p28"/>
          <p:cNvPicPr preferRelativeResize="0"/>
          <p:nvPr/>
        </p:nvPicPr>
        <p:blipFill>
          <a:blip r:embed="rId4">
            <a:alphaModFix/>
          </a:blip>
          <a:stretch>
            <a:fillRect/>
          </a:stretch>
        </p:blipFill>
        <p:spPr>
          <a:xfrm>
            <a:off x="8269575" y="139700"/>
            <a:ext cx="751573" cy="990598"/>
          </a:xfrm>
          <a:prstGeom prst="rect">
            <a:avLst/>
          </a:prstGeom>
          <a:noFill/>
          <a:ln>
            <a:noFill/>
          </a:ln>
        </p:spPr>
      </p:pic>
      <p:sp>
        <p:nvSpPr>
          <p:cNvPr id="125" name="Google Shape;125;p28"/>
          <p:cNvSpPr txBox="1"/>
          <p:nvPr/>
        </p:nvSpPr>
        <p:spPr>
          <a:xfrm>
            <a:off x="3854125" y="4404900"/>
            <a:ext cx="1468500" cy="738600"/>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rgbClr val="000000"/>
              </a:buClr>
              <a:buSzPts val="1100"/>
              <a:buFont typeface="Arial"/>
              <a:buNone/>
            </a:pPr>
            <a:r>
              <a:rPr lang="en-GB" sz="2000" b="1">
                <a:latin typeface="Space Mono"/>
                <a:ea typeface="Space Mono"/>
                <a:cs typeface="Space Mono"/>
                <a:sym typeface="Space Mono"/>
              </a:rPr>
              <a:t>2026 - 1</a:t>
            </a:r>
            <a:endParaRPr sz="2000" b="1">
              <a:latin typeface="Space Mono"/>
              <a:ea typeface="Space Mono"/>
              <a:cs typeface="Space Mono"/>
              <a:sym typeface="Space Mono"/>
            </a:endParaRPr>
          </a:p>
        </p:txBody>
      </p:sp>
      <p:pic>
        <p:nvPicPr>
          <p:cNvPr id="126" name="Google Shape;126;p28"/>
          <p:cNvPicPr preferRelativeResize="0"/>
          <p:nvPr/>
        </p:nvPicPr>
        <p:blipFill rotWithShape="1">
          <a:blip r:embed="rId5">
            <a:alphaModFix/>
          </a:blip>
          <a:srcRect/>
          <a:stretch/>
        </p:blipFill>
        <p:spPr>
          <a:xfrm>
            <a:off x="6988254" y="152396"/>
            <a:ext cx="1281325" cy="584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7D8AFF"/>
            </a:gs>
            <a:gs pos="100000">
              <a:srgbClr val="FC83DA"/>
            </a:gs>
          </a:gsLst>
          <a:lin ang="10800025" scaled="0"/>
        </a:gradFill>
        <a:effectLst/>
      </p:bgPr>
    </p:bg>
    <p:spTree>
      <p:nvGrpSpPr>
        <p:cNvPr id="1" name="Shape 130"/>
        <p:cNvGrpSpPr/>
        <p:nvPr/>
      </p:nvGrpSpPr>
      <p:grpSpPr>
        <a:xfrm>
          <a:off x="0" y="0"/>
          <a:ext cx="0" cy="0"/>
          <a:chOff x="0" y="0"/>
          <a:chExt cx="0" cy="0"/>
        </a:xfrm>
      </p:grpSpPr>
      <p:sp>
        <p:nvSpPr>
          <p:cNvPr id="131" name="Google Shape;131;p29"/>
          <p:cNvSpPr txBox="1"/>
          <p:nvPr/>
        </p:nvSpPr>
        <p:spPr>
          <a:xfrm>
            <a:off x="2598150" y="2202450"/>
            <a:ext cx="3947700" cy="7386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GB" sz="3600" b="1">
                <a:solidFill>
                  <a:schemeClr val="dk1"/>
                </a:solidFill>
                <a:latin typeface="Space Mono"/>
                <a:ea typeface="Space Mono"/>
                <a:cs typeface="Space Mono"/>
                <a:sym typeface="Space Mono"/>
              </a:rPr>
              <a:t>Visualización Situada</a:t>
            </a:r>
            <a:endParaRPr sz="2400">
              <a:solidFill>
                <a:schemeClr val="dk1"/>
              </a:solidFill>
              <a:latin typeface="Space Mono"/>
              <a:ea typeface="Space Mono"/>
              <a:cs typeface="Space Mono"/>
              <a:sym typeface="Space Mon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0"/>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pic>
        <p:nvPicPr>
          <p:cNvPr id="137" name="Google Shape;137;p30" descr="Picture 2"/>
          <p:cNvPicPr preferRelativeResize="0"/>
          <p:nvPr/>
        </p:nvPicPr>
        <p:blipFill rotWithShape="1">
          <a:blip r:embed="rId3">
            <a:alphaModFix/>
          </a:blip>
          <a:srcRect/>
          <a:stretch/>
        </p:blipFill>
        <p:spPr>
          <a:xfrm>
            <a:off x="619225" y="1500976"/>
            <a:ext cx="3986165" cy="2987774"/>
          </a:xfrm>
          <a:prstGeom prst="rect">
            <a:avLst/>
          </a:prstGeom>
          <a:noFill/>
          <a:ln>
            <a:noFill/>
          </a:ln>
        </p:spPr>
      </p:pic>
      <p:sp>
        <p:nvSpPr>
          <p:cNvPr id="138" name="Google Shape;138;p30"/>
          <p:cNvSpPr txBox="1"/>
          <p:nvPr/>
        </p:nvSpPr>
        <p:spPr>
          <a:xfrm>
            <a:off x="396176" y="1060775"/>
            <a:ext cx="4905300" cy="4695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300" i="0" u="none" strike="noStrike" cap="none">
                <a:solidFill>
                  <a:srgbClr val="000000"/>
                </a:solidFill>
                <a:latin typeface="Space Mono"/>
                <a:ea typeface="Space Mono"/>
                <a:cs typeface="Space Mono"/>
                <a:sym typeface="Space Mono"/>
              </a:rPr>
              <a:t>Etiquetas textuales para lugares de interés arquitectónico</a:t>
            </a:r>
            <a:endParaRPr sz="1300">
              <a:latin typeface="Space Mono"/>
              <a:ea typeface="Space Mono"/>
              <a:cs typeface="Space Mono"/>
              <a:sym typeface="Space Mono"/>
            </a:endParaRPr>
          </a:p>
        </p:txBody>
      </p:sp>
      <p:sp>
        <p:nvSpPr>
          <p:cNvPr id="139" name="Google Shape;139;p30"/>
          <p:cNvSpPr txBox="1"/>
          <p:nvPr/>
        </p:nvSpPr>
        <p:spPr>
          <a:xfrm>
            <a:off x="1034851" y="4486325"/>
            <a:ext cx="22896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rgbClr val="000000"/>
                </a:solidFill>
                <a:latin typeface="Space Mono"/>
                <a:ea typeface="Space Mono"/>
                <a:cs typeface="Space Mono"/>
                <a:sym typeface="Space Mono"/>
              </a:rPr>
              <a:t>Image: Raphael Grasset</a:t>
            </a:r>
            <a:endParaRPr sz="1200">
              <a:latin typeface="Space Mono"/>
              <a:ea typeface="Space Mono"/>
              <a:cs typeface="Space Mono"/>
              <a:sym typeface="Space Mono"/>
            </a:endParaRPr>
          </a:p>
        </p:txBody>
      </p:sp>
      <p:pic>
        <p:nvPicPr>
          <p:cNvPr id="140" name="Google Shape;140;p30" descr="Picture 2"/>
          <p:cNvPicPr preferRelativeResize="0"/>
          <p:nvPr/>
        </p:nvPicPr>
        <p:blipFill rotWithShape="1">
          <a:blip r:embed="rId4">
            <a:alphaModFix/>
          </a:blip>
          <a:srcRect/>
          <a:stretch/>
        </p:blipFill>
        <p:spPr>
          <a:xfrm>
            <a:off x="4683589" y="1500975"/>
            <a:ext cx="3968436" cy="2985478"/>
          </a:xfrm>
          <a:prstGeom prst="rect">
            <a:avLst/>
          </a:prstGeom>
          <a:noFill/>
          <a:ln>
            <a:noFill/>
          </a:ln>
        </p:spPr>
      </p:pic>
      <p:sp>
        <p:nvSpPr>
          <p:cNvPr id="141" name="Google Shape;141;p30"/>
          <p:cNvSpPr txBox="1"/>
          <p:nvPr/>
        </p:nvSpPr>
        <p:spPr>
          <a:xfrm>
            <a:off x="5236300" y="1062375"/>
            <a:ext cx="3203700" cy="438600"/>
          </a:xfrm>
          <a:prstGeom prst="rect">
            <a:avLst/>
          </a:prstGeom>
          <a:noFill/>
          <a:ln>
            <a:noFill/>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Helvetica Neue"/>
              <a:buNone/>
            </a:pPr>
            <a:r>
              <a:rPr lang="en-GB" sz="1300" i="0" u="none" strike="noStrike" cap="none">
                <a:solidFill>
                  <a:srgbClr val="000000"/>
                </a:solidFill>
                <a:latin typeface="Space Mono"/>
                <a:ea typeface="Space Mono"/>
                <a:cs typeface="Space Mono"/>
                <a:sym typeface="Space Mono"/>
              </a:rPr>
              <a:t>Niveles de contaminación en la calle</a:t>
            </a:r>
            <a:endParaRPr sz="1300">
              <a:latin typeface="Space Mono"/>
              <a:ea typeface="Space Mono"/>
              <a:cs typeface="Space Mono"/>
              <a:sym typeface="Space Mono"/>
            </a:endParaRPr>
          </a:p>
        </p:txBody>
      </p:sp>
      <p:sp>
        <p:nvSpPr>
          <p:cNvPr id="142" name="Google Shape;142;p30"/>
          <p:cNvSpPr txBox="1"/>
          <p:nvPr/>
        </p:nvSpPr>
        <p:spPr>
          <a:xfrm>
            <a:off x="4843426" y="4476625"/>
            <a:ext cx="32778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rgbClr val="000000"/>
                </a:solidFill>
                <a:latin typeface="Space Mono"/>
                <a:ea typeface="Space Mono"/>
                <a:cs typeface="Space Mono"/>
                <a:sym typeface="Space Mono"/>
              </a:rPr>
              <a:t>Image: Sean White and Steve Feiner</a:t>
            </a:r>
            <a:endParaRPr sz="1200">
              <a:latin typeface="Space Mono"/>
              <a:ea typeface="Space Mono"/>
              <a:cs typeface="Space Mono"/>
              <a:sym typeface="Space Mono"/>
            </a:endParaRPr>
          </a:p>
        </p:txBody>
      </p:sp>
      <p:sp>
        <p:nvSpPr>
          <p:cNvPr id="143" name="Google Shape;143;p30"/>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
        <p:nvSpPr>
          <p:cNvPr id="144" name="Google Shape;144;p30"/>
          <p:cNvSpPr txBox="1"/>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spcBef>
                <a:spcPts val="0"/>
              </a:spcBef>
              <a:spcAft>
                <a:spcPts val="0"/>
              </a:spcAft>
              <a:buNone/>
            </a:pPr>
            <a:r>
              <a:rPr lang="en-GB" sz="2400" b="1">
                <a:latin typeface="Space Mono"/>
                <a:ea typeface="Space Mono"/>
                <a:cs typeface="Space Mono"/>
                <a:sym typeface="Space Mono"/>
              </a:rPr>
              <a:t>Ejemplos de Visualización Situada</a:t>
            </a:r>
            <a:endParaRPr sz="2400" b="1">
              <a:latin typeface="Space Mono"/>
              <a:ea typeface="Space Mono"/>
              <a:cs typeface="Space Mono"/>
              <a:sym typeface="Space Mon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31" descr="Picture 2"/>
          <p:cNvPicPr preferRelativeResize="0"/>
          <p:nvPr/>
        </p:nvPicPr>
        <p:blipFill rotWithShape="1">
          <a:blip r:embed="rId3">
            <a:alphaModFix/>
          </a:blip>
          <a:srcRect/>
          <a:stretch/>
        </p:blipFill>
        <p:spPr>
          <a:xfrm>
            <a:off x="884573" y="1794504"/>
            <a:ext cx="3542560" cy="2648744"/>
          </a:xfrm>
          <a:prstGeom prst="rect">
            <a:avLst/>
          </a:prstGeom>
          <a:noFill/>
          <a:ln>
            <a:noFill/>
          </a:ln>
        </p:spPr>
      </p:pic>
      <p:pic>
        <p:nvPicPr>
          <p:cNvPr id="150" name="Google Shape;150;p31" descr="Picture 3"/>
          <p:cNvPicPr preferRelativeResize="0"/>
          <p:nvPr/>
        </p:nvPicPr>
        <p:blipFill rotWithShape="1">
          <a:blip r:embed="rId4">
            <a:alphaModFix/>
          </a:blip>
          <a:srcRect/>
          <a:stretch/>
        </p:blipFill>
        <p:spPr>
          <a:xfrm>
            <a:off x="4602930" y="1794504"/>
            <a:ext cx="3509857" cy="2616044"/>
          </a:xfrm>
          <a:prstGeom prst="rect">
            <a:avLst/>
          </a:prstGeom>
          <a:noFill/>
          <a:ln>
            <a:noFill/>
          </a:ln>
        </p:spPr>
      </p:pic>
      <p:sp>
        <p:nvSpPr>
          <p:cNvPr id="151" name="Google Shape;151;p3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Clasificación de las plantas</a:t>
            </a:r>
            <a:endParaRPr sz="2400" b="1"/>
          </a:p>
        </p:txBody>
      </p:sp>
      <p:sp>
        <p:nvSpPr>
          <p:cNvPr id="152" name="Google Shape;152;p31"/>
          <p:cNvSpPr txBox="1"/>
          <p:nvPr/>
        </p:nvSpPr>
        <p:spPr>
          <a:xfrm>
            <a:off x="311700" y="1212700"/>
            <a:ext cx="8425200" cy="5619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Tras detectar la especie de la muestra vegetal, se recupera la información pertinente</a:t>
            </a:r>
            <a:endParaRPr sz="1600">
              <a:solidFill>
                <a:schemeClr val="dk1"/>
              </a:solidFill>
              <a:latin typeface="Space Mono"/>
              <a:ea typeface="Space Mono"/>
              <a:cs typeface="Space Mono"/>
              <a:sym typeface="Space Mono"/>
            </a:endParaRPr>
          </a:p>
        </p:txBody>
      </p:sp>
      <p:sp>
        <p:nvSpPr>
          <p:cNvPr id="153" name="Google Shape;153;p31"/>
          <p:cNvSpPr txBox="1"/>
          <p:nvPr/>
        </p:nvSpPr>
        <p:spPr>
          <a:xfrm>
            <a:off x="2824200" y="4463150"/>
            <a:ext cx="34002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Sean White and Steve Feiner</a:t>
            </a:r>
            <a:endParaRPr sz="1200">
              <a:solidFill>
                <a:schemeClr val="dk1"/>
              </a:solidFill>
              <a:latin typeface="Space Mono"/>
              <a:ea typeface="Space Mono"/>
              <a:cs typeface="Space Mono"/>
              <a:sym typeface="Space Mono"/>
            </a:endParaRPr>
          </a:p>
        </p:txBody>
      </p:sp>
      <p:sp>
        <p:nvSpPr>
          <p:cNvPr id="154" name="Google Shape;154;p31"/>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155" name="Google Shape;155;p31"/>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32" descr="Picture 2"/>
          <p:cNvPicPr preferRelativeResize="0"/>
          <p:nvPr/>
        </p:nvPicPr>
        <p:blipFill rotWithShape="1">
          <a:blip r:embed="rId3">
            <a:alphaModFix/>
          </a:blip>
          <a:srcRect/>
          <a:stretch/>
        </p:blipFill>
        <p:spPr>
          <a:xfrm>
            <a:off x="4541243" y="1268016"/>
            <a:ext cx="3739875" cy="3090270"/>
          </a:xfrm>
          <a:prstGeom prst="rect">
            <a:avLst/>
          </a:prstGeom>
          <a:noFill/>
          <a:ln>
            <a:noFill/>
          </a:ln>
        </p:spPr>
      </p:pic>
      <p:sp>
        <p:nvSpPr>
          <p:cNvPr id="161" name="Google Shape;161;p32"/>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de AR no situada</a:t>
            </a:r>
            <a:endParaRPr sz="2400" b="1"/>
          </a:p>
        </p:txBody>
      </p:sp>
      <p:sp>
        <p:nvSpPr>
          <p:cNvPr id="162" name="Google Shape;162;p32"/>
          <p:cNvSpPr txBox="1"/>
          <p:nvPr/>
        </p:nvSpPr>
        <p:spPr>
          <a:xfrm>
            <a:off x="321221" y="2175407"/>
            <a:ext cx="4172100" cy="20394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Inspeccionar una visualización AR de un modelo matemático tridimensional es una aplicación atractiva, pero no una visualización situada, porque no se hace referencia a ningún objeto del mundo real semánticamente significativo. </a:t>
            </a:r>
            <a:endParaRPr sz="1600">
              <a:solidFill>
                <a:schemeClr val="dk1"/>
              </a:solidFill>
              <a:latin typeface="Space Mono"/>
              <a:ea typeface="Space Mono"/>
              <a:cs typeface="Space Mono"/>
              <a:sym typeface="Space Mono"/>
            </a:endParaRPr>
          </a:p>
        </p:txBody>
      </p:sp>
      <p:sp>
        <p:nvSpPr>
          <p:cNvPr id="163" name="Google Shape;163;p32"/>
          <p:cNvSpPr txBox="1"/>
          <p:nvPr/>
        </p:nvSpPr>
        <p:spPr>
          <a:xfrm>
            <a:off x="5235822" y="4358275"/>
            <a:ext cx="26103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Anton Fuhrmann</a:t>
            </a:r>
            <a:endParaRPr sz="1200">
              <a:solidFill>
                <a:schemeClr val="dk1"/>
              </a:solidFill>
              <a:latin typeface="Space Mono"/>
              <a:ea typeface="Space Mono"/>
              <a:cs typeface="Space Mono"/>
              <a:sym typeface="Space Mono"/>
            </a:endParaRPr>
          </a:p>
        </p:txBody>
      </p:sp>
      <p:sp>
        <p:nvSpPr>
          <p:cNvPr id="164" name="Google Shape;164;p32"/>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165" name="Google Shape;165;p32"/>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0" name="Google Shape;170;p33" descr="Picture 2"/>
          <p:cNvPicPr preferRelativeResize="0"/>
          <p:nvPr/>
        </p:nvPicPr>
        <p:blipFill rotWithShape="1">
          <a:blip r:embed="rId3">
            <a:alphaModFix/>
          </a:blip>
          <a:srcRect/>
          <a:stretch/>
        </p:blipFill>
        <p:spPr>
          <a:xfrm>
            <a:off x="3497100" y="1392651"/>
            <a:ext cx="5138601" cy="3025625"/>
          </a:xfrm>
          <a:prstGeom prst="rect">
            <a:avLst/>
          </a:prstGeom>
          <a:noFill/>
          <a:ln>
            <a:noFill/>
          </a:ln>
        </p:spPr>
      </p:pic>
      <p:sp>
        <p:nvSpPr>
          <p:cNvPr id="171" name="Google Shape;171;p3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de datos hidrológicos</a:t>
            </a:r>
            <a:endParaRPr sz="2400" b="1"/>
          </a:p>
        </p:txBody>
      </p:sp>
      <p:sp>
        <p:nvSpPr>
          <p:cNvPr id="172" name="Google Shape;172;p33"/>
          <p:cNvSpPr txBox="1"/>
          <p:nvPr/>
        </p:nvSpPr>
        <p:spPr>
          <a:xfrm>
            <a:off x="487677" y="2245509"/>
            <a:ext cx="2878200" cy="22857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Hydrosys muestra las ubicaciones de las estaciones de una red global de sensores, así como la temperatura interpolada trazada como contornos geodésicos</a:t>
            </a:r>
            <a:endParaRPr sz="1600">
              <a:solidFill>
                <a:schemeClr val="dk1"/>
              </a:solidFill>
              <a:latin typeface="Space Mono"/>
              <a:ea typeface="Space Mono"/>
              <a:cs typeface="Space Mono"/>
              <a:sym typeface="Space Mono"/>
            </a:endParaRPr>
          </a:p>
        </p:txBody>
      </p:sp>
      <p:sp>
        <p:nvSpPr>
          <p:cNvPr id="173" name="Google Shape;173;p33"/>
          <p:cNvSpPr txBox="1"/>
          <p:nvPr/>
        </p:nvSpPr>
        <p:spPr>
          <a:xfrm>
            <a:off x="4234200" y="4418275"/>
            <a:ext cx="37617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Eduardo Veas and Ernst Kruijff</a:t>
            </a:r>
            <a:endParaRPr sz="1200">
              <a:solidFill>
                <a:schemeClr val="dk1"/>
              </a:solidFill>
              <a:latin typeface="Space Mono"/>
              <a:ea typeface="Space Mono"/>
              <a:cs typeface="Space Mono"/>
              <a:sym typeface="Space Mono"/>
            </a:endParaRPr>
          </a:p>
        </p:txBody>
      </p:sp>
      <p:sp>
        <p:nvSpPr>
          <p:cNvPr id="174" name="Google Shape;174;p33"/>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175" name="Google Shape;175;p33"/>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7D8AFF"/>
            </a:gs>
            <a:gs pos="100000">
              <a:srgbClr val="FC83DA"/>
            </a:gs>
          </a:gsLst>
          <a:lin ang="10800025" scaled="0"/>
        </a:gradFill>
        <a:effectLst/>
      </p:bgPr>
    </p:bg>
    <p:spTree>
      <p:nvGrpSpPr>
        <p:cNvPr id="1" name="Shape 179"/>
        <p:cNvGrpSpPr/>
        <p:nvPr/>
      </p:nvGrpSpPr>
      <p:grpSpPr>
        <a:xfrm>
          <a:off x="0" y="0"/>
          <a:ext cx="0" cy="0"/>
          <a:chOff x="0" y="0"/>
          <a:chExt cx="0" cy="0"/>
        </a:xfrm>
      </p:grpSpPr>
      <p:sp>
        <p:nvSpPr>
          <p:cNvPr id="180" name="Google Shape;180;p34"/>
          <p:cNvSpPr txBox="1"/>
          <p:nvPr/>
        </p:nvSpPr>
        <p:spPr>
          <a:xfrm>
            <a:off x="824100" y="2202450"/>
            <a:ext cx="7495800" cy="7386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GB" sz="3600" b="1">
                <a:solidFill>
                  <a:schemeClr val="dk1"/>
                </a:solidFill>
                <a:latin typeface="Space Mono"/>
                <a:ea typeface="Space Mono"/>
                <a:cs typeface="Space Mono"/>
                <a:sym typeface="Space Mono"/>
              </a:rPr>
              <a:t>¿Cómo diseñar una SV?</a:t>
            </a:r>
            <a:endParaRPr sz="2400">
              <a:solidFill>
                <a:schemeClr val="dk1"/>
              </a:solidFill>
              <a:latin typeface="Space Mono"/>
              <a:ea typeface="Space Mono"/>
              <a:cs typeface="Space Mono"/>
              <a:sym typeface="Space Mo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35" descr="Picture 5"/>
          <p:cNvPicPr preferRelativeResize="0"/>
          <p:nvPr/>
        </p:nvPicPr>
        <p:blipFill rotWithShape="1">
          <a:blip r:embed="rId3">
            <a:alphaModFix/>
          </a:blip>
          <a:srcRect/>
          <a:stretch/>
        </p:blipFill>
        <p:spPr>
          <a:xfrm>
            <a:off x="4847897" y="1067394"/>
            <a:ext cx="3908865" cy="3387684"/>
          </a:xfrm>
          <a:prstGeom prst="rect">
            <a:avLst/>
          </a:prstGeom>
          <a:noFill/>
          <a:ln>
            <a:noFill/>
          </a:ln>
        </p:spPr>
      </p:pic>
      <p:sp>
        <p:nvSpPr>
          <p:cNvPr id="186" name="Google Shape;186;p3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Resaltar objetos y piezas</a:t>
            </a:r>
            <a:endParaRPr sz="500" b="1"/>
          </a:p>
        </p:txBody>
      </p:sp>
      <p:sp>
        <p:nvSpPr>
          <p:cNvPr id="187" name="Google Shape;187;p35"/>
          <p:cNvSpPr txBox="1"/>
          <p:nvPr/>
        </p:nvSpPr>
        <p:spPr>
          <a:xfrm>
            <a:off x="1068114" y="2019150"/>
            <a:ext cx="3779700" cy="15468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El foco de una visualización puede ser enfatizado para evitar interferencias visuales con el fondo y para guiar la atención del espectador</a:t>
            </a:r>
            <a:endParaRPr sz="1600">
              <a:solidFill>
                <a:schemeClr val="dk1"/>
              </a:solidFill>
              <a:latin typeface="Space Mono"/>
              <a:ea typeface="Space Mono"/>
              <a:cs typeface="Space Mono"/>
              <a:sym typeface="Space Mono"/>
            </a:endParaRPr>
          </a:p>
        </p:txBody>
      </p:sp>
      <p:sp>
        <p:nvSpPr>
          <p:cNvPr id="188" name="Google Shape;188;p35"/>
          <p:cNvSpPr txBox="1"/>
          <p:nvPr/>
        </p:nvSpPr>
        <p:spPr>
          <a:xfrm>
            <a:off x="5740373" y="4407875"/>
            <a:ext cx="20820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Denis Kalkofen</a:t>
            </a:r>
            <a:endParaRPr sz="1200">
              <a:solidFill>
                <a:schemeClr val="dk1"/>
              </a:solidFill>
              <a:latin typeface="Space Mono"/>
              <a:ea typeface="Space Mono"/>
              <a:cs typeface="Space Mono"/>
              <a:sym typeface="Space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36" descr="Picture 2"/>
          <p:cNvPicPr preferRelativeResize="0"/>
          <p:nvPr/>
        </p:nvPicPr>
        <p:blipFill rotWithShape="1">
          <a:blip r:embed="rId3">
            <a:alphaModFix/>
          </a:blip>
          <a:srcRect/>
          <a:stretch/>
        </p:blipFill>
        <p:spPr>
          <a:xfrm>
            <a:off x="4016265" y="1081621"/>
            <a:ext cx="4466036" cy="3347310"/>
          </a:xfrm>
          <a:prstGeom prst="rect">
            <a:avLst/>
          </a:prstGeom>
          <a:noFill/>
          <a:ln>
            <a:noFill/>
          </a:ln>
        </p:spPr>
      </p:pic>
      <p:sp>
        <p:nvSpPr>
          <p:cNvPr id="194" name="Google Shape;194;p3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Administrar la vista</a:t>
            </a:r>
            <a:endParaRPr sz="2400" b="1"/>
          </a:p>
        </p:txBody>
      </p:sp>
      <p:sp>
        <p:nvSpPr>
          <p:cNvPr id="195" name="Google Shape;195;p36"/>
          <p:cNvSpPr txBox="1"/>
          <p:nvPr/>
        </p:nvSpPr>
        <p:spPr>
          <a:xfrm>
            <a:off x="4067504" y="4428930"/>
            <a:ext cx="4572000" cy="438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Blaine Bell and Steve Feiner, Columbia Univ.</a:t>
            </a:r>
            <a:endParaRPr sz="1200">
              <a:solidFill>
                <a:schemeClr val="dk1"/>
              </a:solidFill>
              <a:latin typeface="Space Mono"/>
              <a:ea typeface="Space Mono"/>
              <a:cs typeface="Space Mono"/>
              <a:sym typeface="Space Mono"/>
            </a:endParaRPr>
          </a:p>
        </p:txBody>
      </p:sp>
      <p:sp>
        <p:nvSpPr>
          <p:cNvPr id="196" name="Google Shape;196;p36"/>
          <p:cNvSpPr txBox="1"/>
          <p:nvPr/>
        </p:nvSpPr>
        <p:spPr>
          <a:xfrm>
            <a:off x="902578" y="2075792"/>
            <a:ext cx="2916600" cy="13005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Colocación codiciosa de </a:t>
            </a:r>
            <a:r>
              <a:rPr lang="en-GB" sz="1600" b="1" i="0" u="none" strike="noStrike" cap="none">
                <a:solidFill>
                  <a:schemeClr val="dk1"/>
                </a:solidFill>
                <a:latin typeface="Space Mono"/>
                <a:ea typeface="Space Mono"/>
                <a:cs typeface="Space Mono"/>
                <a:sym typeface="Space Mono"/>
              </a:rPr>
              <a:t>etiquetas internas</a:t>
            </a:r>
            <a:r>
              <a:rPr lang="en-GB" sz="1600" i="0" u="none" strike="noStrike" cap="none">
                <a:solidFill>
                  <a:schemeClr val="dk1"/>
                </a:solidFill>
                <a:latin typeface="Space Mono"/>
                <a:ea typeface="Space Mono"/>
                <a:cs typeface="Space Mono"/>
                <a:sym typeface="Space Mono"/>
              </a:rPr>
              <a:t> basadas en las proyecciones 2D de los objetos</a:t>
            </a:r>
            <a:endParaRPr sz="1600">
              <a:solidFill>
                <a:schemeClr val="dk1"/>
              </a:solidFill>
              <a:latin typeface="Space Mono"/>
              <a:ea typeface="Space Mono"/>
              <a:cs typeface="Space Mono"/>
              <a:sym typeface="Space Mono"/>
            </a:endParaRPr>
          </a:p>
        </p:txBody>
      </p:sp>
      <p:sp>
        <p:nvSpPr>
          <p:cNvPr id="197" name="Google Shape;197;p36"/>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198" name="Google Shape;198;p36"/>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Calidad de las etiquetas internas</a:t>
            </a:r>
            <a:endParaRPr sz="2400" b="1"/>
          </a:p>
        </p:txBody>
      </p:sp>
      <p:sp>
        <p:nvSpPr>
          <p:cNvPr id="204" name="Google Shape;204;p37"/>
          <p:cNvSpPr txBox="1">
            <a:spLocks noGrp="1"/>
          </p:cNvSpPr>
          <p:nvPr>
            <p:ph type="body" idx="4294967295"/>
          </p:nvPr>
        </p:nvSpPr>
        <p:spPr>
          <a:xfrm>
            <a:off x="311700" y="1152475"/>
            <a:ext cx="83658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Evitar la superposición de etiquetas internas</a:t>
            </a:r>
            <a:endParaRPr sz="1600"/>
          </a:p>
          <a:p>
            <a:pPr marL="304800" lvl="0" indent="-228600" algn="l" rtl="0">
              <a:lnSpc>
                <a:spcPct val="100000"/>
              </a:lnSpc>
              <a:spcBef>
                <a:spcPts val="500"/>
              </a:spcBef>
              <a:spcAft>
                <a:spcPts val="0"/>
              </a:spcAft>
              <a:buSzPts val="1600"/>
              <a:buChar char="●"/>
            </a:pPr>
            <a:r>
              <a:rPr lang="en-GB" sz="1600"/>
              <a:t>Etiquetar sólo si el centro del objeto es visible - La etiqueta aparece allí (centro)</a:t>
            </a:r>
            <a:endParaRPr sz="1600"/>
          </a:p>
          <a:p>
            <a:pPr marL="304800" lvl="0" indent="-228600" algn="l" rtl="0">
              <a:lnSpc>
                <a:spcPct val="100000"/>
              </a:lnSpc>
              <a:spcBef>
                <a:spcPts val="500"/>
              </a:spcBef>
              <a:spcAft>
                <a:spcPts val="0"/>
              </a:spcAft>
              <a:buSzPts val="1600"/>
              <a:buChar char="●"/>
            </a:pPr>
            <a:r>
              <a:rPr lang="en-GB" sz="1600"/>
              <a:t>Mover la posición de la etiqueta al centro del rectángulo visible (derecha)</a:t>
            </a:r>
            <a:endParaRPr sz="1600"/>
          </a:p>
        </p:txBody>
      </p:sp>
      <p:pic>
        <p:nvPicPr>
          <p:cNvPr id="205" name="Google Shape;205;p37" descr="Picture 3"/>
          <p:cNvPicPr preferRelativeResize="0"/>
          <p:nvPr/>
        </p:nvPicPr>
        <p:blipFill rotWithShape="1">
          <a:blip r:embed="rId3">
            <a:alphaModFix/>
          </a:blip>
          <a:srcRect/>
          <a:stretch/>
        </p:blipFill>
        <p:spPr>
          <a:xfrm>
            <a:off x="1385294" y="2740728"/>
            <a:ext cx="2052638" cy="1541861"/>
          </a:xfrm>
          <a:prstGeom prst="rect">
            <a:avLst/>
          </a:prstGeom>
          <a:noFill/>
          <a:ln>
            <a:noFill/>
          </a:ln>
        </p:spPr>
      </p:pic>
      <p:pic>
        <p:nvPicPr>
          <p:cNvPr id="206" name="Google Shape;206;p37" descr="Picture 4"/>
          <p:cNvPicPr preferRelativeResize="0"/>
          <p:nvPr/>
        </p:nvPicPr>
        <p:blipFill rotWithShape="1">
          <a:blip r:embed="rId4">
            <a:alphaModFix/>
          </a:blip>
          <a:srcRect/>
          <a:stretch/>
        </p:blipFill>
        <p:spPr>
          <a:xfrm>
            <a:off x="3546278" y="2740729"/>
            <a:ext cx="2051448" cy="1540670"/>
          </a:xfrm>
          <a:prstGeom prst="rect">
            <a:avLst/>
          </a:prstGeom>
          <a:noFill/>
          <a:ln>
            <a:noFill/>
          </a:ln>
        </p:spPr>
      </p:pic>
      <p:pic>
        <p:nvPicPr>
          <p:cNvPr id="207" name="Google Shape;207;p37" descr="Picture 5"/>
          <p:cNvPicPr preferRelativeResize="0"/>
          <p:nvPr/>
        </p:nvPicPr>
        <p:blipFill rotWithShape="1">
          <a:blip r:embed="rId5">
            <a:alphaModFix/>
          </a:blip>
          <a:srcRect/>
          <a:stretch/>
        </p:blipFill>
        <p:spPr>
          <a:xfrm>
            <a:off x="5706072" y="2740728"/>
            <a:ext cx="2052638" cy="1541861"/>
          </a:xfrm>
          <a:prstGeom prst="rect">
            <a:avLst/>
          </a:prstGeom>
          <a:noFill/>
          <a:ln>
            <a:noFill/>
          </a:ln>
        </p:spPr>
      </p:pic>
      <p:sp>
        <p:nvSpPr>
          <p:cNvPr id="208" name="Google Shape;208;p37"/>
          <p:cNvSpPr txBox="1"/>
          <p:nvPr/>
        </p:nvSpPr>
        <p:spPr>
          <a:xfrm>
            <a:off x="2230502" y="4290625"/>
            <a:ext cx="49884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Blaine Bell and Steve Feiner, Columbia Univ.</a:t>
            </a:r>
            <a:endParaRPr sz="1200">
              <a:solidFill>
                <a:schemeClr val="dk1"/>
              </a:solidFill>
              <a:latin typeface="Space Mono"/>
              <a:ea typeface="Space Mono"/>
              <a:cs typeface="Space Mono"/>
              <a:sym typeface="Space Mono"/>
            </a:endParaRPr>
          </a:p>
        </p:txBody>
      </p:sp>
      <p:sp>
        <p:nvSpPr>
          <p:cNvPr id="209" name="Google Shape;209;p37"/>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10" name="Google Shape;210;p37"/>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38" descr="Picture 2"/>
          <p:cNvPicPr preferRelativeResize="0"/>
          <p:nvPr/>
        </p:nvPicPr>
        <p:blipFill rotWithShape="1">
          <a:blip r:embed="rId3">
            <a:alphaModFix/>
          </a:blip>
          <a:srcRect/>
          <a:stretch/>
        </p:blipFill>
        <p:spPr>
          <a:xfrm>
            <a:off x="4544410" y="1180683"/>
            <a:ext cx="4505967" cy="3341987"/>
          </a:xfrm>
          <a:prstGeom prst="rect">
            <a:avLst/>
          </a:prstGeom>
          <a:noFill/>
          <a:ln>
            <a:noFill/>
          </a:ln>
        </p:spPr>
      </p:pic>
      <p:sp>
        <p:nvSpPr>
          <p:cNvPr id="216" name="Google Shape;216;p38"/>
          <p:cNvSpPr txBox="1">
            <a:spLocks noGrp="1"/>
          </p:cNvSpPr>
          <p:nvPr>
            <p:ph type="title"/>
          </p:nvPr>
        </p:nvSpPr>
        <p:spPr>
          <a:xfrm>
            <a:off x="311700" y="445025"/>
            <a:ext cx="87387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del nivel de error</a:t>
            </a:r>
            <a:endParaRPr sz="2400" b="1"/>
          </a:p>
        </p:txBody>
      </p:sp>
      <p:sp>
        <p:nvSpPr>
          <p:cNvPr id="217" name="Google Shape;217;p38"/>
          <p:cNvSpPr txBox="1"/>
          <p:nvPr/>
        </p:nvSpPr>
        <p:spPr>
          <a:xfrm>
            <a:off x="5743787" y="4522675"/>
            <a:ext cx="21072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Enylton Coelho</a:t>
            </a:r>
            <a:endParaRPr sz="1200">
              <a:solidFill>
                <a:schemeClr val="dk1"/>
              </a:solidFill>
              <a:latin typeface="Space Mono"/>
              <a:ea typeface="Space Mono"/>
              <a:cs typeface="Space Mono"/>
              <a:sym typeface="Space Mono"/>
            </a:endParaRPr>
          </a:p>
        </p:txBody>
      </p:sp>
      <p:sp>
        <p:nvSpPr>
          <p:cNvPr id="218" name="Google Shape;218;p38"/>
          <p:cNvSpPr txBox="1"/>
          <p:nvPr/>
        </p:nvSpPr>
        <p:spPr>
          <a:xfrm>
            <a:off x="311700" y="1180675"/>
            <a:ext cx="4130700" cy="1941000"/>
          </a:xfrm>
          <a:prstGeom prst="rect">
            <a:avLst/>
          </a:prstGeom>
          <a:noFill/>
          <a:ln>
            <a:noFill/>
          </a:ln>
        </p:spPr>
        <p:txBody>
          <a:bodyPr spcFirstLastPara="1" wrap="square" lIns="34275" tIns="34275" rIns="34275" bIns="34275" anchor="t" anchorCtr="0">
            <a:noAutofit/>
          </a:bodyPr>
          <a:lstStyle/>
          <a:p>
            <a:pPr marL="190500" marR="0" lvl="0" indent="-133350" algn="l" rtl="0">
              <a:lnSpc>
                <a:spcPct val="100000"/>
              </a:lnSpc>
              <a:spcBef>
                <a:spcPts val="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Inexistencia de ambigüedad</a:t>
            </a:r>
            <a:endParaRPr sz="1500">
              <a:solidFill>
                <a:schemeClr val="dk1"/>
              </a:solidFill>
              <a:latin typeface="Space Mono"/>
              <a:ea typeface="Space Mono"/>
              <a:cs typeface="Space Mono"/>
              <a:sym typeface="Space Mono"/>
            </a:endParaRPr>
          </a:p>
          <a:p>
            <a:pPr marL="457200" marR="0" lvl="0" indent="0" algn="l" rtl="0">
              <a:lnSpc>
                <a:spcPct val="100000"/>
              </a:lnSpc>
              <a:spcBef>
                <a:spcPts val="0"/>
              </a:spcBef>
              <a:spcAft>
                <a:spcPts val="0"/>
              </a:spcAft>
              <a:buNone/>
            </a:pPr>
            <a:endParaRPr sz="1500">
              <a:solidFill>
                <a:schemeClr val="dk1"/>
              </a:solidFill>
              <a:latin typeface="Space Mono"/>
              <a:ea typeface="Space Mono"/>
              <a:cs typeface="Space Mono"/>
              <a:sym typeface="Space Mono"/>
            </a:endParaRPr>
          </a:p>
          <a:p>
            <a:pPr marL="190500" marR="0" lvl="0" indent="-133350" algn="l" rtl="0">
              <a:lnSpc>
                <a:spcPct val="100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La vinculación mental entre el objeto y la etiqueta debe ser fácil</a:t>
            </a:r>
            <a:endParaRPr sz="1500" i="0" u="none" strike="noStrike" cap="none">
              <a:solidFill>
                <a:schemeClr val="dk1"/>
              </a:solidFill>
              <a:latin typeface="Space Mono"/>
              <a:ea typeface="Space Mono"/>
              <a:cs typeface="Space Mono"/>
              <a:sym typeface="Space Mono"/>
            </a:endParaRPr>
          </a:p>
          <a:p>
            <a:pPr marL="457200" marR="0" lvl="0" indent="0" algn="l" rtl="0">
              <a:lnSpc>
                <a:spcPct val="100000"/>
              </a:lnSpc>
              <a:spcBef>
                <a:spcPts val="600"/>
              </a:spcBef>
              <a:spcAft>
                <a:spcPts val="0"/>
              </a:spcAft>
              <a:buNone/>
            </a:pPr>
            <a:endParaRPr sz="1500">
              <a:solidFill>
                <a:schemeClr val="dk1"/>
              </a:solidFill>
              <a:latin typeface="Space Mono"/>
              <a:ea typeface="Space Mono"/>
              <a:cs typeface="Space Mono"/>
              <a:sym typeface="Space Mono"/>
            </a:endParaRPr>
          </a:p>
          <a:p>
            <a:pPr marL="190500" marR="0" lvl="0" indent="-133350" algn="l" rtl="0">
              <a:lnSpc>
                <a:spcPct val="100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Interno </a:t>
            </a:r>
            <a:endParaRPr sz="1500">
              <a:solidFill>
                <a:schemeClr val="dk1"/>
              </a:solidFill>
              <a:latin typeface="Space Mono"/>
              <a:ea typeface="Space Mono"/>
              <a:cs typeface="Space Mono"/>
              <a:sym typeface="Space Mono"/>
            </a:endParaRPr>
          </a:p>
        </p:txBody>
      </p:sp>
      <p:sp>
        <p:nvSpPr>
          <p:cNvPr id="219" name="Google Shape;219;p38"/>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20" name="Google Shape;220;p38"/>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del nivel de error</a:t>
            </a:r>
            <a:endParaRPr sz="2400" b="1"/>
          </a:p>
        </p:txBody>
      </p:sp>
      <p:sp>
        <p:nvSpPr>
          <p:cNvPr id="226" name="Google Shape;226;p39"/>
          <p:cNvSpPr txBox="1"/>
          <p:nvPr/>
        </p:nvSpPr>
        <p:spPr>
          <a:xfrm>
            <a:off x="441425" y="1180675"/>
            <a:ext cx="3999600" cy="2893200"/>
          </a:xfrm>
          <a:prstGeom prst="rect">
            <a:avLst/>
          </a:prstGeom>
          <a:noFill/>
          <a:ln>
            <a:noFill/>
          </a:ln>
        </p:spPr>
        <p:txBody>
          <a:bodyPr spcFirstLastPara="1" wrap="square" lIns="34275" tIns="34275" rIns="34275" bIns="34275" anchor="t" anchorCtr="0">
            <a:noAutofit/>
          </a:bodyPr>
          <a:lstStyle/>
          <a:p>
            <a:pPr marL="0" marR="0" lvl="0" indent="0" algn="l" rtl="0">
              <a:lnSpc>
                <a:spcPct val="81000"/>
              </a:lnSpc>
              <a:spcBef>
                <a:spcPts val="600"/>
              </a:spcBef>
              <a:spcAft>
                <a:spcPts val="0"/>
              </a:spcAft>
              <a:buNone/>
            </a:pPr>
            <a:endParaRPr sz="1500">
              <a:solidFill>
                <a:schemeClr val="dk1"/>
              </a:solidFill>
              <a:latin typeface="Space Mono"/>
              <a:ea typeface="Space Mono"/>
              <a:cs typeface="Space Mono"/>
              <a:sym typeface="Space Mono"/>
            </a:endParaRPr>
          </a:p>
          <a:p>
            <a:pPr marL="190500" marR="0" lvl="0" indent="-133350" algn="l" rtl="0">
              <a:lnSpc>
                <a:spcPct val="81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Coloque la etiqueta sobre las regiones más destacadas para identificar fácilmente el objeto etiquetado</a:t>
            </a:r>
            <a:endParaRPr sz="1500">
              <a:solidFill>
                <a:schemeClr val="dk1"/>
              </a:solidFill>
              <a:latin typeface="Space Mono"/>
              <a:ea typeface="Space Mono"/>
              <a:cs typeface="Space Mono"/>
              <a:sym typeface="Space Mono"/>
            </a:endParaRPr>
          </a:p>
          <a:p>
            <a:pPr marL="190500" marR="0" lvl="0" indent="-133350" algn="l" rtl="0">
              <a:lnSpc>
                <a:spcPct val="81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No coloque la etiqueta en regiones muy estrechas, mantenga el espacio suficiente para identificar el objeto subyacente</a:t>
            </a:r>
            <a:endParaRPr sz="1500">
              <a:solidFill>
                <a:schemeClr val="dk1"/>
              </a:solidFill>
              <a:latin typeface="Space Mono"/>
              <a:ea typeface="Space Mono"/>
              <a:cs typeface="Space Mono"/>
              <a:sym typeface="Space Mono"/>
            </a:endParaRPr>
          </a:p>
          <a:p>
            <a:pPr marL="190500" marR="0" lvl="0" indent="-133350" algn="l" rtl="0">
              <a:lnSpc>
                <a:spcPct val="81000"/>
              </a:lnSpc>
              <a:spcBef>
                <a:spcPts val="60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La etiqueta no debe sobrepasar la huella de los objetos y, en ese caso, se debe pasar al etiquetado externo </a:t>
            </a:r>
            <a:endParaRPr sz="1500">
              <a:solidFill>
                <a:schemeClr val="dk1"/>
              </a:solidFill>
              <a:latin typeface="Space Mono"/>
              <a:ea typeface="Space Mono"/>
              <a:cs typeface="Space Mono"/>
              <a:sym typeface="Space Mono"/>
            </a:endParaRPr>
          </a:p>
        </p:txBody>
      </p:sp>
      <p:sp>
        <p:nvSpPr>
          <p:cNvPr id="227" name="Google Shape;227;p39"/>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28" name="Google Shape;228;p39"/>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0"/>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Legibilidad de las etiquetas</a:t>
            </a:r>
            <a:endParaRPr sz="2400" b="1"/>
          </a:p>
        </p:txBody>
      </p:sp>
      <p:pic>
        <p:nvPicPr>
          <p:cNvPr id="234" name="Google Shape;234;p40" descr="Picture 2"/>
          <p:cNvPicPr preferRelativeResize="0"/>
          <p:nvPr/>
        </p:nvPicPr>
        <p:blipFill rotWithShape="1">
          <a:blip r:embed="rId3">
            <a:alphaModFix/>
          </a:blip>
          <a:srcRect/>
          <a:stretch/>
        </p:blipFill>
        <p:spPr>
          <a:xfrm>
            <a:off x="5475685" y="1762125"/>
            <a:ext cx="2066926" cy="2755107"/>
          </a:xfrm>
          <a:prstGeom prst="rect">
            <a:avLst/>
          </a:prstGeom>
          <a:noFill/>
          <a:ln>
            <a:noFill/>
          </a:ln>
        </p:spPr>
      </p:pic>
      <p:cxnSp>
        <p:nvCxnSpPr>
          <p:cNvPr id="235" name="Google Shape;235;p40"/>
          <p:cNvCxnSpPr/>
          <p:nvPr/>
        </p:nvCxnSpPr>
        <p:spPr>
          <a:xfrm rot="10800000">
            <a:off x="6948488" y="2518172"/>
            <a:ext cx="864395" cy="1079898"/>
          </a:xfrm>
          <a:prstGeom prst="straightConnector1">
            <a:avLst/>
          </a:prstGeom>
          <a:noFill/>
          <a:ln w="50800" cap="flat" cmpd="sng">
            <a:solidFill>
              <a:srgbClr val="FB4807"/>
            </a:solidFill>
            <a:prstDash val="solid"/>
            <a:round/>
            <a:headEnd type="none" w="sm" len="sm"/>
            <a:tailEnd type="none" w="sm" len="sm"/>
          </a:ln>
        </p:spPr>
      </p:cxnSp>
      <p:sp>
        <p:nvSpPr>
          <p:cNvPr id="236" name="Google Shape;236;p40"/>
          <p:cNvSpPr txBox="1"/>
          <p:nvPr/>
        </p:nvSpPr>
        <p:spPr>
          <a:xfrm>
            <a:off x="5474500" y="4601775"/>
            <a:ext cx="19179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Alex Leykin</a:t>
            </a:r>
            <a:endParaRPr sz="1200">
              <a:solidFill>
                <a:schemeClr val="dk1"/>
              </a:solidFill>
              <a:latin typeface="Space Mono"/>
              <a:ea typeface="Space Mono"/>
              <a:cs typeface="Space Mono"/>
              <a:sym typeface="Space Mono"/>
            </a:endParaRPr>
          </a:p>
        </p:txBody>
      </p:sp>
      <p:pic>
        <p:nvPicPr>
          <p:cNvPr id="237" name="Google Shape;237;p40" descr="Picture 5"/>
          <p:cNvPicPr preferRelativeResize="0"/>
          <p:nvPr/>
        </p:nvPicPr>
        <p:blipFill rotWithShape="1">
          <a:blip r:embed="rId3">
            <a:alphaModFix/>
          </a:blip>
          <a:srcRect l="45944" t="15594" r="24342" b="70587"/>
          <a:stretch/>
        </p:blipFill>
        <p:spPr>
          <a:xfrm>
            <a:off x="6407944" y="3543300"/>
            <a:ext cx="1566863" cy="971551"/>
          </a:xfrm>
          <a:prstGeom prst="rect">
            <a:avLst/>
          </a:prstGeom>
          <a:noFill/>
          <a:ln w="50800" cap="flat" cmpd="sng">
            <a:solidFill>
              <a:srgbClr val="FB4807"/>
            </a:solidFill>
            <a:prstDash val="solid"/>
            <a:round/>
            <a:headEnd type="none" w="sm" len="sm"/>
            <a:tailEnd type="none" w="sm" len="sm"/>
          </a:ln>
        </p:spPr>
      </p:pic>
      <p:sp>
        <p:nvSpPr>
          <p:cNvPr id="239" name="Google Shape;239;p40"/>
          <p:cNvSpPr txBox="1">
            <a:spLocks noGrp="1"/>
          </p:cNvSpPr>
          <p:nvPr>
            <p:ph type="body" idx="4294967295"/>
          </p:nvPr>
        </p:nvSpPr>
        <p:spPr>
          <a:xfrm>
            <a:off x="311700" y="1152475"/>
            <a:ext cx="5057700" cy="3416400"/>
          </a:xfrm>
          <a:prstGeom prst="rect">
            <a:avLst/>
          </a:prstGeom>
          <a:noFill/>
          <a:ln>
            <a:noFill/>
          </a:ln>
        </p:spPr>
        <p:txBody>
          <a:bodyPr spcFirstLastPara="1" wrap="square" lIns="34275" tIns="34275" rIns="34275" bIns="34275" anchor="t" anchorCtr="0">
            <a:normAutofit/>
          </a:bodyPr>
          <a:lstStyle/>
          <a:p>
            <a:pPr marL="292100" lvl="0" indent="-228600" algn="l" rtl="0">
              <a:lnSpc>
                <a:spcPct val="100000"/>
              </a:lnSpc>
              <a:spcBef>
                <a:spcPts val="0"/>
              </a:spcBef>
              <a:spcAft>
                <a:spcPts val="0"/>
              </a:spcAft>
              <a:buSzPts val="1600"/>
              <a:buChar char="●"/>
            </a:pPr>
            <a:r>
              <a:rPr lang="en-GB" sz="1600"/>
              <a:t>Contraste de fondo</a:t>
            </a:r>
            <a:endParaRPr sz="1600"/>
          </a:p>
          <a:p>
            <a:pPr marL="292100" lvl="0" indent="-228600" algn="l" rtl="0">
              <a:lnSpc>
                <a:spcPct val="100000"/>
              </a:lnSpc>
              <a:spcBef>
                <a:spcPts val="500"/>
              </a:spcBef>
              <a:spcAft>
                <a:spcPts val="0"/>
              </a:spcAft>
              <a:buSzPts val="1600"/>
              <a:buChar char="●"/>
            </a:pPr>
            <a:r>
              <a:rPr lang="en-GB" sz="1600"/>
              <a:t>Etiqueta interna</a:t>
            </a:r>
            <a:endParaRPr sz="1600"/>
          </a:p>
          <a:p>
            <a:pPr marL="292100" lvl="0" indent="-228600" algn="l" rtl="0">
              <a:lnSpc>
                <a:spcPct val="100000"/>
              </a:lnSpc>
              <a:spcBef>
                <a:spcPts val="500"/>
              </a:spcBef>
              <a:spcAft>
                <a:spcPts val="0"/>
              </a:spcAft>
              <a:buSzPts val="1600"/>
              <a:buChar char="●"/>
            </a:pPr>
            <a:r>
              <a:rPr lang="en-GB" sz="1600"/>
              <a:t>La alta curvatura reduce la legibilidad, en caso de etiquetas alineadas con el objeto, cambiar a la alineación horizontal</a:t>
            </a:r>
            <a:endParaRPr sz="1600"/>
          </a:p>
          <a:p>
            <a:pPr marL="292100" lvl="0" indent="-228600" algn="l" rtl="0">
              <a:lnSpc>
                <a:spcPct val="100000"/>
              </a:lnSpc>
              <a:spcBef>
                <a:spcPts val="500"/>
              </a:spcBef>
              <a:spcAft>
                <a:spcPts val="0"/>
              </a:spcAft>
              <a:buSzPts val="1600"/>
              <a:buChar char="●"/>
            </a:pPr>
            <a:r>
              <a:rPr lang="en-GB" sz="1600"/>
              <a:t>Si el objeto no ofrece suficiente espacio, cambiar a etiqueta externa en lugar de apretar la etiqueta</a:t>
            </a:r>
            <a:endParaRPr sz="1600"/>
          </a:p>
        </p:txBody>
      </p:sp>
      <p:sp>
        <p:nvSpPr>
          <p:cNvPr id="240" name="Google Shape;240;p40"/>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41" name="Google Shape;241;p40"/>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4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Discriminación automática del fondo</a:t>
            </a:r>
            <a:endParaRPr sz="2400" b="1"/>
          </a:p>
        </p:txBody>
      </p:sp>
      <p:sp>
        <p:nvSpPr>
          <p:cNvPr id="247" name="Google Shape;247;p41"/>
          <p:cNvSpPr txBox="1"/>
          <p:nvPr/>
        </p:nvSpPr>
        <p:spPr>
          <a:xfrm>
            <a:off x="5474503" y="4554150"/>
            <a:ext cx="18408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Alex Leykin</a:t>
            </a:r>
            <a:endParaRPr sz="1200">
              <a:solidFill>
                <a:schemeClr val="dk1"/>
              </a:solidFill>
              <a:latin typeface="Space Mono"/>
              <a:ea typeface="Space Mono"/>
              <a:cs typeface="Space Mono"/>
              <a:sym typeface="Space Mono"/>
            </a:endParaRPr>
          </a:p>
        </p:txBody>
      </p:sp>
      <p:pic>
        <p:nvPicPr>
          <p:cNvPr id="248" name="Google Shape;248;p41" descr="Picture 3"/>
          <p:cNvPicPr preferRelativeResize="0"/>
          <p:nvPr/>
        </p:nvPicPr>
        <p:blipFill rotWithShape="1">
          <a:blip r:embed="rId3">
            <a:alphaModFix/>
          </a:blip>
          <a:srcRect/>
          <a:stretch/>
        </p:blipFill>
        <p:spPr>
          <a:xfrm>
            <a:off x="5474494" y="1226344"/>
            <a:ext cx="2524125" cy="3286125"/>
          </a:xfrm>
          <a:prstGeom prst="rect">
            <a:avLst/>
          </a:prstGeom>
          <a:noFill/>
          <a:ln>
            <a:noFill/>
          </a:ln>
        </p:spPr>
      </p:pic>
      <p:sp>
        <p:nvSpPr>
          <p:cNvPr id="249" name="Google Shape;249;p41"/>
          <p:cNvSpPr txBox="1">
            <a:spLocks noGrp="1"/>
          </p:cNvSpPr>
          <p:nvPr>
            <p:ph type="body" idx="4294967295"/>
          </p:nvPr>
        </p:nvSpPr>
        <p:spPr>
          <a:xfrm>
            <a:off x="311700" y="1152475"/>
            <a:ext cx="5116800" cy="3416400"/>
          </a:xfrm>
          <a:prstGeom prst="rect">
            <a:avLst/>
          </a:prstGeom>
          <a:noFill/>
          <a:ln>
            <a:noFill/>
          </a:ln>
        </p:spPr>
        <p:txBody>
          <a:bodyPr spcFirstLastPara="1" wrap="square" lIns="34275" tIns="34275" rIns="34275" bIns="34275" anchor="t" anchorCtr="0">
            <a:normAutofit/>
          </a:bodyPr>
          <a:lstStyle/>
          <a:p>
            <a:pPr marL="292100" lvl="0" indent="-215900" algn="l" rtl="0">
              <a:lnSpc>
                <a:spcPct val="100000"/>
              </a:lnSpc>
              <a:spcBef>
                <a:spcPts val="0"/>
              </a:spcBef>
              <a:spcAft>
                <a:spcPts val="0"/>
              </a:spcAft>
              <a:buSzPts val="1600"/>
              <a:buChar char="●"/>
            </a:pPr>
            <a:r>
              <a:rPr lang="en-GB" sz="1600"/>
              <a:t>Determinar la legibilidad evaluando</a:t>
            </a:r>
            <a:endParaRPr sz="1600"/>
          </a:p>
          <a:p>
            <a:pPr marL="431800" lvl="1" indent="-215900" algn="l" rtl="0">
              <a:lnSpc>
                <a:spcPct val="100000"/>
              </a:lnSpc>
              <a:spcBef>
                <a:spcPts val="400"/>
              </a:spcBef>
              <a:spcAft>
                <a:spcPts val="0"/>
              </a:spcAft>
              <a:buSzPts val="1600"/>
              <a:buChar char="•"/>
            </a:pPr>
            <a:r>
              <a:rPr lang="en-GB" sz="1600"/>
              <a:t>Contraste: diferencia entre las intensidades medias del texto y del entorno</a:t>
            </a:r>
            <a:endParaRPr sz="1600"/>
          </a:p>
          <a:p>
            <a:pPr marL="292100" lvl="0" indent="-215900" algn="l" rtl="0">
              <a:lnSpc>
                <a:spcPct val="100000"/>
              </a:lnSpc>
              <a:spcBef>
                <a:spcPts val="400"/>
              </a:spcBef>
              <a:spcAft>
                <a:spcPts val="0"/>
              </a:spcAft>
              <a:buSzPts val="1600"/>
              <a:buChar char="●"/>
            </a:pPr>
            <a:r>
              <a:rPr lang="en-GB" sz="1600"/>
              <a:t>En caso de etiquetas ilegibles</a:t>
            </a:r>
            <a:endParaRPr sz="1600"/>
          </a:p>
          <a:p>
            <a:pPr marL="431800" lvl="1" indent="-215900" algn="l" rtl="0">
              <a:lnSpc>
                <a:spcPct val="100000"/>
              </a:lnSpc>
              <a:spcBef>
                <a:spcPts val="400"/>
              </a:spcBef>
              <a:spcAft>
                <a:spcPts val="0"/>
              </a:spcAft>
              <a:buSzPts val="1600"/>
              <a:buChar char="•"/>
            </a:pPr>
            <a:r>
              <a:rPr lang="en-GB" sz="1600"/>
              <a:t>Reposicionar la etiqueta en la zona clasificada como legible, puede cambiar de interna a externa</a:t>
            </a:r>
            <a:endParaRPr sz="1600"/>
          </a:p>
          <a:p>
            <a:pPr marL="431800" lvl="1" indent="-215900" algn="l" rtl="0">
              <a:lnSpc>
                <a:spcPct val="100000"/>
              </a:lnSpc>
              <a:spcBef>
                <a:spcPts val="400"/>
              </a:spcBef>
              <a:spcAft>
                <a:spcPts val="0"/>
              </a:spcAft>
              <a:buSzPts val="1600"/>
              <a:buChar char="•"/>
            </a:pPr>
            <a:r>
              <a:rPr lang="en-GB" sz="1600"/>
              <a:t>Añadir un fondo opaco y sintético detrás de la etiqueta </a:t>
            </a:r>
            <a:endParaRPr sz="1600"/>
          </a:p>
          <a:p>
            <a:pPr marL="431800" lvl="1" indent="-215900" algn="l" rtl="0">
              <a:lnSpc>
                <a:spcPct val="100000"/>
              </a:lnSpc>
              <a:spcBef>
                <a:spcPts val="400"/>
              </a:spcBef>
              <a:spcAft>
                <a:spcPts val="0"/>
              </a:spcAft>
              <a:buSzPts val="1600"/>
              <a:buChar char="•"/>
            </a:pPr>
            <a:r>
              <a:rPr lang="en-GB" sz="1600"/>
              <a:t>Por ejemplo, etiquetas con rectángulo delimitador 2D</a:t>
            </a:r>
            <a:endParaRPr sz="1600"/>
          </a:p>
        </p:txBody>
      </p:sp>
      <p:sp>
        <p:nvSpPr>
          <p:cNvPr id="250" name="Google Shape;250;p41"/>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51" name="Google Shape;251;p41"/>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2"/>
          <p:cNvSpPr txBox="1">
            <a:spLocks noGrp="1"/>
          </p:cNvSpPr>
          <p:nvPr>
            <p:ph type="title"/>
          </p:nvPr>
        </p:nvSpPr>
        <p:spPr>
          <a:xfrm>
            <a:off x="336975" y="453450"/>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Saliencia para la gestión de la vista</a:t>
            </a:r>
            <a:endParaRPr sz="2400" b="1"/>
          </a:p>
        </p:txBody>
      </p:sp>
      <p:pic>
        <p:nvPicPr>
          <p:cNvPr id="257" name="Google Shape;257;p42" descr="Picture 4"/>
          <p:cNvPicPr preferRelativeResize="0"/>
          <p:nvPr/>
        </p:nvPicPr>
        <p:blipFill rotWithShape="1">
          <a:blip r:embed="rId3">
            <a:alphaModFix/>
          </a:blip>
          <a:srcRect/>
          <a:stretch/>
        </p:blipFill>
        <p:spPr>
          <a:xfrm>
            <a:off x="4863860" y="2287927"/>
            <a:ext cx="3302679" cy="2180286"/>
          </a:xfrm>
          <a:prstGeom prst="rect">
            <a:avLst/>
          </a:prstGeom>
          <a:noFill/>
          <a:ln>
            <a:noFill/>
          </a:ln>
        </p:spPr>
      </p:pic>
      <p:grpSp>
        <p:nvGrpSpPr>
          <p:cNvPr id="258" name="Google Shape;258;p42"/>
          <p:cNvGrpSpPr/>
          <p:nvPr/>
        </p:nvGrpSpPr>
        <p:grpSpPr>
          <a:xfrm>
            <a:off x="4142261" y="2104871"/>
            <a:ext cx="1049272" cy="252321"/>
            <a:chOff x="0" y="0"/>
            <a:chExt cx="2798058" cy="672856"/>
          </a:xfrm>
        </p:grpSpPr>
        <p:sp>
          <p:nvSpPr>
            <p:cNvPr id="259" name="Google Shape;259;p42"/>
            <p:cNvSpPr/>
            <p:nvPr/>
          </p:nvSpPr>
          <p:spPr>
            <a:xfrm>
              <a:off x="0" y="0"/>
              <a:ext cx="2798058" cy="672856"/>
            </a:xfrm>
            <a:custGeom>
              <a:avLst/>
              <a:gdLst/>
              <a:ahLst/>
              <a:cxnLst/>
              <a:rect l="l" t="t" r="r" b="b"/>
              <a:pathLst>
                <a:path w="21600" h="21600" extrusionOk="0">
                  <a:moveTo>
                    <a:pt x="18117" y="21600"/>
                  </a:moveTo>
                  <a:lnTo>
                    <a:pt x="14116" y="16200"/>
                  </a:lnTo>
                  <a:lnTo>
                    <a:pt x="16016" y="16200"/>
                  </a:lnTo>
                  <a:cubicBezTo>
                    <a:pt x="15088" y="6663"/>
                    <a:pt x="11848" y="0"/>
                    <a:pt x="8137" y="0"/>
                  </a:cubicBezTo>
                  <a:lnTo>
                    <a:pt x="11822" y="0"/>
                  </a:lnTo>
                  <a:cubicBezTo>
                    <a:pt x="15532" y="0"/>
                    <a:pt x="18773" y="6663"/>
                    <a:pt x="19700" y="16200"/>
                  </a:cubicBezTo>
                  <a:lnTo>
                    <a:pt x="21600" y="16200"/>
                  </a:lnTo>
                  <a:close/>
                  <a:moveTo>
                    <a:pt x="9979" y="561"/>
                  </a:moveTo>
                  <a:cubicBezTo>
                    <a:pt x="6293" y="2835"/>
                    <a:pt x="3685" y="11555"/>
                    <a:pt x="3685" y="21600"/>
                  </a:cubicBezTo>
                  <a:lnTo>
                    <a:pt x="0" y="21600"/>
                  </a:lnTo>
                  <a:cubicBezTo>
                    <a:pt x="0" y="9671"/>
                    <a:pt x="3643" y="0"/>
                    <a:pt x="8137" y="0"/>
                  </a:cubicBezTo>
                  <a:cubicBezTo>
                    <a:pt x="8757" y="0"/>
                    <a:pt x="9375" y="188"/>
                    <a:pt x="9979" y="561"/>
                  </a:cubicBezTo>
                  <a:close/>
                </a:path>
              </a:pathLst>
            </a:custGeom>
            <a:solidFill>
              <a:srgbClr val="ED7D31"/>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260" name="Google Shape;260;p42"/>
            <p:cNvSpPr/>
            <p:nvPr/>
          </p:nvSpPr>
          <p:spPr>
            <a:xfrm>
              <a:off x="0" y="0"/>
              <a:ext cx="1292733" cy="672856"/>
            </a:xfrm>
            <a:custGeom>
              <a:avLst/>
              <a:gdLst/>
              <a:ahLst/>
              <a:cxnLst/>
              <a:rect l="l" t="t" r="r" b="b"/>
              <a:pathLst>
                <a:path w="21600" h="21600" extrusionOk="0">
                  <a:moveTo>
                    <a:pt x="21600" y="561"/>
                  </a:moveTo>
                  <a:cubicBezTo>
                    <a:pt x="13622" y="2835"/>
                    <a:pt x="7975" y="11555"/>
                    <a:pt x="7975" y="21600"/>
                  </a:cubicBezTo>
                  <a:lnTo>
                    <a:pt x="0" y="21600"/>
                  </a:lnTo>
                  <a:cubicBezTo>
                    <a:pt x="0" y="9671"/>
                    <a:pt x="7885" y="0"/>
                    <a:pt x="17613" y="0"/>
                  </a:cubicBezTo>
                  <a:cubicBezTo>
                    <a:pt x="18955" y="0"/>
                    <a:pt x="20293" y="188"/>
                    <a:pt x="21600" y="561"/>
                  </a:cubicBezTo>
                  <a:close/>
                </a:path>
              </a:pathLst>
            </a:custGeom>
            <a:solidFill>
              <a:srgbClr val="000000">
                <a:alpha val="20000"/>
              </a:srgbClr>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261" name="Google Shape;261;p42"/>
            <p:cNvSpPr/>
            <p:nvPr/>
          </p:nvSpPr>
          <p:spPr>
            <a:xfrm>
              <a:off x="0" y="0"/>
              <a:ext cx="2798058" cy="672856"/>
            </a:xfrm>
            <a:custGeom>
              <a:avLst/>
              <a:gdLst/>
              <a:ahLst/>
              <a:cxnLst/>
              <a:rect l="l" t="t" r="r" b="b"/>
              <a:pathLst>
                <a:path w="21600" h="21600" extrusionOk="0">
                  <a:moveTo>
                    <a:pt x="9979" y="561"/>
                  </a:moveTo>
                  <a:cubicBezTo>
                    <a:pt x="6293" y="2835"/>
                    <a:pt x="3685" y="11555"/>
                    <a:pt x="3685" y="21600"/>
                  </a:cubicBezTo>
                  <a:lnTo>
                    <a:pt x="0" y="21600"/>
                  </a:lnTo>
                  <a:cubicBezTo>
                    <a:pt x="0" y="9671"/>
                    <a:pt x="3643" y="0"/>
                    <a:pt x="8137" y="0"/>
                  </a:cubicBezTo>
                  <a:lnTo>
                    <a:pt x="11822" y="0"/>
                  </a:lnTo>
                  <a:cubicBezTo>
                    <a:pt x="15532" y="0"/>
                    <a:pt x="18773" y="6663"/>
                    <a:pt x="19700" y="16200"/>
                  </a:cubicBezTo>
                  <a:lnTo>
                    <a:pt x="21600" y="16200"/>
                  </a:lnTo>
                  <a:lnTo>
                    <a:pt x="18117" y="21600"/>
                  </a:lnTo>
                  <a:lnTo>
                    <a:pt x="14116" y="16200"/>
                  </a:lnTo>
                  <a:lnTo>
                    <a:pt x="16016" y="16200"/>
                  </a:lnTo>
                  <a:cubicBezTo>
                    <a:pt x="15088" y="6663"/>
                    <a:pt x="11848" y="0"/>
                    <a:pt x="8137" y="0"/>
                  </a:cubicBezTo>
                </a:path>
              </a:pathLst>
            </a:custGeom>
            <a:noFill/>
            <a:ln w="25400" cap="flat" cmpd="sng">
              <a:solidFill>
                <a:srgbClr val="843C0B"/>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grpSp>
      <p:pic>
        <p:nvPicPr>
          <p:cNvPr id="262" name="Google Shape;262;p42" descr="Picture 5"/>
          <p:cNvPicPr preferRelativeResize="0"/>
          <p:nvPr/>
        </p:nvPicPr>
        <p:blipFill rotWithShape="1">
          <a:blip r:embed="rId4">
            <a:alphaModFix/>
          </a:blip>
          <a:srcRect/>
          <a:stretch/>
        </p:blipFill>
        <p:spPr>
          <a:xfrm>
            <a:off x="1081693" y="2287927"/>
            <a:ext cx="3302679" cy="2180286"/>
          </a:xfrm>
          <a:prstGeom prst="rect">
            <a:avLst/>
          </a:prstGeom>
          <a:noFill/>
          <a:ln>
            <a:noFill/>
          </a:ln>
        </p:spPr>
      </p:pic>
      <p:sp>
        <p:nvSpPr>
          <p:cNvPr id="263" name="Google Shape;263;p42"/>
          <p:cNvSpPr txBox="1"/>
          <p:nvPr/>
        </p:nvSpPr>
        <p:spPr>
          <a:xfrm>
            <a:off x="1057916" y="1487819"/>
            <a:ext cx="2983500" cy="808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La colocación ingenua de las etiquetas ocluye los objetos de interés</a:t>
            </a:r>
            <a:endParaRPr sz="1600">
              <a:solidFill>
                <a:schemeClr val="dk1"/>
              </a:solidFill>
              <a:latin typeface="Space Mono"/>
              <a:ea typeface="Space Mono"/>
              <a:cs typeface="Space Mono"/>
              <a:sym typeface="Space Mono"/>
            </a:endParaRPr>
          </a:p>
        </p:txBody>
      </p:sp>
      <p:sp>
        <p:nvSpPr>
          <p:cNvPr id="264" name="Google Shape;264;p42"/>
          <p:cNvSpPr txBox="1"/>
          <p:nvPr/>
        </p:nvSpPr>
        <p:spPr>
          <a:xfrm>
            <a:off x="3251638" y="4506171"/>
            <a:ext cx="45720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Raphael Grasset</a:t>
            </a:r>
            <a:endParaRPr sz="1200">
              <a:solidFill>
                <a:schemeClr val="dk1"/>
              </a:solidFill>
              <a:latin typeface="Space Mono"/>
              <a:ea typeface="Space Mono"/>
              <a:cs typeface="Space Mono"/>
              <a:sym typeface="Space Mono"/>
            </a:endParaRPr>
          </a:p>
        </p:txBody>
      </p:sp>
      <p:sp>
        <p:nvSpPr>
          <p:cNvPr id="265" name="Google Shape;265;p42"/>
          <p:cNvSpPr txBox="1"/>
          <p:nvPr/>
        </p:nvSpPr>
        <p:spPr>
          <a:xfrm>
            <a:off x="4863649" y="1250800"/>
            <a:ext cx="3993900" cy="10542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La colocación guiada por saliencia evita las oclusiones y prefiere las zonas vacías, como el cielo</a:t>
            </a:r>
            <a:endParaRPr sz="1600">
              <a:solidFill>
                <a:schemeClr val="dk1"/>
              </a:solidFill>
              <a:latin typeface="Space Mono"/>
              <a:ea typeface="Space Mono"/>
              <a:cs typeface="Space Mono"/>
              <a:sym typeface="Space Mono"/>
            </a:endParaRPr>
          </a:p>
        </p:txBody>
      </p:sp>
      <p:sp>
        <p:nvSpPr>
          <p:cNvPr id="266" name="Google Shape;266;p42"/>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67" name="Google Shape;267;p42"/>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43" descr="Picture 2"/>
          <p:cNvPicPr preferRelativeResize="0"/>
          <p:nvPr/>
        </p:nvPicPr>
        <p:blipFill rotWithShape="1">
          <a:blip r:embed="rId3">
            <a:alphaModFix/>
          </a:blip>
          <a:srcRect/>
          <a:stretch/>
        </p:blipFill>
        <p:spPr>
          <a:xfrm>
            <a:off x="1228503" y="1817553"/>
            <a:ext cx="3293075" cy="2475924"/>
          </a:xfrm>
          <a:prstGeom prst="rect">
            <a:avLst/>
          </a:prstGeom>
          <a:noFill/>
          <a:ln>
            <a:noFill/>
          </a:ln>
        </p:spPr>
      </p:pic>
      <p:pic>
        <p:nvPicPr>
          <p:cNvPr id="273" name="Google Shape;273;p43" descr="Picture 3"/>
          <p:cNvPicPr preferRelativeResize="0"/>
          <p:nvPr/>
        </p:nvPicPr>
        <p:blipFill rotWithShape="1">
          <a:blip r:embed="rId4">
            <a:alphaModFix/>
          </a:blip>
          <a:srcRect/>
          <a:stretch/>
        </p:blipFill>
        <p:spPr>
          <a:xfrm>
            <a:off x="4770056" y="1801039"/>
            <a:ext cx="3325698" cy="2482448"/>
          </a:xfrm>
          <a:prstGeom prst="rect">
            <a:avLst/>
          </a:prstGeom>
          <a:noFill/>
          <a:ln>
            <a:noFill/>
          </a:ln>
        </p:spPr>
      </p:pic>
      <p:sp>
        <p:nvSpPr>
          <p:cNvPr id="274" name="Google Shape;274;p4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Detección de puntos de interés para la gestión de vistas</a:t>
            </a:r>
            <a:endParaRPr sz="2400" b="1"/>
          </a:p>
        </p:txBody>
      </p:sp>
      <p:sp>
        <p:nvSpPr>
          <p:cNvPr id="275" name="Google Shape;275;p43"/>
          <p:cNvSpPr txBox="1"/>
          <p:nvPr/>
        </p:nvSpPr>
        <p:spPr>
          <a:xfrm>
            <a:off x="3424077" y="4328325"/>
            <a:ext cx="24258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Gerhard Reitmayr</a:t>
            </a:r>
            <a:endParaRPr sz="1200">
              <a:solidFill>
                <a:schemeClr val="dk1"/>
              </a:solidFill>
              <a:latin typeface="Space Mono"/>
              <a:ea typeface="Space Mono"/>
              <a:cs typeface="Space Mono"/>
              <a:sym typeface="Space Mono"/>
            </a:endParaRPr>
          </a:p>
        </p:txBody>
      </p:sp>
      <p:sp>
        <p:nvSpPr>
          <p:cNvPr id="276" name="Google Shape;276;p43"/>
          <p:cNvSpPr txBox="1"/>
          <p:nvPr/>
        </p:nvSpPr>
        <p:spPr>
          <a:xfrm>
            <a:off x="1228500" y="1478050"/>
            <a:ext cx="6867300" cy="315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Desplazar la etiqueta a las zonas con poca textura</a:t>
            </a:r>
            <a:endParaRPr sz="1600">
              <a:solidFill>
                <a:schemeClr val="dk1"/>
              </a:solidFill>
              <a:latin typeface="Space Mono"/>
              <a:ea typeface="Space Mono"/>
              <a:cs typeface="Space Mono"/>
              <a:sym typeface="Space Mono"/>
            </a:endParaRPr>
          </a:p>
        </p:txBody>
      </p:sp>
      <p:sp>
        <p:nvSpPr>
          <p:cNvPr id="277" name="Google Shape;277;p43"/>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78" name="Google Shape;278;p43"/>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44" descr="Picture 2"/>
          <p:cNvPicPr preferRelativeResize="0"/>
          <p:nvPr/>
        </p:nvPicPr>
        <p:blipFill rotWithShape="1">
          <a:blip r:embed="rId3">
            <a:alphaModFix/>
          </a:blip>
          <a:srcRect/>
          <a:stretch/>
        </p:blipFill>
        <p:spPr>
          <a:xfrm>
            <a:off x="4737200" y="1308475"/>
            <a:ext cx="3758200" cy="3198750"/>
          </a:xfrm>
          <a:prstGeom prst="rect">
            <a:avLst/>
          </a:prstGeom>
          <a:noFill/>
          <a:ln>
            <a:noFill/>
          </a:ln>
        </p:spPr>
      </p:pic>
      <p:sp>
        <p:nvSpPr>
          <p:cNvPr id="284" name="Google Shape;284;p44"/>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Colocación de etiquetas temporalmente incoherentes</a:t>
            </a:r>
            <a:endParaRPr sz="2400" b="1"/>
          </a:p>
        </p:txBody>
      </p:sp>
      <p:sp>
        <p:nvSpPr>
          <p:cNvPr id="285" name="Google Shape;285;p44"/>
          <p:cNvSpPr txBox="1"/>
          <p:nvPr/>
        </p:nvSpPr>
        <p:spPr>
          <a:xfrm>
            <a:off x="496061" y="1343593"/>
            <a:ext cx="3951000" cy="35325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500" i="0" u="none" strike="noStrike" cap="none">
                <a:solidFill>
                  <a:schemeClr val="dk1"/>
                </a:solidFill>
                <a:latin typeface="Space Mono"/>
                <a:ea typeface="Space Mono"/>
                <a:cs typeface="Space Mono"/>
                <a:sym typeface="Space Mono"/>
              </a:rPr>
              <a:t>Incluso si se encuentra una disposición adecuada para un punto de vista, puede dar lugar a varios tipos de</a:t>
            </a:r>
            <a:endParaRPr sz="1500">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a:buNone/>
            </a:pPr>
            <a:r>
              <a:rPr lang="en-GB" sz="1500" i="0" u="none" strike="noStrike" cap="none">
                <a:solidFill>
                  <a:schemeClr val="dk1"/>
                </a:solidFill>
                <a:latin typeface="Space Mono"/>
                <a:ea typeface="Space Mono"/>
                <a:cs typeface="Space Mono"/>
                <a:sym typeface="Space Mono"/>
              </a:rPr>
              <a:t>oclusiones para otro punto de vista:</a:t>
            </a:r>
            <a:endParaRPr sz="1500">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a:buNone/>
            </a:pPr>
            <a:endParaRPr sz="1500" i="0" u="none" strike="noStrike" cap="none">
              <a:solidFill>
                <a:schemeClr val="dk1"/>
              </a:solidFill>
              <a:latin typeface="Space Mono"/>
              <a:ea typeface="Space Mono"/>
              <a:cs typeface="Space Mono"/>
              <a:sym typeface="Space Mono"/>
            </a:endParaRPr>
          </a:p>
          <a:p>
            <a:pPr marL="139700" marR="0" lvl="0" indent="-146050" algn="l" rtl="0">
              <a:lnSpc>
                <a:spcPct val="100000"/>
              </a:lnSpc>
              <a:spcBef>
                <a:spcPts val="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Anotaciones que se ocluyen entre sí</a:t>
            </a:r>
            <a:endParaRPr sz="1500">
              <a:solidFill>
                <a:schemeClr val="dk1"/>
              </a:solidFill>
              <a:latin typeface="Space Mono"/>
              <a:ea typeface="Space Mono"/>
              <a:cs typeface="Space Mono"/>
              <a:sym typeface="Space Mono"/>
            </a:endParaRPr>
          </a:p>
          <a:p>
            <a:pPr marL="139700" marR="0" lvl="0" indent="-50800" algn="l" rtl="0">
              <a:lnSpc>
                <a:spcPct val="100000"/>
              </a:lnSpc>
              <a:spcBef>
                <a:spcPts val="0"/>
              </a:spcBef>
              <a:spcAft>
                <a:spcPts val="0"/>
              </a:spcAft>
              <a:buClr>
                <a:srgbClr val="000000"/>
              </a:buClr>
              <a:buSzPts val="1400"/>
              <a:buFont typeface="Helvetica Neue"/>
              <a:buNone/>
            </a:pPr>
            <a:endParaRPr sz="1500" i="0" u="none" strike="noStrike" cap="none">
              <a:solidFill>
                <a:schemeClr val="dk1"/>
              </a:solidFill>
              <a:latin typeface="Space Mono"/>
              <a:ea typeface="Space Mono"/>
              <a:cs typeface="Space Mono"/>
              <a:sym typeface="Space Mono"/>
            </a:endParaRPr>
          </a:p>
          <a:p>
            <a:pPr marL="139700" marR="0" lvl="0" indent="-146050" algn="l" rtl="0">
              <a:lnSpc>
                <a:spcPct val="100000"/>
              </a:lnSpc>
              <a:spcBef>
                <a:spcPts val="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Anotaciones que ocluyen el objeto de interés</a:t>
            </a:r>
            <a:endParaRPr sz="1500">
              <a:solidFill>
                <a:schemeClr val="dk1"/>
              </a:solidFill>
              <a:latin typeface="Space Mono"/>
              <a:ea typeface="Space Mono"/>
              <a:cs typeface="Space Mono"/>
              <a:sym typeface="Space Mono"/>
            </a:endParaRPr>
          </a:p>
          <a:p>
            <a:pPr marL="139700" marR="0" lvl="0" indent="-50800" algn="l" rtl="0">
              <a:lnSpc>
                <a:spcPct val="100000"/>
              </a:lnSpc>
              <a:spcBef>
                <a:spcPts val="0"/>
              </a:spcBef>
              <a:spcAft>
                <a:spcPts val="0"/>
              </a:spcAft>
              <a:buClr>
                <a:srgbClr val="000000"/>
              </a:buClr>
              <a:buSzPts val="1400"/>
              <a:buFont typeface="Helvetica Neue"/>
              <a:buNone/>
            </a:pPr>
            <a:endParaRPr sz="1500" i="0" u="none" strike="noStrike" cap="none">
              <a:solidFill>
                <a:schemeClr val="dk1"/>
              </a:solidFill>
              <a:latin typeface="Space Mono"/>
              <a:ea typeface="Space Mono"/>
              <a:cs typeface="Space Mono"/>
              <a:sym typeface="Space Mono"/>
            </a:endParaRPr>
          </a:p>
          <a:p>
            <a:pPr marL="139700" marR="0" lvl="0" indent="-146050" algn="l" rtl="0">
              <a:lnSpc>
                <a:spcPct val="100000"/>
              </a:lnSpc>
              <a:spcBef>
                <a:spcPts val="0"/>
              </a:spcBef>
              <a:spcAft>
                <a:spcPts val="0"/>
              </a:spcAft>
              <a:buClr>
                <a:schemeClr val="dk1"/>
              </a:buClr>
              <a:buSzPts val="1500"/>
              <a:buFont typeface="Space Mono"/>
              <a:buChar char="•"/>
            </a:pPr>
            <a:r>
              <a:rPr lang="en-GB" sz="1500" i="0" u="none" strike="noStrike" cap="none">
                <a:solidFill>
                  <a:schemeClr val="dk1"/>
                </a:solidFill>
                <a:latin typeface="Space Mono"/>
                <a:ea typeface="Space Mono"/>
                <a:cs typeface="Space Mono"/>
                <a:sym typeface="Space Mono"/>
              </a:rPr>
              <a:t>líneas de guiado que se cruzan entre sí</a:t>
            </a:r>
            <a:endParaRPr sz="1500">
              <a:solidFill>
                <a:schemeClr val="dk1"/>
              </a:solidFill>
              <a:latin typeface="Space Mono"/>
              <a:ea typeface="Space Mono"/>
              <a:cs typeface="Space Mono"/>
              <a:sym typeface="Space Mono"/>
            </a:endParaRPr>
          </a:p>
        </p:txBody>
      </p:sp>
      <p:sp>
        <p:nvSpPr>
          <p:cNvPr id="286" name="Google Shape;286;p44"/>
          <p:cNvSpPr txBox="1"/>
          <p:nvPr/>
        </p:nvSpPr>
        <p:spPr>
          <a:xfrm>
            <a:off x="4650828" y="4499331"/>
            <a:ext cx="45720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Markus Tatzgern and Denis Kalkofen</a:t>
            </a:r>
            <a:endParaRPr sz="1200">
              <a:solidFill>
                <a:schemeClr val="dk1"/>
              </a:solidFill>
              <a:latin typeface="Space Mono"/>
              <a:ea typeface="Space Mono"/>
              <a:cs typeface="Space Mono"/>
              <a:sym typeface="Space Mono"/>
            </a:endParaRPr>
          </a:p>
        </p:txBody>
      </p:sp>
      <p:sp>
        <p:nvSpPr>
          <p:cNvPr id="287" name="Google Shape;287;p44"/>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88" name="Google Shape;288;p44"/>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93" name="Google Shape;293;p45" descr="Picture 3"/>
          <p:cNvPicPr preferRelativeResize="0"/>
          <p:nvPr/>
        </p:nvPicPr>
        <p:blipFill rotWithShape="1">
          <a:blip r:embed="rId3">
            <a:alphaModFix/>
          </a:blip>
          <a:srcRect/>
          <a:stretch/>
        </p:blipFill>
        <p:spPr>
          <a:xfrm>
            <a:off x="4844036" y="1750098"/>
            <a:ext cx="3669622" cy="2449552"/>
          </a:xfrm>
          <a:prstGeom prst="rect">
            <a:avLst/>
          </a:prstGeom>
          <a:noFill/>
          <a:ln>
            <a:noFill/>
          </a:ln>
        </p:spPr>
      </p:pic>
      <p:pic>
        <p:nvPicPr>
          <p:cNvPr id="294" name="Google Shape;294;p45" descr="Picture 2"/>
          <p:cNvPicPr preferRelativeResize="0"/>
          <p:nvPr/>
        </p:nvPicPr>
        <p:blipFill rotWithShape="1">
          <a:blip r:embed="rId4">
            <a:alphaModFix/>
          </a:blip>
          <a:srcRect/>
          <a:stretch/>
        </p:blipFill>
        <p:spPr>
          <a:xfrm>
            <a:off x="686462" y="1750098"/>
            <a:ext cx="3675896" cy="2449552"/>
          </a:xfrm>
          <a:prstGeom prst="rect">
            <a:avLst/>
          </a:prstGeom>
          <a:noFill/>
          <a:ln>
            <a:noFill/>
          </a:ln>
        </p:spPr>
      </p:pic>
      <p:sp>
        <p:nvSpPr>
          <p:cNvPr id="295" name="Google Shape;295;p4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Cruce de las líneas guía</a:t>
            </a:r>
            <a:endParaRPr sz="2400" b="1"/>
          </a:p>
        </p:txBody>
      </p:sp>
      <p:sp>
        <p:nvSpPr>
          <p:cNvPr id="296" name="Google Shape;296;p45"/>
          <p:cNvSpPr txBox="1"/>
          <p:nvPr/>
        </p:nvSpPr>
        <p:spPr>
          <a:xfrm>
            <a:off x="231000" y="1126275"/>
            <a:ext cx="8682000" cy="5619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Sin coherencia temporal, la rotación de la cámara puede hacer que dos etiquetas (marcadas en rojo+azul) cambien de orden inesperadamente</a:t>
            </a:r>
            <a:endParaRPr sz="1600">
              <a:solidFill>
                <a:schemeClr val="dk1"/>
              </a:solidFill>
              <a:latin typeface="Space Mono"/>
              <a:ea typeface="Space Mono"/>
              <a:cs typeface="Space Mono"/>
              <a:sym typeface="Space Mono"/>
            </a:endParaRPr>
          </a:p>
        </p:txBody>
      </p:sp>
      <p:sp>
        <p:nvSpPr>
          <p:cNvPr id="297" name="Google Shape;297;p45"/>
          <p:cNvSpPr txBox="1"/>
          <p:nvPr/>
        </p:nvSpPr>
        <p:spPr>
          <a:xfrm>
            <a:off x="2686050" y="4261567"/>
            <a:ext cx="3444000" cy="438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Markus Tatzgern and Denis Kalkofen</a:t>
            </a:r>
            <a:endParaRPr sz="1200">
              <a:solidFill>
                <a:schemeClr val="dk1"/>
              </a:solidFill>
              <a:latin typeface="Space Mono"/>
              <a:ea typeface="Space Mono"/>
              <a:cs typeface="Space Mono"/>
              <a:sym typeface="Space Mono"/>
            </a:endParaRPr>
          </a:p>
        </p:txBody>
      </p:sp>
      <p:sp>
        <p:nvSpPr>
          <p:cNvPr id="298" name="Google Shape;298;p45"/>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299" name="Google Shape;299;p45"/>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46" descr="Picture 4"/>
          <p:cNvPicPr preferRelativeResize="0"/>
          <p:nvPr/>
        </p:nvPicPr>
        <p:blipFill rotWithShape="1">
          <a:blip r:embed="rId3">
            <a:alphaModFix/>
          </a:blip>
          <a:srcRect/>
          <a:stretch/>
        </p:blipFill>
        <p:spPr>
          <a:xfrm>
            <a:off x="4596186" y="1692227"/>
            <a:ext cx="2510208" cy="2510207"/>
          </a:xfrm>
          <a:prstGeom prst="rect">
            <a:avLst/>
          </a:prstGeom>
          <a:noFill/>
          <a:ln>
            <a:noFill/>
          </a:ln>
        </p:spPr>
      </p:pic>
      <p:grpSp>
        <p:nvGrpSpPr>
          <p:cNvPr id="305" name="Google Shape;305;p46"/>
          <p:cNvGrpSpPr/>
          <p:nvPr/>
        </p:nvGrpSpPr>
        <p:grpSpPr>
          <a:xfrm>
            <a:off x="3920568" y="1500861"/>
            <a:ext cx="918918" cy="222649"/>
            <a:chOff x="-1" y="-1"/>
            <a:chExt cx="2450446" cy="593730"/>
          </a:xfrm>
        </p:grpSpPr>
        <p:sp>
          <p:nvSpPr>
            <p:cNvPr id="306" name="Google Shape;306;p46"/>
            <p:cNvSpPr/>
            <p:nvPr/>
          </p:nvSpPr>
          <p:spPr>
            <a:xfrm>
              <a:off x="-1" y="-1"/>
              <a:ext cx="2450446" cy="593730"/>
            </a:xfrm>
            <a:custGeom>
              <a:avLst/>
              <a:gdLst/>
              <a:ahLst/>
              <a:cxnLst/>
              <a:rect l="l" t="t" r="r" b="b"/>
              <a:pathLst>
                <a:path w="21600" h="21600" extrusionOk="0">
                  <a:moveTo>
                    <a:pt x="18088" y="21600"/>
                  </a:moveTo>
                  <a:lnTo>
                    <a:pt x="14060" y="16200"/>
                  </a:lnTo>
                  <a:lnTo>
                    <a:pt x="15974" y="16200"/>
                  </a:lnTo>
                  <a:cubicBezTo>
                    <a:pt x="15048" y="6663"/>
                    <a:pt x="11816" y="0"/>
                    <a:pt x="8116" y="0"/>
                  </a:cubicBezTo>
                  <a:lnTo>
                    <a:pt x="11828" y="0"/>
                  </a:lnTo>
                  <a:cubicBezTo>
                    <a:pt x="15529" y="0"/>
                    <a:pt x="18761" y="6663"/>
                    <a:pt x="19686" y="16200"/>
                  </a:cubicBezTo>
                  <a:lnTo>
                    <a:pt x="21600" y="16200"/>
                  </a:lnTo>
                  <a:close/>
                  <a:moveTo>
                    <a:pt x="9972" y="573"/>
                  </a:moveTo>
                  <a:cubicBezTo>
                    <a:pt x="6305" y="2866"/>
                    <a:pt x="3712" y="11574"/>
                    <a:pt x="3712" y="21600"/>
                  </a:cubicBezTo>
                  <a:lnTo>
                    <a:pt x="0" y="21600"/>
                  </a:lnTo>
                  <a:cubicBezTo>
                    <a:pt x="0" y="9671"/>
                    <a:pt x="3634" y="0"/>
                    <a:pt x="8116" y="0"/>
                  </a:cubicBezTo>
                  <a:cubicBezTo>
                    <a:pt x="8741" y="0"/>
                    <a:pt x="9363" y="192"/>
                    <a:pt x="9972" y="573"/>
                  </a:cubicBezTo>
                  <a:close/>
                </a:path>
              </a:pathLst>
            </a:custGeom>
            <a:solidFill>
              <a:srgbClr val="ED7D31"/>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307" name="Google Shape;307;p46"/>
            <p:cNvSpPr/>
            <p:nvPr/>
          </p:nvSpPr>
          <p:spPr>
            <a:xfrm>
              <a:off x="0" y="-1"/>
              <a:ext cx="1131278" cy="593730"/>
            </a:xfrm>
            <a:custGeom>
              <a:avLst/>
              <a:gdLst/>
              <a:ahLst/>
              <a:cxnLst/>
              <a:rect l="l" t="t" r="r" b="b"/>
              <a:pathLst>
                <a:path w="21600" h="21600" extrusionOk="0">
                  <a:moveTo>
                    <a:pt x="21600" y="573"/>
                  </a:moveTo>
                  <a:cubicBezTo>
                    <a:pt x="13656" y="2866"/>
                    <a:pt x="8041" y="11574"/>
                    <a:pt x="8041" y="21600"/>
                  </a:cubicBezTo>
                  <a:lnTo>
                    <a:pt x="0" y="21600"/>
                  </a:lnTo>
                  <a:cubicBezTo>
                    <a:pt x="0" y="9671"/>
                    <a:pt x="7870" y="0"/>
                    <a:pt x="17579" y="0"/>
                  </a:cubicBezTo>
                  <a:cubicBezTo>
                    <a:pt x="18933" y="0"/>
                    <a:pt x="20282" y="192"/>
                    <a:pt x="21600" y="573"/>
                  </a:cubicBezTo>
                  <a:close/>
                </a:path>
              </a:pathLst>
            </a:custGeom>
            <a:solidFill>
              <a:srgbClr val="000000">
                <a:alpha val="20000"/>
              </a:srgbClr>
            </a:solidFill>
            <a:ln>
              <a:noFill/>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308" name="Google Shape;308;p46"/>
            <p:cNvSpPr/>
            <p:nvPr/>
          </p:nvSpPr>
          <p:spPr>
            <a:xfrm>
              <a:off x="-1" y="-1"/>
              <a:ext cx="2450446" cy="593730"/>
            </a:xfrm>
            <a:custGeom>
              <a:avLst/>
              <a:gdLst/>
              <a:ahLst/>
              <a:cxnLst/>
              <a:rect l="l" t="t" r="r" b="b"/>
              <a:pathLst>
                <a:path w="21600" h="21600" extrusionOk="0">
                  <a:moveTo>
                    <a:pt x="9972" y="573"/>
                  </a:moveTo>
                  <a:cubicBezTo>
                    <a:pt x="6305" y="2866"/>
                    <a:pt x="3712" y="11574"/>
                    <a:pt x="3712" y="21600"/>
                  </a:cubicBezTo>
                  <a:lnTo>
                    <a:pt x="0" y="21600"/>
                  </a:lnTo>
                  <a:cubicBezTo>
                    <a:pt x="0" y="9671"/>
                    <a:pt x="3634" y="0"/>
                    <a:pt x="8116" y="0"/>
                  </a:cubicBezTo>
                  <a:lnTo>
                    <a:pt x="11828" y="0"/>
                  </a:lnTo>
                  <a:cubicBezTo>
                    <a:pt x="15529" y="0"/>
                    <a:pt x="18761" y="6663"/>
                    <a:pt x="19686" y="16200"/>
                  </a:cubicBezTo>
                  <a:lnTo>
                    <a:pt x="21600" y="16200"/>
                  </a:lnTo>
                  <a:lnTo>
                    <a:pt x="18088" y="21600"/>
                  </a:lnTo>
                  <a:lnTo>
                    <a:pt x="14060" y="16200"/>
                  </a:lnTo>
                  <a:lnTo>
                    <a:pt x="15974" y="16200"/>
                  </a:lnTo>
                  <a:cubicBezTo>
                    <a:pt x="15048" y="6663"/>
                    <a:pt x="11816" y="0"/>
                    <a:pt x="8116" y="0"/>
                  </a:cubicBezTo>
                </a:path>
              </a:pathLst>
            </a:custGeom>
            <a:noFill/>
            <a:ln w="25400" cap="flat" cmpd="sng">
              <a:solidFill>
                <a:srgbClr val="843C0B"/>
              </a:solidFill>
              <a:prstDash val="solid"/>
              <a:miter lim="8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grpSp>
      <p:sp>
        <p:nvSpPr>
          <p:cNvPr id="309" name="Google Shape;309;p46"/>
          <p:cNvSpPr txBox="1">
            <a:spLocks noGrp="1"/>
          </p:cNvSpPr>
          <p:nvPr>
            <p:ph type="title"/>
          </p:nvPr>
        </p:nvSpPr>
        <p:spPr>
          <a:xfrm>
            <a:off x="311700" y="445025"/>
            <a:ext cx="88323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Colocación de etiquetas temporalmente coherente</a:t>
            </a:r>
            <a:endParaRPr sz="2400" b="1"/>
          </a:p>
        </p:txBody>
      </p:sp>
      <p:pic>
        <p:nvPicPr>
          <p:cNvPr id="310" name="Google Shape;310;p46" descr="Picture 3"/>
          <p:cNvPicPr preferRelativeResize="0"/>
          <p:nvPr/>
        </p:nvPicPr>
        <p:blipFill rotWithShape="1">
          <a:blip r:embed="rId4">
            <a:alphaModFix/>
          </a:blip>
          <a:srcRect/>
          <a:stretch/>
        </p:blipFill>
        <p:spPr>
          <a:xfrm>
            <a:off x="1647501" y="1692227"/>
            <a:ext cx="2510208" cy="2510207"/>
          </a:xfrm>
          <a:prstGeom prst="rect">
            <a:avLst/>
          </a:prstGeom>
          <a:noFill/>
          <a:ln>
            <a:noFill/>
          </a:ln>
        </p:spPr>
      </p:pic>
      <p:sp>
        <p:nvSpPr>
          <p:cNvPr id="311" name="Google Shape;311;p46"/>
          <p:cNvSpPr txBox="1"/>
          <p:nvPr/>
        </p:nvSpPr>
        <p:spPr>
          <a:xfrm>
            <a:off x="1134025" y="1165275"/>
            <a:ext cx="7084500" cy="3156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El etiquetado Hedgehog refuerza la coherencia temporal</a:t>
            </a:r>
            <a:endParaRPr sz="1600">
              <a:solidFill>
                <a:schemeClr val="dk1"/>
              </a:solidFill>
              <a:latin typeface="Space Mono"/>
              <a:ea typeface="Space Mono"/>
              <a:cs typeface="Space Mono"/>
              <a:sym typeface="Space Mono"/>
            </a:endParaRPr>
          </a:p>
        </p:txBody>
      </p:sp>
      <p:sp>
        <p:nvSpPr>
          <p:cNvPr id="312" name="Google Shape;312;p46"/>
          <p:cNvSpPr txBox="1"/>
          <p:nvPr/>
        </p:nvSpPr>
        <p:spPr>
          <a:xfrm>
            <a:off x="2325410" y="4202435"/>
            <a:ext cx="39717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Markus Tatzgern and Denis Kalkofen</a:t>
            </a:r>
            <a:endParaRPr sz="1200">
              <a:solidFill>
                <a:schemeClr val="dk1"/>
              </a:solidFill>
              <a:latin typeface="Space Mono"/>
              <a:ea typeface="Space Mono"/>
              <a:cs typeface="Space Mono"/>
              <a:sym typeface="Space Mono"/>
            </a:endParaRPr>
          </a:p>
        </p:txBody>
      </p:sp>
      <p:sp>
        <p:nvSpPr>
          <p:cNvPr id="313" name="Google Shape;313;p46"/>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14" name="Google Shape;314;p46"/>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47"/>
          <p:cNvSpPr txBox="1">
            <a:spLocks noGrp="1"/>
          </p:cNvSpPr>
          <p:nvPr>
            <p:ph type="title"/>
          </p:nvPr>
        </p:nvSpPr>
        <p:spPr>
          <a:xfrm>
            <a:off x="311700" y="445025"/>
            <a:ext cx="735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Hacer visible lo invisible</a:t>
            </a:r>
            <a:endParaRPr sz="2400" b="1"/>
          </a:p>
        </p:txBody>
      </p:sp>
      <p:pic>
        <p:nvPicPr>
          <p:cNvPr id="320" name="Google Shape;320;p47" descr="Picture 2"/>
          <p:cNvPicPr preferRelativeResize="0"/>
          <p:nvPr/>
        </p:nvPicPr>
        <p:blipFill rotWithShape="1">
          <a:blip r:embed="rId3">
            <a:alphaModFix/>
          </a:blip>
          <a:srcRect/>
          <a:stretch/>
        </p:blipFill>
        <p:spPr>
          <a:xfrm>
            <a:off x="1579075" y="2271775"/>
            <a:ext cx="2729793" cy="2414851"/>
          </a:xfrm>
          <a:prstGeom prst="rect">
            <a:avLst/>
          </a:prstGeom>
          <a:noFill/>
          <a:ln>
            <a:noFill/>
          </a:ln>
        </p:spPr>
      </p:pic>
      <p:pic>
        <p:nvPicPr>
          <p:cNvPr id="321" name="Google Shape;321;p47" descr="Picture 3"/>
          <p:cNvPicPr preferRelativeResize="0"/>
          <p:nvPr/>
        </p:nvPicPr>
        <p:blipFill rotWithShape="1">
          <a:blip r:embed="rId4">
            <a:alphaModFix/>
          </a:blip>
          <a:srcRect/>
          <a:stretch/>
        </p:blipFill>
        <p:spPr>
          <a:xfrm>
            <a:off x="4939403" y="2353012"/>
            <a:ext cx="2722747" cy="2283086"/>
          </a:xfrm>
          <a:prstGeom prst="rect">
            <a:avLst/>
          </a:prstGeom>
          <a:noFill/>
          <a:ln>
            <a:noFill/>
          </a:ln>
        </p:spPr>
      </p:pic>
      <p:sp>
        <p:nvSpPr>
          <p:cNvPr id="322" name="Google Shape;322;p47"/>
          <p:cNvSpPr txBox="1">
            <a:spLocks noGrp="1"/>
          </p:cNvSpPr>
          <p:nvPr>
            <p:ph type="body" idx="4294967295"/>
          </p:nvPr>
        </p:nvSpPr>
        <p:spPr>
          <a:xfrm>
            <a:off x="311700" y="1152475"/>
            <a:ext cx="7350600" cy="11193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Estructuras e información ocultas</a:t>
            </a:r>
            <a:endParaRPr sz="1600"/>
          </a:p>
          <a:p>
            <a:pPr marL="304800" lvl="0" indent="-228600" algn="l" rtl="0">
              <a:lnSpc>
                <a:spcPct val="100000"/>
              </a:lnSpc>
              <a:spcBef>
                <a:spcPts val="500"/>
              </a:spcBef>
              <a:spcAft>
                <a:spcPts val="0"/>
              </a:spcAft>
              <a:buSzPts val="1600"/>
              <a:buChar char="●"/>
            </a:pPr>
            <a:r>
              <a:rPr lang="en-GB" sz="1600"/>
              <a:t>Visión de rayos X de Superman</a:t>
            </a:r>
            <a:endParaRPr sz="1600"/>
          </a:p>
          <a:p>
            <a:pPr marL="304800" lvl="0" indent="-228600" algn="l" rtl="0">
              <a:lnSpc>
                <a:spcPct val="100000"/>
              </a:lnSpc>
              <a:spcBef>
                <a:spcPts val="500"/>
              </a:spcBef>
              <a:spcAft>
                <a:spcPts val="0"/>
              </a:spcAft>
              <a:buSzPts val="1600"/>
              <a:buChar char="●"/>
            </a:pPr>
            <a:r>
              <a:rPr lang="en-GB" sz="1600"/>
              <a:t>Problema de orden espacial</a:t>
            </a:r>
            <a:endParaRPr sz="1600"/>
          </a:p>
        </p:txBody>
      </p:sp>
      <p:sp>
        <p:nvSpPr>
          <p:cNvPr id="323" name="Google Shape;323;p47"/>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24" name="Google Shape;324;p47"/>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pic>
        <p:nvPicPr>
          <p:cNvPr id="329" name="Google Shape;329;p48" descr="Picture 2"/>
          <p:cNvPicPr preferRelativeResize="0"/>
          <p:nvPr/>
        </p:nvPicPr>
        <p:blipFill rotWithShape="1">
          <a:blip r:embed="rId3">
            <a:alphaModFix/>
          </a:blip>
          <a:srcRect t="5159"/>
          <a:stretch/>
        </p:blipFill>
        <p:spPr>
          <a:xfrm>
            <a:off x="1422925" y="2194200"/>
            <a:ext cx="2851400" cy="2248100"/>
          </a:xfrm>
          <a:prstGeom prst="rect">
            <a:avLst/>
          </a:prstGeom>
          <a:noFill/>
          <a:ln>
            <a:noFill/>
          </a:ln>
        </p:spPr>
      </p:pic>
      <p:pic>
        <p:nvPicPr>
          <p:cNvPr id="330" name="Google Shape;330;p48" descr="Picture 3"/>
          <p:cNvPicPr preferRelativeResize="0"/>
          <p:nvPr/>
        </p:nvPicPr>
        <p:blipFill rotWithShape="1">
          <a:blip r:embed="rId4">
            <a:alphaModFix/>
          </a:blip>
          <a:srcRect l="8783" t="5428" r="6277"/>
          <a:stretch/>
        </p:blipFill>
        <p:spPr>
          <a:xfrm>
            <a:off x="4447975" y="2199550"/>
            <a:ext cx="2867225" cy="2248100"/>
          </a:xfrm>
          <a:prstGeom prst="rect">
            <a:avLst/>
          </a:prstGeom>
          <a:noFill/>
          <a:ln>
            <a:noFill/>
          </a:ln>
        </p:spPr>
      </p:pic>
      <p:sp>
        <p:nvSpPr>
          <p:cNvPr id="331" name="Google Shape;331;p48"/>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Transparencia</a:t>
            </a:r>
            <a:endParaRPr sz="2400" b="1"/>
          </a:p>
        </p:txBody>
      </p:sp>
      <p:sp>
        <p:nvSpPr>
          <p:cNvPr id="332" name="Google Shape;332;p48"/>
          <p:cNvSpPr txBox="1"/>
          <p:nvPr/>
        </p:nvSpPr>
        <p:spPr>
          <a:xfrm>
            <a:off x="1422875" y="1140000"/>
            <a:ext cx="2851500" cy="1054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Superposición ingenua de un objeto sintético oculto sobre una escena real</a:t>
            </a:r>
            <a:endParaRPr sz="1600">
              <a:solidFill>
                <a:schemeClr val="dk1"/>
              </a:solidFill>
              <a:latin typeface="Space Mono"/>
              <a:ea typeface="Space Mono"/>
              <a:cs typeface="Space Mono"/>
              <a:sym typeface="Space Mono"/>
            </a:endParaRPr>
          </a:p>
        </p:txBody>
      </p:sp>
      <p:sp>
        <p:nvSpPr>
          <p:cNvPr id="333" name="Google Shape;333;p48"/>
          <p:cNvSpPr txBox="1"/>
          <p:nvPr/>
        </p:nvSpPr>
        <p:spPr>
          <a:xfrm>
            <a:off x="3395275" y="4400000"/>
            <a:ext cx="24039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Denis Kalkofen</a:t>
            </a:r>
            <a:endParaRPr sz="1200">
              <a:solidFill>
                <a:schemeClr val="dk1"/>
              </a:solidFill>
              <a:latin typeface="Space Mono"/>
              <a:ea typeface="Space Mono"/>
              <a:cs typeface="Space Mono"/>
              <a:sym typeface="Space Mono"/>
            </a:endParaRPr>
          </a:p>
        </p:txBody>
      </p:sp>
      <p:sp>
        <p:nvSpPr>
          <p:cNvPr id="334" name="Google Shape;334;p48"/>
          <p:cNvSpPr txBox="1"/>
          <p:nvPr/>
        </p:nvSpPr>
        <p:spPr>
          <a:xfrm>
            <a:off x="4446457" y="1140008"/>
            <a:ext cx="2961600" cy="808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Superposición de un objeto sintético con transparencia uniforme</a:t>
            </a:r>
            <a:endParaRPr sz="1600">
              <a:solidFill>
                <a:schemeClr val="dk1"/>
              </a:solidFill>
              <a:latin typeface="Space Mono"/>
              <a:ea typeface="Space Mono"/>
              <a:cs typeface="Space Mono"/>
              <a:sym typeface="Space Mono"/>
            </a:endParaRPr>
          </a:p>
        </p:txBody>
      </p:sp>
      <p:sp>
        <p:nvSpPr>
          <p:cNvPr id="335" name="Google Shape;335;p48"/>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36" name="Google Shape;336;p48"/>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pic>
        <p:nvPicPr>
          <p:cNvPr id="341" name="Google Shape;341;p49" descr="Picture 3"/>
          <p:cNvPicPr preferRelativeResize="0"/>
          <p:nvPr/>
        </p:nvPicPr>
        <p:blipFill rotWithShape="1">
          <a:blip r:embed="rId3">
            <a:alphaModFix/>
          </a:blip>
          <a:srcRect/>
          <a:stretch/>
        </p:blipFill>
        <p:spPr>
          <a:xfrm>
            <a:off x="4035973" y="565977"/>
            <a:ext cx="4327470" cy="1989734"/>
          </a:xfrm>
          <a:prstGeom prst="rect">
            <a:avLst/>
          </a:prstGeom>
          <a:noFill/>
          <a:ln>
            <a:noFill/>
          </a:ln>
        </p:spPr>
      </p:pic>
      <p:pic>
        <p:nvPicPr>
          <p:cNvPr id="342" name="Google Shape;342;p49" descr="Picture 4"/>
          <p:cNvPicPr preferRelativeResize="0"/>
          <p:nvPr/>
        </p:nvPicPr>
        <p:blipFill rotWithShape="1">
          <a:blip r:embed="rId4">
            <a:alphaModFix/>
          </a:blip>
          <a:srcRect/>
          <a:stretch/>
        </p:blipFill>
        <p:spPr>
          <a:xfrm>
            <a:off x="4041989" y="2699879"/>
            <a:ext cx="4321453" cy="1989735"/>
          </a:xfrm>
          <a:prstGeom prst="rect">
            <a:avLst/>
          </a:prstGeom>
          <a:noFill/>
          <a:ln>
            <a:noFill/>
          </a:ln>
        </p:spPr>
      </p:pic>
      <p:sp>
        <p:nvSpPr>
          <p:cNvPr id="343" name="Google Shape;343;p4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Ghosting</a:t>
            </a:r>
            <a:endParaRPr sz="2400" b="1"/>
          </a:p>
        </p:txBody>
      </p:sp>
      <p:sp>
        <p:nvSpPr>
          <p:cNvPr id="344" name="Google Shape;344;p49"/>
          <p:cNvSpPr txBox="1"/>
          <p:nvPr/>
        </p:nvSpPr>
        <p:spPr>
          <a:xfrm>
            <a:off x="622574" y="1499200"/>
            <a:ext cx="3393600" cy="8082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La visualización muestra claramente el interior del coche en la parte trasera</a:t>
            </a:r>
            <a:endParaRPr sz="1600">
              <a:solidFill>
                <a:schemeClr val="dk1"/>
              </a:solidFill>
              <a:latin typeface="Space Mono"/>
              <a:ea typeface="Space Mono"/>
              <a:cs typeface="Space Mono"/>
              <a:sym typeface="Space Mono"/>
            </a:endParaRPr>
          </a:p>
        </p:txBody>
      </p:sp>
      <p:sp>
        <p:nvSpPr>
          <p:cNvPr id="345" name="Google Shape;345;p49"/>
          <p:cNvSpPr txBox="1"/>
          <p:nvPr/>
        </p:nvSpPr>
        <p:spPr>
          <a:xfrm>
            <a:off x="392900" y="3452375"/>
            <a:ext cx="3649200" cy="10542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Una mala elección del color afecta gravemente a la percepción de la visualización ocluida</a:t>
            </a:r>
            <a:endParaRPr sz="1600">
              <a:solidFill>
                <a:schemeClr val="dk1"/>
              </a:solidFill>
              <a:latin typeface="Space Mono"/>
              <a:ea typeface="Space Mono"/>
              <a:cs typeface="Space Mono"/>
              <a:sym typeface="Space Mono"/>
            </a:endParaRPr>
          </a:p>
        </p:txBody>
      </p:sp>
      <p:sp>
        <p:nvSpPr>
          <p:cNvPr id="346" name="Google Shape;346;p49"/>
          <p:cNvSpPr txBox="1"/>
          <p:nvPr/>
        </p:nvSpPr>
        <p:spPr>
          <a:xfrm>
            <a:off x="5454174" y="4656450"/>
            <a:ext cx="23820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rgbClr val="000000"/>
                </a:solidFill>
                <a:latin typeface="Space Mono"/>
                <a:ea typeface="Space Mono"/>
                <a:cs typeface="Space Mono"/>
                <a:sym typeface="Space Mono"/>
              </a:rPr>
              <a:t>Image: Denis Kalkofen</a:t>
            </a:r>
            <a:endParaRPr sz="1200">
              <a:latin typeface="Space Mono"/>
              <a:ea typeface="Space Mono"/>
              <a:cs typeface="Space Mono"/>
              <a:sym typeface="Space Mono"/>
            </a:endParaRPr>
          </a:p>
        </p:txBody>
      </p:sp>
      <p:sp>
        <p:nvSpPr>
          <p:cNvPr id="347" name="Google Shape;347;p49"/>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48" name="Google Shape;348;p49"/>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pic>
        <p:nvPicPr>
          <p:cNvPr id="353" name="Google Shape;353;p50" descr="Picture 2"/>
          <p:cNvPicPr preferRelativeResize="0"/>
          <p:nvPr/>
        </p:nvPicPr>
        <p:blipFill rotWithShape="1">
          <a:blip r:embed="rId3">
            <a:alphaModFix/>
          </a:blip>
          <a:srcRect/>
          <a:stretch/>
        </p:blipFill>
        <p:spPr>
          <a:xfrm>
            <a:off x="4195188" y="1142466"/>
            <a:ext cx="4361547" cy="3069590"/>
          </a:xfrm>
          <a:prstGeom prst="rect">
            <a:avLst/>
          </a:prstGeom>
          <a:noFill/>
          <a:ln>
            <a:noFill/>
          </a:ln>
        </p:spPr>
      </p:pic>
      <p:sp>
        <p:nvSpPr>
          <p:cNvPr id="354" name="Google Shape;354;p50"/>
          <p:cNvSpPr txBox="1">
            <a:spLocks noGrp="1"/>
          </p:cNvSpPr>
          <p:nvPr>
            <p:ph type="title"/>
          </p:nvPr>
        </p:nvSpPr>
        <p:spPr>
          <a:xfrm>
            <a:off x="337150" y="453500"/>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Ghosting Car</a:t>
            </a:r>
            <a:endParaRPr sz="2400" b="1"/>
          </a:p>
        </p:txBody>
      </p:sp>
      <p:sp>
        <p:nvSpPr>
          <p:cNvPr id="355" name="Google Shape;355;p50"/>
          <p:cNvSpPr txBox="1"/>
          <p:nvPr/>
        </p:nvSpPr>
        <p:spPr>
          <a:xfrm>
            <a:off x="721723" y="1746572"/>
            <a:ext cx="3322500" cy="25320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En este ejemplo, la carrocería de un auto real es el oclusor de un motor virtual. Tras extraer los contornos como pistas de forma importantes, se aplica una transformación de distancia 2D para que el oclusor parezca más sólido</a:t>
            </a:r>
            <a:endParaRPr sz="1600">
              <a:solidFill>
                <a:schemeClr val="dk1"/>
              </a:solidFill>
              <a:latin typeface="Space Mono"/>
              <a:ea typeface="Space Mono"/>
              <a:cs typeface="Space Mono"/>
              <a:sym typeface="Space Mono"/>
            </a:endParaRPr>
          </a:p>
        </p:txBody>
      </p:sp>
      <p:sp>
        <p:nvSpPr>
          <p:cNvPr id="356" name="Google Shape;356;p50"/>
          <p:cNvSpPr txBox="1"/>
          <p:nvPr/>
        </p:nvSpPr>
        <p:spPr>
          <a:xfrm>
            <a:off x="5389598" y="4155650"/>
            <a:ext cx="21768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Denis Kalkofen</a:t>
            </a:r>
            <a:endParaRPr sz="1200">
              <a:solidFill>
                <a:schemeClr val="dk1"/>
              </a:solidFill>
              <a:latin typeface="Space Mono"/>
              <a:ea typeface="Space Mono"/>
              <a:cs typeface="Space Mono"/>
              <a:sym typeface="Space Mono"/>
            </a:endParaRPr>
          </a:p>
        </p:txBody>
      </p:sp>
      <p:sp>
        <p:nvSpPr>
          <p:cNvPr id="357" name="Google Shape;357;p50"/>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58" name="Google Shape;358;p50"/>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5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Fantasmas transparentes</a:t>
            </a:r>
            <a:endParaRPr sz="2400" b="1"/>
          </a:p>
        </p:txBody>
      </p:sp>
      <p:sp>
        <p:nvSpPr>
          <p:cNvPr id="364" name="Google Shape;364;p51"/>
          <p:cNvSpPr txBox="1">
            <a:spLocks noGrp="1"/>
          </p:cNvSpPr>
          <p:nvPr>
            <p:ph type="body" idx="4294967295"/>
          </p:nvPr>
        </p:nvSpPr>
        <p:spPr>
          <a:xfrm>
            <a:off x="311700" y="1268725"/>
            <a:ext cx="4373400" cy="2606400"/>
          </a:xfrm>
          <a:prstGeom prst="rect">
            <a:avLst/>
          </a:prstGeom>
          <a:noFill/>
          <a:ln>
            <a:noFill/>
          </a:ln>
        </p:spPr>
        <p:txBody>
          <a:bodyPr spcFirstLastPara="1" wrap="square" lIns="34275" tIns="34275" rIns="34275" bIns="34275" anchor="t" anchorCtr="0">
            <a:normAutofit/>
          </a:bodyPr>
          <a:lstStyle/>
          <a:p>
            <a:pPr marL="0" lvl="0" indent="0" algn="l" rtl="0">
              <a:lnSpc>
                <a:spcPct val="100000"/>
              </a:lnSpc>
              <a:spcBef>
                <a:spcPts val="0"/>
              </a:spcBef>
              <a:spcAft>
                <a:spcPts val="0"/>
              </a:spcAft>
              <a:buClr>
                <a:srgbClr val="000000"/>
              </a:buClr>
              <a:buSzPts val="2100"/>
              <a:buNone/>
            </a:pPr>
            <a:r>
              <a:rPr lang="en-GB" sz="1600"/>
              <a:t>Problemas:</a:t>
            </a:r>
            <a:endParaRPr sz="1600"/>
          </a:p>
          <a:p>
            <a:pPr marL="0" lvl="0" indent="0" algn="l" rtl="0">
              <a:lnSpc>
                <a:spcPct val="100000"/>
              </a:lnSpc>
              <a:spcBef>
                <a:spcPts val="0"/>
              </a:spcBef>
              <a:spcAft>
                <a:spcPts val="0"/>
              </a:spcAft>
              <a:buClr>
                <a:srgbClr val="000000"/>
              </a:buClr>
              <a:buSzPts val="2100"/>
              <a:buNone/>
            </a:pPr>
            <a:endParaRPr sz="1600"/>
          </a:p>
          <a:p>
            <a:pPr marL="0" lvl="0" indent="0" algn="l" rtl="0">
              <a:lnSpc>
                <a:spcPct val="100000"/>
              </a:lnSpc>
              <a:spcBef>
                <a:spcPts val="500"/>
              </a:spcBef>
              <a:spcAft>
                <a:spcPts val="0"/>
              </a:spcAft>
              <a:buClr>
                <a:srgbClr val="000000"/>
              </a:buClr>
              <a:buSzPts val="2100"/>
              <a:buNone/>
            </a:pPr>
            <a:r>
              <a:rPr lang="en-GB" sz="1600"/>
              <a:t>Se mezcla con el negro si no se oculta ningún objeto virtual</a:t>
            </a:r>
            <a:endParaRPr sz="1600"/>
          </a:p>
          <a:p>
            <a:pPr marL="0" lvl="0" indent="0" algn="l" rtl="0">
              <a:lnSpc>
                <a:spcPct val="100000"/>
              </a:lnSpc>
              <a:spcBef>
                <a:spcPts val="500"/>
              </a:spcBef>
              <a:spcAft>
                <a:spcPts val="0"/>
              </a:spcAft>
              <a:buClr>
                <a:srgbClr val="000000"/>
              </a:buClr>
              <a:buSzPts val="2100"/>
              <a:buNone/>
            </a:pPr>
            <a:r>
              <a:rPr lang="en-GB" sz="1600"/>
              <a:t>A veces es difícil "entender" la relación espacial del objeto, especialmente en el caso de múltiples objetos ocluidos</a:t>
            </a:r>
            <a:endParaRPr sz="1600"/>
          </a:p>
        </p:txBody>
      </p:sp>
      <p:pic>
        <p:nvPicPr>
          <p:cNvPr id="365" name="Google Shape;365;p51" descr="Picture 3"/>
          <p:cNvPicPr preferRelativeResize="0"/>
          <p:nvPr/>
        </p:nvPicPr>
        <p:blipFill rotWithShape="1">
          <a:blip r:embed="rId3">
            <a:alphaModFix/>
          </a:blip>
          <a:srcRect/>
          <a:stretch/>
        </p:blipFill>
        <p:spPr>
          <a:xfrm>
            <a:off x="4938351" y="1268750"/>
            <a:ext cx="3758201" cy="2606357"/>
          </a:xfrm>
          <a:prstGeom prst="rect">
            <a:avLst/>
          </a:prstGeom>
          <a:noFill/>
          <a:ln>
            <a:noFill/>
          </a:ln>
        </p:spPr>
      </p:pic>
      <p:sp>
        <p:nvSpPr>
          <p:cNvPr id="366" name="Google Shape;366;p51"/>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67" name="Google Shape;367;p51"/>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2"/>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Problemas con la fusión simple</a:t>
            </a:r>
            <a:endParaRPr sz="2400" b="1"/>
          </a:p>
        </p:txBody>
      </p:sp>
      <p:sp>
        <p:nvSpPr>
          <p:cNvPr id="373" name="Google Shape;373;p52"/>
          <p:cNvSpPr txBox="1">
            <a:spLocks noGrp="1"/>
          </p:cNvSpPr>
          <p:nvPr>
            <p:ph type="body" idx="4294967295"/>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Si la transparencia de los oclusores es muy alta</a:t>
            </a:r>
            <a:endParaRPr sz="1600"/>
          </a:p>
          <a:p>
            <a:pPr marL="304800" lvl="0" indent="-228600" algn="l" rtl="0">
              <a:lnSpc>
                <a:spcPct val="100000"/>
              </a:lnSpc>
              <a:spcBef>
                <a:spcPts val="500"/>
              </a:spcBef>
              <a:spcAft>
                <a:spcPts val="0"/>
              </a:spcAft>
              <a:buSzPts val="1600"/>
              <a:buChar char="●"/>
            </a:pPr>
            <a:r>
              <a:rPr lang="en-GB" sz="1600"/>
              <a:t>Puede ser difícil entender la relación espacial de los objetos</a:t>
            </a:r>
            <a:endParaRPr sz="1600"/>
          </a:p>
          <a:p>
            <a:pPr marL="304800" lvl="0" indent="-228600" algn="l" rtl="0">
              <a:lnSpc>
                <a:spcPct val="100000"/>
              </a:lnSpc>
              <a:spcBef>
                <a:spcPts val="500"/>
              </a:spcBef>
              <a:spcAft>
                <a:spcPts val="0"/>
              </a:spcAft>
              <a:buSzPts val="1600"/>
              <a:buChar char="●"/>
            </a:pPr>
            <a:r>
              <a:rPr lang="en-GB" sz="1600"/>
              <a:t>Especialmente en el caso de múltiples objetos ocluidos</a:t>
            </a:r>
            <a:endParaRPr sz="1600"/>
          </a:p>
          <a:p>
            <a:pPr marL="304800" lvl="0" indent="-228600" algn="l" rtl="0">
              <a:lnSpc>
                <a:spcPct val="100000"/>
              </a:lnSpc>
              <a:spcBef>
                <a:spcPts val="500"/>
              </a:spcBef>
              <a:spcAft>
                <a:spcPts val="0"/>
              </a:spcAft>
              <a:buSzPts val="1600"/>
              <a:buChar char="●"/>
            </a:pPr>
            <a:r>
              <a:rPr lang="en-GB" sz="1600"/>
              <a:t>Se pierden importantes señales de profundidad y puntos de referencia</a:t>
            </a:r>
            <a:endParaRPr sz="1600"/>
          </a:p>
        </p:txBody>
      </p:sp>
      <p:pic>
        <p:nvPicPr>
          <p:cNvPr id="374" name="Google Shape;374;p52" descr="Picture 3"/>
          <p:cNvPicPr preferRelativeResize="0"/>
          <p:nvPr/>
        </p:nvPicPr>
        <p:blipFill rotWithShape="1">
          <a:blip r:embed="rId3">
            <a:alphaModFix/>
          </a:blip>
          <a:srcRect/>
          <a:stretch/>
        </p:blipFill>
        <p:spPr>
          <a:xfrm>
            <a:off x="5462752" y="2870432"/>
            <a:ext cx="3315892" cy="1785939"/>
          </a:xfrm>
          <a:prstGeom prst="rect">
            <a:avLst/>
          </a:prstGeom>
          <a:noFill/>
          <a:ln>
            <a:noFill/>
          </a:ln>
        </p:spPr>
      </p:pic>
      <p:sp>
        <p:nvSpPr>
          <p:cNvPr id="375" name="Google Shape;375;p52"/>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76" name="Google Shape;376;p52"/>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5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Recortes</a:t>
            </a:r>
            <a:endParaRPr sz="2400" b="1"/>
          </a:p>
        </p:txBody>
      </p:sp>
      <p:sp>
        <p:nvSpPr>
          <p:cNvPr id="382" name="Google Shape;382;p53"/>
          <p:cNvSpPr txBox="1">
            <a:spLocks noGrp="1"/>
          </p:cNvSpPr>
          <p:nvPr>
            <p:ph type="body" idx="4294967295"/>
          </p:nvPr>
        </p:nvSpPr>
        <p:spPr>
          <a:xfrm>
            <a:off x="311700" y="1152475"/>
            <a:ext cx="52953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Alternativa a la transparencia</a:t>
            </a:r>
            <a:endParaRPr sz="1600"/>
          </a:p>
          <a:p>
            <a:pPr marL="304800" lvl="0" indent="-228600" algn="l" rtl="0">
              <a:lnSpc>
                <a:spcPct val="100000"/>
              </a:lnSpc>
              <a:spcBef>
                <a:spcPts val="500"/>
              </a:spcBef>
              <a:spcAft>
                <a:spcPts val="0"/>
              </a:spcAft>
              <a:buSzPts val="1600"/>
              <a:buChar char="●"/>
            </a:pPr>
            <a:r>
              <a:rPr lang="en-GB" sz="1600"/>
              <a:t>Visualización de objetos ocultos totalmente opacos</a:t>
            </a:r>
            <a:endParaRPr sz="1600"/>
          </a:p>
          <a:p>
            <a:pPr marL="304800" lvl="0" indent="-228600" algn="l" rtl="0">
              <a:lnSpc>
                <a:spcPct val="100000"/>
              </a:lnSpc>
              <a:spcBef>
                <a:spcPts val="500"/>
              </a:spcBef>
              <a:spcAft>
                <a:spcPts val="0"/>
              </a:spcAft>
              <a:buSzPts val="1600"/>
              <a:buChar char="●"/>
            </a:pPr>
            <a:r>
              <a:rPr lang="en-GB" sz="1600"/>
              <a:t>Señales de oclusión adicionales proporcionadas a través del recorte</a:t>
            </a:r>
            <a:endParaRPr sz="1600"/>
          </a:p>
          <a:p>
            <a:pPr marL="304800" lvl="0" indent="-127000" algn="l" rtl="0">
              <a:lnSpc>
                <a:spcPct val="100000"/>
              </a:lnSpc>
              <a:spcBef>
                <a:spcPts val="500"/>
              </a:spcBef>
              <a:spcAft>
                <a:spcPts val="0"/>
              </a:spcAft>
              <a:buClr>
                <a:srgbClr val="000000"/>
              </a:buClr>
              <a:buSzPts val="2100"/>
              <a:buNone/>
            </a:pPr>
            <a:endParaRPr sz="1600"/>
          </a:p>
          <a:p>
            <a:pPr marL="304800" lvl="0" indent="-228600" algn="l" rtl="0">
              <a:lnSpc>
                <a:spcPct val="100000"/>
              </a:lnSpc>
              <a:spcBef>
                <a:spcPts val="500"/>
              </a:spcBef>
              <a:spcAft>
                <a:spcPts val="0"/>
              </a:spcAft>
              <a:buSzPts val="1600"/>
              <a:buChar char="●"/>
            </a:pPr>
            <a:r>
              <a:rPr lang="en-GB" sz="1600"/>
              <a:t>Vídeo frente a fondo negro</a:t>
            </a:r>
            <a:endParaRPr sz="1600"/>
          </a:p>
          <a:p>
            <a:pPr marL="469900" lvl="1" indent="-228600" algn="l" rtl="0">
              <a:lnSpc>
                <a:spcPct val="100000"/>
              </a:lnSpc>
              <a:spcBef>
                <a:spcPts val="500"/>
              </a:spcBef>
              <a:spcAft>
                <a:spcPts val="0"/>
              </a:spcAft>
              <a:buSzPts val="1600"/>
              <a:buChar char="•"/>
            </a:pPr>
            <a:r>
              <a:rPr lang="en-GB" sz="1600"/>
              <a:t>Arriba: Sólo se recortan los objetos ocultos</a:t>
            </a:r>
            <a:endParaRPr sz="1600"/>
          </a:p>
          <a:p>
            <a:pPr marL="469900" lvl="1" indent="-228600" algn="l" rtl="0">
              <a:lnSpc>
                <a:spcPct val="100000"/>
              </a:lnSpc>
              <a:spcBef>
                <a:spcPts val="500"/>
              </a:spcBef>
              <a:spcAft>
                <a:spcPts val="0"/>
              </a:spcAft>
              <a:buSzPts val="1600"/>
              <a:buChar char="•"/>
            </a:pPr>
            <a:r>
              <a:rPr lang="en-GB" sz="1600"/>
              <a:t>Abajo: El vídeo se elimina en el corte</a:t>
            </a:r>
            <a:endParaRPr sz="1600"/>
          </a:p>
        </p:txBody>
      </p:sp>
      <p:sp>
        <p:nvSpPr>
          <p:cNvPr id="383" name="Google Shape;383;p53"/>
          <p:cNvSpPr txBox="1"/>
          <p:nvPr/>
        </p:nvSpPr>
        <p:spPr>
          <a:xfrm>
            <a:off x="5706678" y="4287775"/>
            <a:ext cx="25497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Tobias Sielhorst</a:t>
            </a:r>
            <a:endParaRPr sz="1200">
              <a:solidFill>
                <a:schemeClr val="dk1"/>
              </a:solidFill>
              <a:latin typeface="Space Mono"/>
              <a:ea typeface="Space Mono"/>
              <a:cs typeface="Space Mono"/>
              <a:sym typeface="Space Mono"/>
            </a:endParaRPr>
          </a:p>
        </p:txBody>
      </p:sp>
      <p:pic>
        <p:nvPicPr>
          <p:cNvPr id="384" name="Google Shape;384;p53" descr="Picture 5"/>
          <p:cNvPicPr preferRelativeResize="0"/>
          <p:nvPr/>
        </p:nvPicPr>
        <p:blipFill rotWithShape="1">
          <a:blip r:embed="rId3">
            <a:alphaModFix/>
          </a:blip>
          <a:srcRect/>
          <a:stretch/>
        </p:blipFill>
        <p:spPr>
          <a:xfrm>
            <a:off x="5706664" y="1084659"/>
            <a:ext cx="2298276" cy="3128817"/>
          </a:xfrm>
          <a:prstGeom prst="rect">
            <a:avLst/>
          </a:prstGeom>
          <a:noFill/>
          <a:ln>
            <a:noFill/>
          </a:ln>
        </p:spPr>
      </p:pic>
      <p:sp>
        <p:nvSpPr>
          <p:cNvPr id="385" name="Google Shape;385;p53"/>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86" name="Google Shape;386;p53"/>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54" descr="Picture 3"/>
          <p:cNvPicPr preferRelativeResize="0"/>
          <p:nvPr/>
        </p:nvPicPr>
        <p:blipFill rotWithShape="1">
          <a:blip r:embed="rId3">
            <a:alphaModFix/>
          </a:blip>
          <a:srcRect/>
          <a:stretch/>
        </p:blipFill>
        <p:spPr>
          <a:xfrm>
            <a:off x="1087564" y="2283357"/>
            <a:ext cx="2614614" cy="2289574"/>
          </a:xfrm>
          <a:prstGeom prst="rect">
            <a:avLst/>
          </a:prstGeom>
          <a:noFill/>
          <a:ln>
            <a:noFill/>
          </a:ln>
        </p:spPr>
      </p:pic>
      <p:pic>
        <p:nvPicPr>
          <p:cNvPr id="392" name="Google Shape;392;p54" descr="Picture 4"/>
          <p:cNvPicPr preferRelativeResize="0"/>
          <p:nvPr/>
        </p:nvPicPr>
        <p:blipFill rotWithShape="1">
          <a:blip r:embed="rId4">
            <a:alphaModFix/>
          </a:blip>
          <a:srcRect/>
          <a:stretch/>
        </p:blipFill>
        <p:spPr>
          <a:xfrm>
            <a:off x="5405825" y="2488432"/>
            <a:ext cx="2600327" cy="2157414"/>
          </a:xfrm>
          <a:prstGeom prst="rect">
            <a:avLst/>
          </a:prstGeom>
          <a:noFill/>
          <a:ln>
            <a:noFill/>
          </a:ln>
        </p:spPr>
      </p:pic>
      <p:sp>
        <p:nvSpPr>
          <p:cNvPr id="393" name="Google Shape;393;p54"/>
          <p:cNvSpPr txBox="1">
            <a:spLocks noGrp="1"/>
          </p:cNvSpPr>
          <p:nvPr>
            <p:ph type="title"/>
          </p:nvPr>
        </p:nvSpPr>
        <p:spPr>
          <a:xfrm>
            <a:off x="345625"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Vistas de los cortes</a:t>
            </a:r>
            <a:endParaRPr sz="2400" b="1"/>
          </a:p>
        </p:txBody>
      </p:sp>
      <p:sp>
        <p:nvSpPr>
          <p:cNvPr id="394" name="Google Shape;394;p54"/>
          <p:cNvSpPr txBox="1"/>
          <p:nvPr/>
        </p:nvSpPr>
        <p:spPr>
          <a:xfrm>
            <a:off x="275575" y="1303250"/>
            <a:ext cx="4406700" cy="9312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i="0" u="none" strike="noStrike" cap="none">
                <a:solidFill>
                  <a:schemeClr val="dk1"/>
                </a:solidFill>
                <a:latin typeface="Space Mono"/>
                <a:ea typeface="Space Mono"/>
                <a:cs typeface="Space Mono"/>
                <a:sym typeface="Space Mono"/>
              </a:rPr>
              <a:t>El error de registro provoca un desajuste entre el contenido virtual y el contexto del mundo real</a:t>
            </a:r>
            <a:r>
              <a:rPr lang="en-GB">
                <a:solidFill>
                  <a:schemeClr val="dk1"/>
                </a:solidFill>
                <a:latin typeface="Space Mono"/>
                <a:ea typeface="Space Mono"/>
                <a:cs typeface="Space Mono"/>
                <a:sym typeface="Space Mono"/>
              </a:rPr>
              <a:t> -</a:t>
            </a:r>
            <a:r>
              <a:rPr lang="en-GB" i="0" u="none" strike="noStrike" cap="none">
                <a:solidFill>
                  <a:schemeClr val="dk1"/>
                </a:solidFill>
                <a:latin typeface="Space Mono"/>
                <a:ea typeface="Space Mono"/>
                <a:cs typeface="Space Mono"/>
                <a:sym typeface="Space Mono"/>
              </a:rPr>
              <a:t>en este caso, el </a:t>
            </a:r>
            <a:r>
              <a:rPr lang="en-GB">
                <a:solidFill>
                  <a:schemeClr val="dk1"/>
                </a:solidFill>
                <a:latin typeface="Space Mono"/>
                <a:ea typeface="Space Mono"/>
                <a:cs typeface="Space Mono"/>
                <a:sym typeface="Space Mono"/>
              </a:rPr>
              <a:t>compartimiento</a:t>
            </a:r>
            <a:r>
              <a:rPr lang="en-GB" i="0" u="none" strike="noStrike" cap="none">
                <a:solidFill>
                  <a:schemeClr val="dk1"/>
                </a:solidFill>
                <a:latin typeface="Space Mono"/>
                <a:ea typeface="Space Mono"/>
                <a:cs typeface="Space Mono"/>
                <a:sym typeface="Space Mono"/>
              </a:rPr>
              <a:t> del motor</a:t>
            </a:r>
            <a:endParaRPr>
              <a:solidFill>
                <a:schemeClr val="dk1"/>
              </a:solidFill>
              <a:latin typeface="Space Mono"/>
              <a:ea typeface="Space Mono"/>
              <a:cs typeface="Space Mono"/>
              <a:sym typeface="Space Mono"/>
            </a:endParaRPr>
          </a:p>
        </p:txBody>
      </p:sp>
      <p:sp>
        <p:nvSpPr>
          <p:cNvPr id="395" name="Google Shape;395;p54"/>
          <p:cNvSpPr txBox="1"/>
          <p:nvPr/>
        </p:nvSpPr>
        <p:spPr>
          <a:xfrm>
            <a:off x="4802924" y="1303250"/>
            <a:ext cx="3907800" cy="11466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i="0" u="none" strike="noStrike" cap="none">
                <a:solidFill>
                  <a:schemeClr val="dk1"/>
                </a:solidFill>
                <a:latin typeface="Space Mono"/>
                <a:ea typeface="Space Mono"/>
                <a:cs typeface="Space Mono"/>
                <a:sym typeface="Space Mono"/>
              </a:rPr>
              <a:t>El error de registro puede resolverse integrando una copia del contexto -en este caso, los contornos del coche- en la visualización</a:t>
            </a:r>
            <a:endParaRPr>
              <a:solidFill>
                <a:schemeClr val="dk1"/>
              </a:solidFill>
              <a:latin typeface="Space Mono"/>
              <a:ea typeface="Space Mono"/>
              <a:cs typeface="Space Mono"/>
              <a:sym typeface="Space Mono"/>
            </a:endParaRPr>
          </a:p>
        </p:txBody>
      </p:sp>
      <p:sp>
        <p:nvSpPr>
          <p:cNvPr id="396" name="Google Shape;396;p54"/>
          <p:cNvSpPr txBox="1"/>
          <p:nvPr/>
        </p:nvSpPr>
        <p:spPr>
          <a:xfrm>
            <a:off x="3489848" y="4645850"/>
            <a:ext cx="23799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Denis Kalkofen</a:t>
            </a:r>
            <a:endParaRPr sz="1200">
              <a:solidFill>
                <a:schemeClr val="dk1"/>
              </a:solidFill>
              <a:latin typeface="Space Mono"/>
              <a:ea typeface="Space Mono"/>
              <a:cs typeface="Space Mono"/>
              <a:sym typeface="Space Mono"/>
            </a:endParaRPr>
          </a:p>
        </p:txBody>
      </p:sp>
      <p:sp>
        <p:nvSpPr>
          <p:cNvPr id="397" name="Google Shape;397;p54"/>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398" name="Google Shape;398;p54"/>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Formas de recorte</a:t>
            </a:r>
            <a:endParaRPr sz="2400" b="1"/>
          </a:p>
        </p:txBody>
      </p:sp>
      <p:sp>
        <p:nvSpPr>
          <p:cNvPr id="404" name="Google Shape;404;p55"/>
          <p:cNvSpPr txBox="1">
            <a:spLocks noGrp="1"/>
          </p:cNvSpPr>
          <p:nvPr>
            <p:ph type="body" idx="1"/>
          </p:nvPr>
        </p:nvSpPr>
        <p:spPr>
          <a:xfrm>
            <a:off x="311700" y="1152475"/>
            <a:ext cx="42603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Pantalla alineada o fija en el espacio</a:t>
            </a:r>
            <a:endParaRPr sz="1600"/>
          </a:p>
          <a:p>
            <a:pPr marL="304800" lvl="0" indent="-228600" algn="l" rtl="0">
              <a:lnSpc>
                <a:spcPct val="100000"/>
              </a:lnSpc>
              <a:spcBef>
                <a:spcPts val="500"/>
              </a:spcBef>
              <a:spcAft>
                <a:spcPts val="0"/>
              </a:spcAft>
              <a:buSzPts val="1600"/>
              <a:buChar char="●"/>
            </a:pPr>
            <a:r>
              <a:rPr lang="en-GB" sz="1600"/>
              <a:t>Foco 2D o forma 3D</a:t>
            </a:r>
            <a:endParaRPr sz="1600"/>
          </a:p>
          <a:p>
            <a:pPr marL="304800" lvl="0" indent="-228600" algn="l" rtl="0">
              <a:lnSpc>
                <a:spcPct val="100000"/>
              </a:lnSpc>
              <a:spcBef>
                <a:spcPts val="500"/>
              </a:spcBef>
              <a:spcAft>
                <a:spcPts val="0"/>
              </a:spcAft>
              <a:buSzPts val="1600"/>
              <a:buChar char="●"/>
            </a:pPr>
            <a:r>
              <a:rPr lang="en-GB" sz="1600"/>
              <a:t>Forma fija, forma que sigue la geometría de la escena, definida por el usuario</a:t>
            </a:r>
            <a:endParaRPr sz="1600"/>
          </a:p>
        </p:txBody>
      </p:sp>
      <p:pic>
        <p:nvPicPr>
          <p:cNvPr id="405" name="Google Shape;405;p55" descr="Picture 5"/>
          <p:cNvPicPr preferRelativeResize="0"/>
          <p:nvPr/>
        </p:nvPicPr>
        <p:blipFill rotWithShape="1">
          <a:blip r:embed="rId3">
            <a:alphaModFix/>
          </a:blip>
          <a:srcRect/>
          <a:stretch/>
        </p:blipFill>
        <p:spPr>
          <a:xfrm>
            <a:off x="7058536" y="941924"/>
            <a:ext cx="1541744" cy="1605542"/>
          </a:xfrm>
          <a:prstGeom prst="rect">
            <a:avLst/>
          </a:prstGeom>
          <a:noFill/>
          <a:ln>
            <a:noFill/>
          </a:ln>
        </p:spPr>
      </p:pic>
      <p:sp>
        <p:nvSpPr>
          <p:cNvPr id="406" name="Google Shape;406;p55"/>
          <p:cNvSpPr txBox="1"/>
          <p:nvPr/>
        </p:nvSpPr>
        <p:spPr>
          <a:xfrm>
            <a:off x="7152850" y="2612250"/>
            <a:ext cx="1948800" cy="3693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Chris Furmanski</a:t>
            </a:r>
            <a:endParaRPr sz="1200">
              <a:solidFill>
                <a:schemeClr val="dk1"/>
              </a:solidFill>
              <a:latin typeface="Space Mono"/>
              <a:ea typeface="Space Mono"/>
              <a:cs typeface="Space Mono"/>
              <a:sym typeface="Space Mono"/>
            </a:endParaRPr>
          </a:p>
        </p:txBody>
      </p:sp>
      <p:pic>
        <p:nvPicPr>
          <p:cNvPr id="407" name="Google Shape;407;p55" descr="Picture 3"/>
          <p:cNvPicPr preferRelativeResize="0"/>
          <p:nvPr/>
        </p:nvPicPr>
        <p:blipFill rotWithShape="1">
          <a:blip r:embed="rId4">
            <a:alphaModFix/>
          </a:blip>
          <a:srcRect/>
          <a:stretch/>
        </p:blipFill>
        <p:spPr>
          <a:xfrm>
            <a:off x="4610399" y="923875"/>
            <a:ext cx="2216002" cy="1605542"/>
          </a:xfrm>
          <a:prstGeom prst="rect">
            <a:avLst/>
          </a:prstGeom>
          <a:noFill/>
          <a:ln>
            <a:noFill/>
          </a:ln>
        </p:spPr>
      </p:pic>
      <p:sp>
        <p:nvSpPr>
          <p:cNvPr id="408" name="Google Shape;408;p55"/>
          <p:cNvSpPr txBox="1"/>
          <p:nvPr/>
        </p:nvSpPr>
        <p:spPr>
          <a:xfrm>
            <a:off x="4570800" y="2564775"/>
            <a:ext cx="2265600" cy="3693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Henry Fuchs, UNC Chhapel Hill</a:t>
            </a:r>
            <a:endParaRPr sz="1200">
              <a:solidFill>
                <a:schemeClr val="dk1"/>
              </a:solidFill>
              <a:latin typeface="Space Mono"/>
              <a:ea typeface="Space Mono"/>
              <a:cs typeface="Space Mono"/>
              <a:sym typeface="Space Mono"/>
            </a:endParaRPr>
          </a:p>
        </p:txBody>
      </p:sp>
      <p:pic>
        <p:nvPicPr>
          <p:cNvPr id="409" name="Google Shape;409;p55" descr="Picture 2"/>
          <p:cNvPicPr preferRelativeResize="0"/>
          <p:nvPr/>
        </p:nvPicPr>
        <p:blipFill rotWithShape="1">
          <a:blip r:embed="rId5">
            <a:alphaModFix/>
          </a:blip>
          <a:srcRect t="13811" r="13778" b="435"/>
          <a:stretch/>
        </p:blipFill>
        <p:spPr>
          <a:xfrm>
            <a:off x="6210245" y="2972823"/>
            <a:ext cx="2492679" cy="1796736"/>
          </a:xfrm>
          <a:prstGeom prst="rect">
            <a:avLst/>
          </a:prstGeom>
          <a:noFill/>
          <a:ln>
            <a:noFill/>
          </a:ln>
        </p:spPr>
      </p:pic>
      <p:pic>
        <p:nvPicPr>
          <p:cNvPr id="410" name="Google Shape;410;p55" descr="Picture 4"/>
          <p:cNvPicPr preferRelativeResize="0"/>
          <p:nvPr/>
        </p:nvPicPr>
        <p:blipFill rotWithShape="1">
          <a:blip r:embed="rId6">
            <a:alphaModFix/>
          </a:blip>
          <a:srcRect t="12331" r="14165"/>
          <a:stretch/>
        </p:blipFill>
        <p:spPr>
          <a:xfrm>
            <a:off x="3554202" y="2972823"/>
            <a:ext cx="2442685" cy="1808052"/>
          </a:xfrm>
          <a:prstGeom prst="rect">
            <a:avLst/>
          </a:prstGeom>
          <a:noFill/>
          <a:ln>
            <a:noFill/>
          </a:ln>
        </p:spPr>
      </p:pic>
      <p:pic>
        <p:nvPicPr>
          <p:cNvPr id="411" name="Google Shape;411;p55" descr="Picture 5"/>
          <p:cNvPicPr preferRelativeResize="0"/>
          <p:nvPr/>
        </p:nvPicPr>
        <p:blipFill rotWithShape="1">
          <a:blip r:embed="rId7">
            <a:alphaModFix/>
          </a:blip>
          <a:srcRect l="49994" r="25720"/>
          <a:stretch/>
        </p:blipFill>
        <p:spPr>
          <a:xfrm>
            <a:off x="687075" y="2966262"/>
            <a:ext cx="2560187" cy="1803295"/>
          </a:xfrm>
          <a:prstGeom prst="rect">
            <a:avLst/>
          </a:prstGeom>
          <a:noFill/>
          <a:ln>
            <a:noFill/>
          </a:ln>
        </p:spPr>
      </p:pic>
      <p:sp>
        <p:nvSpPr>
          <p:cNvPr id="412" name="Google Shape;412;p55"/>
          <p:cNvSpPr txBox="1"/>
          <p:nvPr/>
        </p:nvSpPr>
        <p:spPr>
          <a:xfrm>
            <a:off x="642979" y="4737500"/>
            <a:ext cx="27234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chemeClr val="dk1"/>
                </a:solidFill>
                <a:latin typeface="Space Mono"/>
                <a:ea typeface="Space Mono"/>
                <a:cs typeface="Space Mono"/>
                <a:sym typeface="Space Mono"/>
              </a:rPr>
              <a:t>Image: Christoph Bichlmeier</a:t>
            </a:r>
            <a:endParaRPr sz="1200">
              <a:solidFill>
                <a:schemeClr val="dk1"/>
              </a:solidFill>
              <a:latin typeface="Space Mono"/>
              <a:ea typeface="Space Mono"/>
              <a:cs typeface="Space Mono"/>
              <a:sym typeface="Space Mono"/>
            </a:endParaRPr>
          </a:p>
        </p:txBody>
      </p:sp>
      <p:sp>
        <p:nvSpPr>
          <p:cNvPr id="413" name="Google Shape;413;p55"/>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14" name="Google Shape;414;p55"/>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Problemas de corte</a:t>
            </a:r>
            <a:endParaRPr sz="2400" b="1"/>
          </a:p>
        </p:txBody>
      </p:sp>
      <p:sp>
        <p:nvSpPr>
          <p:cNvPr id="420" name="Google Shape;420;p56"/>
          <p:cNvSpPr txBox="1">
            <a:spLocks noGrp="1"/>
          </p:cNvSpPr>
          <p:nvPr>
            <p:ph type="body" idx="1"/>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Grandes cortes</a:t>
            </a:r>
            <a:endParaRPr sz="1600"/>
          </a:p>
          <a:p>
            <a:pPr marL="469900" lvl="1" indent="-228600" algn="l" rtl="0">
              <a:lnSpc>
                <a:spcPct val="100000"/>
              </a:lnSpc>
              <a:spcBef>
                <a:spcPts val="500"/>
              </a:spcBef>
              <a:spcAft>
                <a:spcPts val="0"/>
              </a:spcAft>
              <a:buSzPts val="1600"/>
              <a:buChar char="•"/>
            </a:pPr>
            <a:r>
              <a:rPr lang="en-GB" sz="1600"/>
              <a:t>El agujero puede llegar a ser tan grande como el oclusor </a:t>
            </a:r>
            <a:endParaRPr sz="1600"/>
          </a:p>
          <a:p>
            <a:pPr marL="469900" lvl="1" indent="-228600" algn="l" rtl="0">
              <a:lnSpc>
                <a:spcPct val="100000"/>
              </a:lnSpc>
              <a:spcBef>
                <a:spcPts val="500"/>
              </a:spcBef>
              <a:spcAft>
                <a:spcPts val="0"/>
              </a:spcAft>
              <a:buSzPts val="1600"/>
              <a:buChar char="•"/>
            </a:pPr>
            <a:r>
              <a:rPr lang="en-GB" sz="1600"/>
              <a:t>No hay oclusor y no queda ninguna pista de oclusión</a:t>
            </a:r>
            <a:endParaRPr sz="1600"/>
          </a:p>
          <a:p>
            <a:pPr marL="469900" lvl="1" indent="-228600" algn="l" rtl="0">
              <a:lnSpc>
                <a:spcPct val="100000"/>
              </a:lnSpc>
              <a:spcBef>
                <a:spcPts val="500"/>
              </a:spcBef>
              <a:spcAft>
                <a:spcPts val="0"/>
              </a:spcAft>
              <a:buSzPts val="1600"/>
              <a:buChar char="•"/>
            </a:pPr>
            <a:r>
              <a:rPr lang="en-GB" sz="1600"/>
              <a:t>Restaurar mentalmente la sección de corte se vuelve difícil para cortes grandes</a:t>
            </a:r>
            <a:endParaRPr sz="1600"/>
          </a:p>
          <a:p>
            <a:pPr marL="304800" lvl="0" indent="-228600" algn="l" rtl="0">
              <a:lnSpc>
                <a:spcPct val="100000"/>
              </a:lnSpc>
              <a:spcBef>
                <a:spcPts val="500"/>
              </a:spcBef>
              <a:spcAft>
                <a:spcPts val="0"/>
              </a:spcAft>
              <a:buSzPts val="1600"/>
              <a:buChar char="●"/>
            </a:pPr>
            <a:r>
              <a:rPr lang="en-GB" sz="1600"/>
              <a:t>Utilice el Ghosting en estos casos</a:t>
            </a:r>
            <a:endParaRPr sz="1600"/>
          </a:p>
          <a:p>
            <a:pPr marL="469900" lvl="1" indent="-228600" algn="l" rtl="0">
              <a:lnSpc>
                <a:spcPct val="100000"/>
              </a:lnSpc>
              <a:spcBef>
                <a:spcPts val="500"/>
              </a:spcBef>
              <a:spcAft>
                <a:spcPts val="0"/>
              </a:spcAft>
              <a:buSzPts val="1600"/>
              <a:buChar char="•"/>
            </a:pPr>
            <a:r>
              <a:rPr lang="en-GB" sz="1600"/>
              <a:t>Ghosting = representación escasa de los objetos ocluidos</a:t>
            </a:r>
            <a:endParaRPr sz="1600"/>
          </a:p>
        </p:txBody>
      </p:sp>
      <p:sp>
        <p:nvSpPr>
          <p:cNvPr id="421" name="Google Shape;421;p56"/>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22" name="Google Shape;422;p56"/>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57"/>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Conservas discretas frente a continuas</a:t>
            </a:r>
            <a:endParaRPr sz="2400" b="1"/>
          </a:p>
        </p:txBody>
      </p:sp>
      <p:sp>
        <p:nvSpPr>
          <p:cNvPr id="428" name="Google Shape;428;p57"/>
          <p:cNvSpPr txBox="1">
            <a:spLocks noGrp="1"/>
          </p:cNvSpPr>
          <p:nvPr>
            <p:ph type="body" idx="1"/>
          </p:nvPr>
        </p:nvSpPr>
        <p:spPr>
          <a:xfrm>
            <a:off x="311700" y="1152475"/>
            <a:ext cx="49455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Continuo </a:t>
            </a:r>
            <a:endParaRPr sz="1600"/>
          </a:p>
          <a:p>
            <a:pPr marL="469900" lvl="1" indent="-228600" algn="l" rtl="0">
              <a:lnSpc>
                <a:spcPct val="100000"/>
              </a:lnSpc>
              <a:spcBef>
                <a:spcPts val="500"/>
              </a:spcBef>
              <a:spcAft>
                <a:spcPts val="0"/>
              </a:spcAft>
              <a:buSzPts val="1600"/>
              <a:buChar char="•"/>
            </a:pPr>
            <a:r>
              <a:rPr lang="en-GB" sz="1600"/>
              <a:t>Puede ser difícil de entender</a:t>
            </a:r>
            <a:endParaRPr sz="1600"/>
          </a:p>
          <a:p>
            <a:pPr marL="469900" lvl="1" indent="-228600" algn="l" rtl="0">
              <a:lnSpc>
                <a:spcPct val="100000"/>
              </a:lnSpc>
              <a:spcBef>
                <a:spcPts val="500"/>
              </a:spcBef>
              <a:spcAft>
                <a:spcPts val="0"/>
              </a:spcAft>
              <a:buSzPts val="1600"/>
              <a:buChar char="•"/>
            </a:pPr>
            <a:r>
              <a:rPr lang="en-GB" sz="1600"/>
              <a:t>Menos número de píxeles totalmente opacos</a:t>
            </a:r>
            <a:endParaRPr sz="1600"/>
          </a:p>
          <a:p>
            <a:pPr marL="304800" lvl="0" indent="-228600" algn="l" rtl="0">
              <a:lnSpc>
                <a:spcPct val="100000"/>
              </a:lnSpc>
              <a:spcBef>
                <a:spcPts val="500"/>
              </a:spcBef>
              <a:spcAft>
                <a:spcPts val="0"/>
              </a:spcAft>
              <a:buSzPts val="1600"/>
              <a:buChar char="●"/>
            </a:pPr>
            <a:r>
              <a:rPr lang="en-GB" sz="1600"/>
              <a:t>Discreto </a:t>
            </a:r>
            <a:endParaRPr sz="1600"/>
          </a:p>
          <a:p>
            <a:pPr marL="469900" lvl="1" indent="-228600" algn="l" rtl="0">
              <a:lnSpc>
                <a:spcPct val="100000"/>
              </a:lnSpc>
              <a:spcBef>
                <a:spcPts val="500"/>
              </a:spcBef>
              <a:spcAft>
                <a:spcPts val="0"/>
              </a:spcAft>
              <a:buSzPts val="1600"/>
              <a:buChar char="•"/>
            </a:pPr>
            <a:r>
              <a:rPr lang="en-GB" sz="1600"/>
              <a:t>Difícil de interpolar entre el nivel de escasez</a:t>
            </a:r>
            <a:endParaRPr sz="1600"/>
          </a:p>
        </p:txBody>
      </p:sp>
      <p:pic>
        <p:nvPicPr>
          <p:cNvPr id="429" name="Google Shape;429;p57" descr="Picture 3"/>
          <p:cNvPicPr preferRelativeResize="0"/>
          <p:nvPr/>
        </p:nvPicPr>
        <p:blipFill rotWithShape="1">
          <a:blip r:embed="rId3">
            <a:alphaModFix/>
          </a:blip>
          <a:srcRect/>
          <a:stretch/>
        </p:blipFill>
        <p:spPr>
          <a:xfrm>
            <a:off x="5632191" y="2834714"/>
            <a:ext cx="2525317" cy="1933576"/>
          </a:xfrm>
          <a:prstGeom prst="rect">
            <a:avLst/>
          </a:prstGeom>
          <a:noFill/>
          <a:ln>
            <a:noFill/>
          </a:ln>
        </p:spPr>
      </p:pic>
      <p:pic>
        <p:nvPicPr>
          <p:cNvPr id="430" name="Google Shape;430;p57" descr="Picture 4"/>
          <p:cNvPicPr preferRelativeResize="0"/>
          <p:nvPr/>
        </p:nvPicPr>
        <p:blipFill rotWithShape="1">
          <a:blip r:embed="rId4">
            <a:alphaModFix/>
          </a:blip>
          <a:srcRect/>
          <a:stretch/>
        </p:blipFill>
        <p:spPr>
          <a:xfrm>
            <a:off x="5257143" y="997559"/>
            <a:ext cx="3275410" cy="1800226"/>
          </a:xfrm>
          <a:prstGeom prst="rect">
            <a:avLst/>
          </a:prstGeom>
          <a:noFill/>
          <a:ln>
            <a:noFill/>
          </a:ln>
        </p:spPr>
      </p:pic>
      <p:sp>
        <p:nvSpPr>
          <p:cNvPr id="431" name="Google Shape;431;p57"/>
          <p:cNvSpPr txBox="1"/>
          <p:nvPr/>
        </p:nvSpPr>
        <p:spPr>
          <a:xfrm>
            <a:off x="6685238" y="4727765"/>
            <a:ext cx="16743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b="0" i="0" u="none" strike="noStrike" cap="none">
                <a:solidFill>
                  <a:srgbClr val="000000"/>
                </a:solidFill>
                <a:latin typeface="Helvetica Neue"/>
                <a:ea typeface="Helvetica Neue"/>
                <a:cs typeface="Helvetica Neue"/>
                <a:sym typeface="Helvetica Neue"/>
              </a:rPr>
              <a:t>Image: Nassir Navab</a:t>
            </a:r>
            <a:endParaRPr sz="1200"/>
          </a:p>
        </p:txBody>
      </p:sp>
      <p:sp>
        <p:nvSpPr>
          <p:cNvPr id="432" name="Google Shape;432;p57"/>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33" name="Google Shape;433;p57"/>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58"/>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Problemas con la preservación del contexto</a:t>
            </a:r>
            <a:endParaRPr sz="2400" b="1"/>
          </a:p>
        </p:txBody>
      </p:sp>
      <p:sp>
        <p:nvSpPr>
          <p:cNvPr id="439" name="Google Shape;439;p58"/>
          <p:cNvSpPr txBox="1">
            <a:spLocks noGrp="1"/>
          </p:cNvSpPr>
          <p:nvPr>
            <p:ph type="body" idx="1"/>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SzPts val="1600"/>
              <a:buChar char="●"/>
            </a:pPr>
            <a:r>
              <a:rPr lang="en-GB" sz="1600"/>
              <a:t>Oclusiones de objetos múltiples</a:t>
            </a:r>
            <a:endParaRPr sz="1600"/>
          </a:p>
          <a:p>
            <a:pPr marL="469900" lvl="1" indent="-228600" algn="l" rtl="0">
              <a:lnSpc>
                <a:spcPct val="100000"/>
              </a:lnSpc>
              <a:spcBef>
                <a:spcPts val="500"/>
              </a:spcBef>
              <a:spcAft>
                <a:spcPts val="0"/>
              </a:spcAft>
              <a:buSzPts val="1600"/>
              <a:buChar char="•"/>
            </a:pPr>
            <a:r>
              <a:rPr lang="en-GB" sz="1600"/>
              <a:t>¿Qué objeto preservar?</a:t>
            </a:r>
            <a:endParaRPr sz="1600"/>
          </a:p>
          <a:p>
            <a:pPr marL="304800" lvl="0" indent="-228600" algn="l" rtl="0">
              <a:lnSpc>
                <a:spcPct val="100000"/>
              </a:lnSpc>
              <a:spcBef>
                <a:spcPts val="500"/>
              </a:spcBef>
              <a:spcAft>
                <a:spcPts val="0"/>
              </a:spcAft>
              <a:buSzPts val="1600"/>
              <a:buChar char="●"/>
            </a:pPr>
            <a:r>
              <a:rPr lang="en-GB" sz="1600"/>
              <a:t>Cantidad de preservación</a:t>
            </a:r>
            <a:endParaRPr sz="1600"/>
          </a:p>
          <a:p>
            <a:pPr marL="469900" lvl="1" indent="-228600" algn="l" rtl="0">
              <a:lnSpc>
                <a:spcPct val="100000"/>
              </a:lnSpc>
              <a:spcBef>
                <a:spcPts val="500"/>
              </a:spcBef>
              <a:spcAft>
                <a:spcPts val="0"/>
              </a:spcAft>
              <a:buSzPts val="1600"/>
              <a:buChar char="•"/>
            </a:pPr>
            <a:r>
              <a:rPr lang="en-GB" sz="1600"/>
              <a:t>Bajo preservación </a:t>
            </a:r>
            <a:endParaRPr sz="1600"/>
          </a:p>
          <a:p>
            <a:pPr marL="469900" lvl="1" indent="-228600" algn="l" rtl="0">
              <a:lnSpc>
                <a:spcPct val="100000"/>
              </a:lnSpc>
              <a:spcBef>
                <a:spcPts val="500"/>
              </a:spcBef>
              <a:spcAft>
                <a:spcPts val="0"/>
              </a:spcAft>
              <a:buSzPts val="1600"/>
              <a:buChar char="•"/>
            </a:pPr>
            <a:r>
              <a:rPr lang="en-GB" sz="1600"/>
              <a:t>Sobrepreservado </a:t>
            </a:r>
            <a:endParaRPr sz="1600"/>
          </a:p>
        </p:txBody>
      </p:sp>
      <p:pic>
        <p:nvPicPr>
          <p:cNvPr id="440" name="Google Shape;440;p58" descr="Picture 3"/>
          <p:cNvPicPr preferRelativeResize="0"/>
          <p:nvPr/>
        </p:nvPicPr>
        <p:blipFill rotWithShape="1">
          <a:blip r:embed="rId3">
            <a:alphaModFix/>
          </a:blip>
          <a:srcRect l="19304" t="27939" r="31566" b="23112"/>
          <a:stretch/>
        </p:blipFill>
        <p:spPr>
          <a:xfrm>
            <a:off x="5226843" y="1185862"/>
            <a:ext cx="2581276" cy="1943101"/>
          </a:xfrm>
          <a:prstGeom prst="rect">
            <a:avLst/>
          </a:prstGeom>
          <a:noFill/>
          <a:ln>
            <a:noFill/>
          </a:ln>
        </p:spPr>
      </p:pic>
      <p:pic>
        <p:nvPicPr>
          <p:cNvPr id="441" name="Google Shape;441;p58" descr="Picture 4"/>
          <p:cNvPicPr preferRelativeResize="0"/>
          <p:nvPr/>
        </p:nvPicPr>
        <p:blipFill rotWithShape="1">
          <a:blip r:embed="rId4">
            <a:alphaModFix/>
          </a:blip>
          <a:srcRect/>
          <a:stretch/>
        </p:blipFill>
        <p:spPr>
          <a:xfrm>
            <a:off x="927875" y="3128976"/>
            <a:ext cx="3224213" cy="1541861"/>
          </a:xfrm>
          <a:prstGeom prst="rect">
            <a:avLst/>
          </a:prstGeom>
          <a:noFill/>
          <a:ln>
            <a:noFill/>
          </a:ln>
        </p:spPr>
      </p:pic>
      <p:sp>
        <p:nvSpPr>
          <p:cNvPr id="442" name="Google Shape;442;p58"/>
          <p:cNvSpPr txBox="1"/>
          <p:nvPr/>
        </p:nvSpPr>
        <p:spPr>
          <a:xfrm>
            <a:off x="4229094" y="3685625"/>
            <a:ext cx="3066900" cy="9852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Arial"/>
              <a:buNone/>
            </a:pPr>
            <a:r>
              <a:rPr lang="en-GB" sz="1600" i="0" u="none" strike="noStrike" cap="none">
                <a:solidFill>
                  <a:schemeClr val="dk1"/>
                </a:solidFill>
                <a:latin typeface="Space Mono"/>
                <a:ea typeface="Space Mono"/>
                <a:cs typeface="Space Mono"/>
                <a:sym typeface="Space Mono"/>
              </a:rPr>
              <a:t>Necesidad:</a:t>
            </a:r>
            <a:endParaRPr sz="1600">
              <a:solidFill>
                <a:schemeClr val="dk1"/>
              </a:solidFill>
              <a:latin typeface="Space Mono"/>
              <a:ea typeface="Space Mono"/>
              <a:cs typeface="Space Mono"/>
              <a:sym typeface="Space Mono"/>
            </a:endParaRPr>
          </a:p>
          <a:p>
            <a:pPr marL="0" marR="0" lvl="0" indent="25400" algn="l" rtl="0">
              <a:lnSpc>
                <a:spcPct val="100000"/>
              </a:lnSpc>
              <a:spcBef>
                <a:spcPts val="0"/>
              </a:spcBef>
              <a:spcAft>
                <a:spcPts val="0"/>
              </a:spcAft>
              <a:buClr>
                <a:srgbClr val="000000"/>
              </a:buClr>
              <a:buSzPts val="1200"/>
              <a:buFont typeface="Arial"/>
              <a:buNone/>
            </a:pPr>
            <a:r>
              <a:rPr lang="en-GB" sz="1600" i="0" u="none" strike="noStrike" cap="none">
                <a:solidFill>
                  <a:schemeClr val="dk1"/>
                </a:solidFill>
                <a:latin typeface="Space Mono"/>
                <a:ea typeface="Space Mono"/>
                <a:cs typeface="Space Mono"/>
                <a:sym typeface="Space Mono"/>
              </a:rPr>
              <a:t>Mejores detectores de características</a:t>
            </a:r>
            <a:endParaRPr sz="1600">
              <a:solidFill>
                <a:schemeClr val="dk1"/>
              </a:solidFill>
              <a:latin typeface="Space Mono"/>
              <a:ea typeface="Space Mono"/>
              <a:cs typeface="Space Mono"/>
              <a:sym typeface="Space Mono"/>
            </a:endParaRPr>
          </a:p>
          <a:p>
            <a:pPr marL="0" marR="0" lvl="0" indent="25400" algn="l" rtl="0">
              <a:lnSpc>
                <a:spcPct val="100000"/>
              </a:lnSpc>
              <a:spcBef>
                <a:spcPts val="0"/>
              </a:spcBef>
              <a:spcAft>
                <a:spcPts val="0"/>
              </a:spcAft>
              <a:buClr>
                <a:srgbClr val="000000"/>
              </a:buClr>
              <a:buSzPts val="1200"/>
              <a:buFont typeface="Arial"/>
              <a:buNone/>
            </a:pPr>
            <a:r>
              <a:rPr lang="en-GB" sz="1600" i="0" u="none" strike="noStrike" cap="none">
                <a:solidFill>
                  <a:schemeClr val="dk1"/>
                </a:solidFill>
                <a:latin typeface="Space Mono"/>
                <a:ea typeface="Space Mono"/>
                <a:cs typeface="Space Mono"/>
                <a:sym typeface="Space Mono"/>
              </a:rPr>
              <a:t>Filtro de información</a:t>
            </a:r>
            <a:endParaRPr sz="1600">
              <a:solidFill>
                <a:schemeClr val="dk1"/>
              </a:solidFill>
              <a:latin typeface="Space Mono"/>
              <a:ea typeface="Space Mono"/>
              <a:cs typeface="Space Mono"/>
              <a:sym typeface="Space Mono"/>
            </a:endParaRPr>
          </a:p>
        </p:txBody>
      </p:sp>
      <p:sp>
        <p:nvSpPr>
          <p:cNvPr id="443" name="Google Shape;443;p58"/>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44" name="Google Shape;444;p58"/>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5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Visualización: Fantasmas basados en imágenes</a:t>
            </a:r>
            <a:endParaRPr sz="500" b="1"/>
          </a:p>
        </p:txBody>
      </p:sp>
      <p:sp>
        <p:nvSpPr>
          <p:cNvPr id="450" name="Google Shape;450;p59"/>
          <p:cNvSpPr txBox="1">
            <a:spLocks noGrp="1"/>
          </p:cNvSpPr>
          <p:nvPr>
            <p:ph type="body" idx="1"/>
          </p:nvPr>
        </p:nvSpPr>
        <p:spPr>
          <a:xfrm>
            <a:off x="311700" y="1152475"/>
            <a:ext cx="4379100" cy="3416400"/>
          </a:xfrm>
          <a:prstGeom prst="rect">
            <a:avLst/>
          </a:prstGeom>
          <a:noFill/>
          <a:ln>
            <a:noFill/>
          </a:ln>
        </p:spPr>
        <p:txBody>
          <a:bodyPr spcFirstLastPara="1" wrap="square" lIns="34275" tIns="34275" rIns="34275" bIns="34275" anchor="t" anchorCtr="0">
            <a:normAutofit fontScale="92500" lnSpcReduction="10000"/>
          </a:bodyPr>
          <a:lstStyle/>
          <a:p>
            <a:pPr marL="304800" lvl="0" indent="-250349" algn="l" rtl="0">
              <a:lnSpc>
                <a:spcPct val="100000"/>
              </a:lnSpc>
              <a:spcBef>
                <a:spcPts val="0"/>
              </a:spcBef>
              <a:spcAft>
                <a:spcPts val="0"/>
              </a:spcAft>
              <a:buSzPct val="100000"/>
              <a:buChar char="●"/>
            </a:pPr>
            <a:r>
              <a:rPr lang="en-GB" sz="2100"/>
              <a:t>Infraestructuras ocultas</a:t>
            </a:r>
            <a:endParaRPr sz="500"/>
          </a:p>
          <a:p>
            <a:pPr marL="469900" lvl="1" indent="-250349" algn="l" rtl="0">
              <a:lnSpc>
                <a:spcPct val="100000"/>
              </a:lnSpc>
              <a:spcBef>
                <a:spcPts val="500"/>
              </a:spcBef>
              <a:spcAft>
                <a:spcPts val="0"/>
              </a:spcAft>
              <a:buSzPct val="100000"/>
              <a:buChar char="•"/>
            </a:pPr>
            <a:r>
              <a:rPr lang="en-GB" sz="2100"/>
              <a:t>sub-superficie, tuberías, cables</a:t>
            </a:r>
            <a:endParaRPr sz="500"/>
          </a:p>
          <a:p>
            <a:pPr marL="304800" lvl="0" indent="-127000" algn="l" rtl="0">
              <a:lnSpc>
                <a:spcPct val="100000"/>
              </a:lnSpc>
              <a:spcBef>
                <a:spcPts val="500"/>
              </a:spcBef>
              <a:spcAft>
                <a:spcPts val="0"/>
              </a:spcAft>
              <a:buClr>
                <a:srgbClr val="000000"/>
              </a:buClr>
              <a:buSzPct val="100000"/>
              <a:buNone/>
            </a:pPr>
            <a:endParaRPr sz="2100"/>
          </a:p>
          <a:p>
            <a:pPr marL="304800" lvl="0" indent="-250349" algn="l" rtl="0">
              <a:lnSpc>
                <a:spcPct val="100000"/>
              </a:lnSpc>
              <a:spcBef>
                <a:spcPts val="500"/>
              </a:spcBef>
              <a:spcAft>
                <a:spcPts val="0"/>
              </a:spcAft>
              <a:buSzPct val="100000"/>
              <a:buChar char="●"/>
            </a:pPr>
            <a:r>
              <a:rPr lang="en-GB" sz="2100"/>
              <a:t>Ghostings para oclusiones de una sola capa</a:t>
            </a:r>
            <a:endParaRPr sz="500"/>
          </a:p>
          <a:p>
            <a:pPr marL="304800" lvl="0" indent="-127000" algn="l" rtl="0">
              <a:lnSpc>
                <a:spcPct val="100000"/>
              </a:lnSpc>
              <a:spcBef>
                <a:spcPts val="500"/>
              </a:spcBef>
              <a:spcAft>
                <a:spcPts val="0"/>
              </a:spcAft>
              <a:buClr>
                <a:srgbClr val="000000"/>
              </a:buClr>
              <a:buSzPct val="100000"/>
              <a:buNone/>
            </a:pPr>
            <a:endParaRPr sz="2100"/>
          </a:p>
          <a:p>
            <a:pPr marL="304800" lvl="0" indent="-250349" algn="l" rtl="0">
              <a:lnSpc>
                <a:spcPct val="100000"/>
              </a:lnSpc>
              <a:spcBef>
                <a:spcPts val="500"/>
              </a:spcBef>
              <a:spcAft>
                <a:spcPts val="0"/>
              </a:spcAft>
              <a:buSzPct val="100000"/>
              <a:buChar char="●"/>
            </a:pPr>
            <a:r>
              <a:rPr lang="en-GB" sz="2100"/>
              <a:t>¿Regiones buenas para los ghostings?</a:t>
            </a:r>
            <a:endParaRPr sz="500"/>
          </a:p>
          <a:p>
            <a:pPr marL="469900" lvl="1" indent="-250349" algn="l" rtl="0">
              <a:lnSpc>
                <a:spcPct val="100000"/>
              </a:lnSpc>
              <a:spcBef>
                <a:spcPts val="500"/>
              </a:spcBef>
              <a:spcAft>
                <a:spcPts val="0"/>
              </a:spcAft>
              <a:buSzPct val="100000"/>
              <a:buChar char="•"/>
            </a:pPr>
            <a:r>
              <a:rPr lang="en-GB" sz="2100"/>
              <a:t>Detección de regiones destacadas de la imagen</a:t>
            </a:r>
            <a:endParaRPr sz="500"/>
          </a:p>
        </p:txBody>
      </p:sp>
      <p:pic>
        <p:nvPicPr>
          <p:cNvPr id="451" name="Google Shape;451;p59" descr="Picture 3"/>
          <p:cNvPicPr preferRelativeResize="0"/>
          <p:nvPr/>
        </p:nvPicPr>
        <p:blipFill rotWithShape="1">
          <a:blip r:embed="rId3">
            <a:alphaModFix/>
          </a:blip>
          <a:srcRect l="6253" t="4227" r="12876"/>
          <a:stretch/>
        </p:blipFill>
        <p:spPr>
          <a:xfrm>
            <a:off x="4747455" y="1426466"/>
            <a:ext cx="3924301" cy="2614614"/>
          </a:xfrm>
          <a:prstGeom prst="rect">
            <a:avLst/>
          </a:prstGeom>
          <a:noFill/>
          <a:ln>
            <a:noFill/>
          </a:ln>
        </p:spPr>
      </p:pic>
      <p:sp>
        <p:nvSpPr>
          <p:cNvPr id="452" name="Google Shape;452;p59"/>
          <p:cNvSpPr txBox="1"/>
          <p:nvPr/>
        </p:nvSpPr>
        <p:spPr>
          <a:xfrm>
            <a:off x="6230650" y="4041075"/>
            <a:ext cx="24411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Stefanie Zollmann</a:t>
            </a:r>
            <a:endParaRPr sz="1200">
              <a:solidFill>
                <a:schemeClr val="dk1"/>
              </a:solidFill>
              <a:latin typeface="Space Mono"/>
              <a:ea typeface="Space Mono"/>
              <a:cs typeface="Space Mono"/>
              <a:sym typeface="Space Mono"/>
            </a:endParaRPr>
          </a:p>
        </p:txBody>
      </p:sp>
      <p:sp>
        <p:nvSpPr>
          <p:cNvPr id="453" name="Google Shape;453;p59"/>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54" name="Google Shape;454;p59"/>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60"/>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Motivación</a:t>
            </a:r>
            <a:endParaRPr sz="2400" b="1"/>
          </a:p>
        </p:txBody>
      </p:sp>
      <p:sp>
        <p:nvSpPr>
          <p:cNvPr id="460" name="Google Shape;460;p60"/>
          <p:cNvSpPr txBox="1">
            <a:spLocks noGrp="1"/>
          </p:cNvSpPr>
          <p:nvPr>
            <p:ph type="body" idx="1"/>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None/>
            </a:pPr>
            <a:r>
              <a:rPr lang="en-GB" sz="1600"/>
              <a:t>Superposición simple - Faltan señales de oclusión </a:t>
            </a:r>
            <a:endParaRPr sz="1600"/>
          </a:p>
        </p:txBody>
      </p:sp>
      <p:pic>
        <p:nvPicPr>
          <p:cNvPr id="461" name="Google Shape;461;p60" descr="Picture 3"/>
          <p:cNvPicPr preferRelativeResize="0"/>
          <p:nvPr/>
        </p:nvPicPr>
        <p:blipFill rotWithShape="1">
          <a:blip r:embed="rId3">
            <a:alphaModFix/>
          </a:blip>
          <a:srcRect l="12657" t="16573" r="23543" b="2187"/>
          <a:stretch/>
        </p:blipFill>
        <p:spPr>
          <a:xfrm>
            <a:off x="2399550" y="1593625"/>
            <a:ext cx="4155002" cy="2975251"/>
          </a:xfrm>
          <a:prstGeom prst="rect">
            <a:avLst/>
          </a:prstGeom>
          <a:noFill/>
          <a:ln>
            <a:noFill/>
          </a:ln>
        </p:spPr>
      </p:pic>
      <p:sp>
        <p:nvSpPr>
          <p:cNvPr id="462" name="Google Shape;462;p60"/>
          <p:cNvSpPr txBox="1"/>
          <p:nvPr/>
        </p:nvSpPr>
        <p:spPr>
          <a:xfrm>
            <a:off x="3243975" y="4625950"/>
            <a:ext cx="27693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Stefanie Zollmann</a:t>
            </a:r>
            <a:endParaRPr sz="1200">
              <a:solidFill>
                <a:schemeClr val="dk1"/>
              </a:solidFill>
              <a:latin typeface="Space Mono"/>
              <a:ea typeface="Space Mono"/>
              <a:cs typeface="Space Mono"/>
              <a:sym typeface="Space Mono"/>
            </a:endParaRPr>
          </a:p>
        </p:txBody>
      </p:sp>
      <p:sp>
        <p:nvSpPr>
          <p:cNvPr id="463" name="Google Shape;463;p60"/>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64" name="Google Shape;464;p60"/>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6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Motivación</a:t>
            </a:r>
            <a:endParaRPr sz="2400" b="1"/>
          </a:p>
        </p:txBody>
      </p:sp>
      <p:sp>
        <p:nvSpPr>
          <p:cNvPr id="470" name="Google Shape;470;p61"/>
          <p:cNvSpPr txBox="1">
            <a:spLocks noGrp="1"/>
          </p:cNvSpPr>
          <p:nvPr>
            <p:ph type="body" idx="1"/>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None/>
            </a:pPr>
            <a:r>
              <a:rPr lang="en-GB" sz="2100"/>
              <a:t>Ghosting - ¿Qué información hay que conservar? </a:t>
            </a:r>
            <a:endParaRPr sz="500"/>
          </a:p>
        </p:txBody>
      </p:sp>
      <p:pic>
        <p:nvPicPr>
          <p:cNvPr id="471" name="Google Shape;471;p61" descr="Picture 3"/>
          <p:cNvPicPr preferRelativeResize="0"/>
          <p:nvPr/>
        </p:nvPicPr>
        <p:blipFill rotWithShape="1">
          <a:blip r:embed="rId3">
            <a:alphaModFix/>
          </a:blip>
          <a:srcRect l="12653" t="16507" r="23444" b="1796"/>
          <a:stretch/>
        </p:blipFill>
        <p:spPr>
          <a:xfrm>
            <a:off x="2548376" y="1669975"/>
            <a:ext cx="4047251" cy="2898900"/>
          </a:xfrm>
          <a:prstGeom prst="rect">
            <a:avLst/>
          </a:prstGeom>
          <a:noFill/>
          <a:ln>
            <a:noFill/>
          </a:ln>
        </p:spPr>
      </p:pic>
      <p:sp>
        <p:nvSpPr>
          <p:cNvPr id="472" name="Google Shape;472;p61"/>
          <p:cNvSpPr txBox="1"/>
          <p:nvPr/>
        </p:nvSpPr>
        <p:spPr>
          <a:xfrm>
            <a:off x="3280901" y="4625950"/>
            <a:ext cx="25974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Stefanie Zollmann</a:t>
            </a:r>
            <a:endParaRPr sz="1200">
              <a:solidFill>
                <a:schemeClr val="dk1"/>
              </a:solidFill>
              <a:latin typeface="Space Mono"/>
              <a:ea typeface="Space Mono"/>
              <a:cs typeface="Space Mono"/>
              <a:sym typeface="Space Mono"/>
            </a:endParaRPr>
          </a:p>
        </p:txBody>
      </p:sp>
      <p:sp>
        <p:nvSpPr>
          <p:cNvPr id="473" name="Google Shape;473;p61"/>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74" name="Google Shape;474;p61"/>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62"/>
          <p:cNvSpPr txBox="1">
            <a:spLocks noGrp="1"/>
          </p:cNvSpPr>
          <p:nvPr>
            <p:ph type="title"/>
          </p:nvPr>
        </p:nvSpPr>
        <p:spPr>
          <a:xfrm>
            <a:off x="311700" y="445025"/>
            <a:ext cx="8520600" cy="572700"/>
          </a:xfrm>
          <a:prstGeom prst="rect">
            <a:avLst/>
          </a:prstGeom>
          <a:noFill/>
          <a:ln>
            <a:noFill/>
          </a:ln>
        </p:spPr>
        <p:txBody>
          <a:bodyPr spcFirstLastPara="1" wrap="square" lIns="28575" tIns="28575" rIns="28575" bIns="28575" anchor="ctr" anchorCtr="0">
            <a:normAutofit/>
          </a:bodyPr>
          <a:lstStyle/>
          <a:p>
            <a:pPr marL="0" marR="0" lvl="0" indent="0" algn="l" rtl="0">
              <a:lnSpc>
                <a:spcPct val="100000"/>
              </a:lnSpc>
              <a:spcBef>
                <a:spcPts val="0"/>
              </a:spcBef>
              <a:spcAft>
                <a:spcPts val="0"/>
              </a:spcAft>
              <a:buClr>
                <a:srgbClr val="376092"/>
              </a:buClr>
              <a:buSzPts val="2400"/>
              <a:buFont typeface="Calibri"/>
              <a:buNone/>
            </a:pPr>
            <a:r>
              <a:rPr lang="en-GB" sz="2400" b="1"/>
              <a:t>Explosiones de texturas en vídeo</a:t>
            </a:r>
            <a:endParaRPr sz="500" b="1"/>
          </a:p>
        </p:txBody>
      </p:sp>
      <p:sp>
        <p:nvSpPr>
          <p:cNvPr id="480" name="Google Shape;480;p62"/>
          <p:cNvSpPr txBox="1"/>
          <p:nvPr/>
        </p:nvSpPr>
        <p:spPr>
          <a:xfrm>
            <a:off x="628507" y="1121569"/>
            <a:ext cx="7342200" cy="1145400"/>
          </a:xfrm>
          <a:prstGeom prst="rect">
            <a:avLst/>
          </a:prstGeom>
          <a:noFill/>
          <a:ln>
            <a:noFill/>
          </a:ln>
        </p:spPr>
        <p:txBody>
          <a:bodyPr spcFirstLastPara="1" wrap="square" lIns="28575" tIns="28575" rIns="28575" bIns="28575" anchor="t" anchorCtr="0">
            <a:spAutoFit/>
          </a:bodyPr>
          <a:lstStyle/>
          <a:p>
            <a:pPr marL="228600" marR="0" lvl="0" indent="-215900" algn="l" rtl="0">
              <a:lnSpc>
                <a:spcPct val="100000"/>
              </a:lnSpc>
              <a:spcBef>
                <a:spcPts val="0"/>
              </a:spcBef>
              <a:spcAft>
                <a:spcPts val="0"/>
              </a:spcAft>
              <a:buClr>
                <a:schemeClr val="dk1"/>
              </a:buClr>
              <a:buSzPts val="1600"/>
              <a:buFont typeface="Space Mono"/>
              <a:buChar char="•"/>
            </a:pPr>
            <a:r>
              <a:rPr lang="en-GB" sz="1600" i="0" u="none" strike="noStrike" cap="none">
                <a:solidFill>
                  <a:schemeClr val="dk1"/>
                </a:solidFill>
                <a:latin typeface="Space Mono"/>
                <a:ea typeface="Space Mono"/>
                <a:cs typeface="Space Mono"/>
                <a:sym typeface="Space Mono"/>
              </a:rPr>
              <a:t>Pintar</a:t>
            </a:r>
            <a:endParaRPr sz="300">
              <a:solidFill>
                <a:schemeClr val="dk1"/>
              </a:solidFill>
              <a:latin typeface="Space Mono"/>
              <a:ea typeface="Space Mono"/>
              <a:cs typeface="Space Mono"/>
              <a:sym typeface="Space Mono"/>
            </a:endParaRPr>
          </a:p>
          <a:p>
            <a:pPr marL="228600" marR="0" lvl="0" indent="-215900" algn="l" rtl="0">
              <a:lnSpc>
                <a:spcPct val="100000"/>
              </a:lnSpc>
              <a:spcBef>
                <a:spcPts val="400"/>
              </a:spcBef>
              <a:spcAft>
                <a:spcPts val="0"/>
              </a:spcAft>
              <a:buClr>
                <a:schemeClr val="dk1"/>
              </a:buClr>
              <a:buSzPts val="1600"/>
              <a:buFont typeface="Space Mono"/>
              <a:buChar char="•"/>
            </a:pPr>
            <a:r>
              <a:rPr lang="en-GB" sz="1600" i="0" u="none" strike="noStrike" cap="none">
                <a:solidFill>
                  <a:schemeClr val="dk1"/>
                </a:solidFill>
                <a:latin typeface="Space Mono"/>
                <a:ea typeface="Space Mono"/>
                <a:cs typeface="Space Mono"/>
                <a:sym typeface="Space Mono"/>
              </a:rPr>
              <a:t>Color medio del borde para rellenar los agujeros</a:t>
            </a:r>
            <a:endParaRPr sz="300">
              <a:solidFill>
                <a:schemeClr val="dk1"/>
              </a:solidFill>
              <a:latin typeface="Space Mono"/>
              <a:ea typeface="Space Mono"/>
              <a:cs typeface="Space Mono"/>
              <a:sym typeface="Space Mono"/>
            </a:endParaRPr>
          </a:p>
          <a:p>
            <a:pPr marL="228600" marR="0" lvl="0" indent="-215900" algn="l" rtl="0">
              <a:lnSpc>
                <a:spcPct val="100000"/>
              </a:lnSpc>
              <a:spcBef>
                <a:spcPts val="400"/>
              </a:spcBef>
              <a:spcAft>
                <a:spcPts val="0"/>
              </a:spcAft>
              <a:buClr>
                <a:schemeClr val="dk1"/>
              </a:buClr>
              <a:buSzPts val="1600"/>
              <a:buFont typeface="Space Mono"/>
              <a:buChar char="•"/>
            </a:pPr>
            <a:r>
              <a:rPr lang="en-GB" sz="1600" i="0" u="none" strike="noStrike" cap="none">
                <a:solidFill>
                  <a:schemeClr val="dk1"/>
                </a:solidFill>
                <a:latin typeface="Space Mono"/>
                <a:ea typeface="Space Mono"/>
                <a:cs typeface="Space Mono"/>
                <a:sym typeface="Space Mono"/>
              </a:rPr>
              <a:t>Agujeros en el objeto demasiado grandes, utilizar sólo datos virtuales</a:t>
            </a:r>
            <a:endParaRPr sz="300">
              <a:solidFill>
                <a:schemeClr val="dk1"/>
              </a:solidFill>
              <a:latin typeface="Space Mono"/>
              <a:ea typeface="Space Mono"/>
              <a:cs typeface="Space Mono"/>
              <a:sym typeface="Space Mono"/>
            </a:endParaRPr>
          </a:p>
        </p:txBody>
      </p:sp>
      <p:pic>
        <p:nvPicPr>
          <p:cNvPr id="481" name="Google Shape;481;p62" descr="Picture 3"/>
          <p:cNvPicPr preferRelativeResize="0"/>
          <p:nvPr/>
        </p:nvPicPr>
        <p:blipFill rotWithShape="1">
          <a:blip r:embed="rId3">
            <a:alphaModFix/>
          </a:blip>
          <a:srcRect/>
          <a:stretch/>
        </p:blipFill>
        <p:spPr>
          <a:xfrm>
            <a:off x="1898350" y="2493825"/>
            <a:ext cx="2733102" cy="2074875"/>
          </a:xfrm>
          <a:prstGeom prst="rect">
            <a:avLst/>
          </a:prstGeom>
          <a:noFill/>
          <a:ln w="50800" cap="sq" cmpd="sng">
            <a:solidFill>
              <a:srgbClr val="000000"/>
            </a:solidFill>
            <a:prstDash val="solid"/>
            <a:miter lim="8000"/>
            <a:headEnd type="none" w="sm" len="sm"/>
            <a:tailEnd type="none" w="sm" len="sm"/>
          </a:ln>
          <a:effectLst>
            <a:outerShdw blurRad="127000" dist="101600" dir="2700000" rotWithShape="0">
              <a:srgbClr val="E7E6E6">
                <a:alpha val="39608"/>
              </a:srgbClr>
            </a:outerShdw>
          </a:effectLst>
        </p:spPr>
      </p:pic>
      <p:pic>
        <p:nvPicPr>
          <p:cNvPr id="482" name="Google Shape;482;p62" descr="Picture 4"/>
          <p:cNvPicPr preferRelativeResize="0"/>
          <p:nvPr/>
        </p:nvPicPr>
        <p:blipFill rotWithShape="1">
          <a:blip r:embed="rId4">
            <a:alphaModFix/>
          </a:blip>
          <a:srcRect/>
          <a:stretch/>
        </p:blipFill>
        <p:spPr>
          <a:xfrm>
            <a:off x="4882155" y="2494390"/>
            <a:ext cx="2363495" cy="2074310"/>
          </a:xfrm>
          <a:prstGeom prst="rect">
            <a:avLst/>
          </a:prstGeom>
          <a:noFill/>
          <a:ln w="50800" cap="sq" cmpd="sng">
            <a:solidFill>
              <a:srgbClr val="000000"/>
            </a:solidFill>
            <a:prstDash val="solid"/>
            <a:miter lim="8000"/>
            <a:headEnd type="none" w="sm" len="sm"/>
            <a:tailEnd type="none" w="sm" len="sm"/>
          </a:ln>
          <a:effectLst>
            <a:outerShdw blurRad="127000" dist="101600" dir="2700000" rotWithShape="0">
              <a:srgbClr val="E7E6E6">
                <a:alpha val="39608"/>
              </a:srgbClr>
            </a:outerShdw>
          </a:effectLst>
        </p:spPr>
      </p:pic>
      <p:sp>
        <p:nvSpPr>
          <p:cNvPr id="483" name="Google Shape;483;p62"/>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84" name="Google Shape;484;p62"/>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pic>
        <p:nvPicPr>
          <p:cNvPr id="489" name="Google Shape;489;p63" descr="Picture 8"/>
          <p:cNvPicPr preferRelativeResize="0"/>
          <p:nvPr/>
        </p:nvPicPr>
        <p:blipFill rotWithShape="1">
          <a:blip r:embed="rId3">
            <a:alphaModFix/>
          </a:blip>
          <a:srcRect/>
          <a:stretch/>
        </p:blipFill>
        <p:spPr>
          <a:xfrm>
            <a:off x="831274" y="2257874"/>
            <a:ext cx="3791112" cy="2102801"/>
          </a:xfrm>
          <a:prstGeom prst="rect">
            <a:avLst/>
          </a:prstGeom>
          <a:noFill/>
          <a:ln>
            <a:noFill/>
          </a:ln>
        </p:spPr>
      </p:pic>
      <p:pic>
        <p:nvPicPr>
          <p:cNvPr id="490" name="Google Shape;490;p63" descr="Picture 3"/>
          <p:cNvPicPr preferRelativeResize="0"/>
          <p:nvPr/>
        </p:nvPicPr>
        <p:blipFill rotWithShape="1">
          <a:blip r:embed="rId4">
            <a:alphaModFix/>
          </a:blip>
          <a:srcRect/>
          <a:stretch/>
        </p:blipFill>
        <p:spPr>
          <a:xfrm>
            <a:off x="5467767" y="2326570"/>
            <a:ext cx="3300208" cy="2030158"/>
          </a:xfrm>
          <a:prstGeom prst="rect">
            <a:avLst/>
          </a:prstGeom>
          <a:noFill/>
          <a:ln>
            <a:noFill/>
          </a:ln>
        </p:spPr>
      </p:pic>
      <p:sp>
        <p:nvSpPr>
          <p:cNvPr id="491" name="Google Shape;491;p63"/>
          <p:cNvSpPr txBox="1">
            <a:spLocks noGrp="1"/>
          </p:cNvSpPr>
          <p:nvPr>
            <p:ph type="title"/>
          </p:nvPr>
        </p:nvSpPr>
        <p:spPr>
          <a:xfrm>
            <a:off x="464375" y="49597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Mundo curvo</a:t>
            </a:r>
            <a:endParaRPr sz="2400" b="1"/>
          </a:p>
        </p:txBody>
      </p:sp>
      <p:sp>
        <p:nvSpPr>
          <p:cNvPr id="492" name="Google Shape;492;p63"/>
          <p:cNvSpPr txBox="1"/>
          <p:nvPr/>
        </p:nvSpPr>
        <p:spPr>
          <a:xfrm>
            <a:off x="5111969" y="1449669"/>
            <a:ext cx="3618300" cy="8082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La vista en perspectiva variable se consigue aplicando principios de la animación de esqueletos a la parte inclinada de la geometría de la escena</a:t>
            </a:r>
            <a:endParaRPr sz="300">
              <a:solidFill>
                <a:schemeClr val="dk1"/>
              </a:solidFill>
              <a:latin typeface="Space Mono"/>
              <a:ea typeface="Space Mono"/>
              <a:cs typeface="Space Mono"/>
              <a:sym typeface="Space Mono"/>
            </a:endParaRPr>
          </a:p>
        </p:txBody>
      </p:sp>
      <p:sp>
        <p:nvSpPr>
          <p:cNvPr id="493" name="Google Shape;493;p63"/>
          <p:cNvSpPr txBox="1"/>
          <p:nvPr/>
        </p:nvSpPr>
        <p:spPr>
          <a:xfrm>
            <a:off x="1498026" y="4360675"/>
            <a:ext cx="18831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Eduardo Veas</a:t>
            </a:r>
            <a:endParaRPr sz="1200">
              <a:solidFill>
                <a:schemeClr val="dk1"/>
              </a:solidFill>
              <a:latin typeface="Space Mono"/>
              <a:ea typeface="Space Mono"/>
              <a:cs typeface="Space Mono"/>
              <a:sym typeface="Space Mono"/>
            </a:endParaRPr>
          </a:p>
        </p:txBody>
      </p:sp>
      <p:sp>
        <p:nvSpPr>
          <p:cNvPr id="494" name="Google Shape;494;p63"/>
          <p:cNvSpPr txBox="1"/>
          <p:nvPr/>
        </p:nvSpPr>
        <p:spPr>
          <a:xfrm>
            <a:off x="831265" y="1398259"/>
            <a:ext cx="4410000" cy="808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La vista de perspectiva variable integra una perspectiva en primera persona del primer plano y una vista virtual descendente de la escena lejana en una sola imagen</a:t>
            </a:r>
            <a:endParaRPr sz="300">
              <a:solidFill>
                <a:schemeClr val="dk1"/>
              </a:solidFill>
              <a:latin typeface="Space Mono"/>
              <a:ea typeface="Space Mono"/>
              <a:cs typeface="Space Mono"/>
              <a:sym typeface="Space Mono"/>
            </a:endParaRPr>
          </a:p>
        </p:txBody>
      </p:sp>
      <p:sp>
        <p:nvSpPr>
          <p:cNvPr id="495" name="Google Shape;495;p63"/>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496" name="Google Shape;496;p63"/>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64"/>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Filtrado espacial: Lentes mágicas</a:t>
            </a:r>
            <a:endParaRPr sz="2400" b="1"/>
          </a:p>
        </p:txBody>
      </p:sp>
      <p:pic>
        <p:nvPicPr>
          <p:cNvPr id="502" name="Google Shape;502;p64" descr="Picture 2"/>
          <p:cNvPicPr preferRelativeResize="0"/>
          <p:nvPr/>
        </p:nvPicPr>
        <p:blipFill rotWithShape="1">
          <a:blip r:embed="rId3">
            <a:alphaModFix/>
          </a:blip>
          <a:srcRect/>
          <a:stretch/>
        </p:blipFill>
        <p:spPr>
          <a:xfrm>
            <a:off x="3492104" y="1314450"/>
            <a:ext cx="2107407" cy="628650"/>
          </a:xfrm>
          <a:prstGeom prst="rect">
            <a:avLst/>
          </a:prstGeom>
          <a:noFill/>
          <a:ln>
            <a:noFill/>
          </a:ln>
        </p:spPr>
      </p:pic>
      <p:pic>
        <p:nvPicPr>
          <p:cNvPr id="503" name="Google Shape;503;p64" descr="Picture 3"/>
          <p:cNvPicPr preferRelativeResize="0"/>
          <p:nvPr/>
        </p:nvPicPr>
        <p:blipFill rotWithShape="1">
          <a:blip r:embed="rId4">
            <a:alphaModFix/>
          </a:blip>
          <a:srcRect/>
          <a:stretch/>
        </p:blipFill>
        <p:spPr>
          <a:xfrm>
            <a:off x="1763316" y="2463404"/>
            <a:ext cx="1303734" cy="1350170"/>
          </a:xfrm>
          <a:prstGeom prst="rect">
            <a:avLst/>
          </a:prstGeom>
          <a:noFill/>
          <a:ln>
            <a:noFill/>
          </a:ln>
        </p:spPr>
      </p:pic>
      <p:sp>
        <p:nvSpPr>
          <p:cNvPr id="504" name="Google Shape;504;p64"/>
          <p:cNvSpPr txBox="1"/>
          <p:nvPr/>
        </p:nvSpPr>
        <p:spPr>
          <a:xfrm>
            <a:off x="3492100" y="1943100"/>
            <a:ext cx="4608600" cy="427200"/>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[Bier93] Bier Eric, Stone Maureen, Pier Ken, Buxton William, DeRose Tony,</a:t>
            </a:r>
            <a:endParaRPr sz="800" i="0" u="none" strike="noStrike" cap="none">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“Toolglass and Magic Lenses: the see-through interface,” In proceedings</a:t>
            </a:r>
            <a:endParaRPr sz="800" i="0" u="none" strike="noStrike" cap="none">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SIGGRAPH 1993, pp. 73-80</a:t>
            </a:r>
            <a:endParaRPr sz="800">
              <a:solidFill>
                <a:schemeClr val="dk1"/>
              </a:solidFill>
              <a:latin typeface="Space Mono"/>
              <a:ea typeface="Space Mono"/>
              <a:cs typeface="Space Mono"/>
              <a:sym typeface="Space Mono"/>
            </a:endParaRPr>
          </a:p>
        </p:txBody>
      </p:sp>
      <p:pic>
        <p:nvPicPr>
          <p:cNvPr id="505" name="Google Shape;505;p64" descr="Picture 5"/>
          <p:cNvPicPr preferRelativeResize="0"/>
          <p:nvPr/>
        </p:nvPicPr>
        <p:blipFill rotWithShape="1">
          <a:blip r:embed="rId5">
            <a:alphaModFix/>
          </a:blip>
          <a:srcRect/>
          <a:stretch/>
        </p:blipFill>
        <p:spPr>
          <a:xfrm>
            <a:off x="5278704" y="2865545"/>
            <a:ext cx="2915841" cy="1707358"/>
          </a:xfrm>
          <a:prstGeom prst="rect">
            <a:avLst/>
          </a:prstGeom>
          <a:noFill/>
          <a:ln>
            <a:noFill/>
          </a:ln>
        </p:spPr>
      </p:pic>
      <p:sp>
        <p:nvSpPr>
          <p:cNvPr id="506" name="Google Shape;506;p64"/>
          <p:cNvSpPr txBox="1"/>
          <p:nvPr/>
        </p:nvSpPr>
        <p:spPr>
          <a:xfrm>
            <a:off x="1782725" y="3813575"/>
            <a:ext cx="3408600" cy="550200"/>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[Viega96] Viega John, Conway Matthew, Williams George, Pausch Randy,“3D Magic Lenses,” In proceedings ACM Symposium on User Interface</a:t>
            </a:r>
            <a:endParaRPr sz="800" i="0" u="none" strike="noStrike" cap="none">
              <a:solidFill>
                <a:schemeClr val="dk1"/>
              </a:solidFill>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100"/>
              <a:buFont typeface="Arial"/>
              <a:buNone/>
            </a:pPr>
            <a:r>
              <a:rPr lang="en-GB" sz="800" i="0" u="none" strike="noStrike" cap="none">
                <a:solidFill>
                  <a:schemeClr val="dk1"/>
                </a:solidFill>
                <a:latin typeface="Space Mono"/>
                <a:ea typeface="Space Mono"/>
                <a:cs typeface="Space Mono"/>
                <a:sym typeface="Space Mono"/>
              </a:rPr>
              <a:t>Software and Technology, 1996, pp. 51-58</a:t>
            </a:r>
            <a:endParaRPr sz="800">
              <a:solidFill>
                <a:schemeClr val="dk1"/>
              </a:solidFill>
              <a:latin typeface="Space Mono"/>
              <a:ea typeface="Space Mono"/>
              <a:cs typeface="Space Mono"/>
              <a:sym typeface="Space Mono"/>
            </a:endParaRPr>
          </a:p>
        </p:txBody>
      </p:sp>
      <p:sp>
        <p:nvSpPr>
          <p:cNvPr id="507" name="Google Shape;507;p64"/>
          <p:cNvSpPr txBox="1"/>
          <p:nvPr/>
        </p:nvSpPr>
        <p:spPr>
          <a:xfrm>
            <a:off x="5341579" y="1366225"/>
            <a:ext cx="258000" cy="242400"/>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Arial"/>
                <a:ea typeface="Arial"/>
                <a:cs typeface="Arial"/>
                <a:sym typeface="Arial"/>
              </a:rPr>
              <a:t>2D</a:t>
            </a:r>
            <a:endParaRPr sz="500"/>
          </a:p>
        </p:txBody>
      </p:sp>
      <p:sp>
        <p:nvSpPr>
          <p:cNvPr id="508" name="Google Shape;508;p64"/>
          <p:cNvSpPr txBox="1"/>
          <p:nvPr/>
        </p:nvSpPr>
        <p:spPr>
          <a:xfrm>
            <a:off x="2519363" y="2499123"/>
            <a:ext cx="257919" cy="228377"/>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Arial"/>
                <a:ea typeface="Arial"/>
                <a:cs typeface="Arial"/>
                <a:sym typeface="Arial"/>
              </a:rPr>
              <a:t>3D</a:t>
            </a:r>
            <a:endParaRPr sz="500"/>
          </a:p>
        </p:txBody>
      </p:sp>
      <p:sp>
        <p:nvSpPr>
          <p:cNvPr id="509" name="Google Shape;509;p64"/>
          <p:cNvSpPr txBox="1"/>
          <p:nvPr/>
        </p:nvSpPr>
        <p:spPr>
          <a:xfrm>
            <a:off x="5920979" y="4462463"/>
            <a:ext cx="1236390" cy="228377"/>
          </a:xfrm>
          <a:prstGeom prst="rect">
            <a:avLst/>
          </a:prstGeom>
          <a:noFill/>
          <a:ln>
            <a:noFill/>
          </a:ln>
        </p:spPr>
        <p:txBody>
          <a:bodyPr spcFirstLastPara="1" wrap="square" lIns="28575" tIns="28575" rIns="28575" bIns="285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GB" sz="1200" b="0" i="0" u="none" strike="noStrike" cap="none">
                <a:solidFill>
                  <a:srgbClr val="000000"/>
                </a:solidFill>
                <a:latin typeface="Arial"/>
                <a:ea typeface="Arial"/>
                <a:cs typeface="Arial"/>
                <a:sym typeface="Arial"/>
              </a:rPr>
              <a:t>2-1/2D=Flat Lens</a:t>
            </a:r>
            <a:endParaRPr sz="500"/>
          </a:p>
        </p:txBody>
      </p:sp>
      <p:sp>
        <p:nvSpPr>
          <p:cNvPr id="510" name="Google Shape;510;p64"/>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11" name="Google Shape;511;p64"/>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pic>
        <p:nvPicPr>
          <p:cNvPr id="516" name="Google Shape;516;p65" descr="Picture 2"/>
          <p:cNvPicPr preferRelativeResize="0"/>
          <p:nvPr/>
        </p:nvPicPr>
        <p:blipFill rotWithShape="1">
          <a:blip r:embed="rId3">
            <a:alphaModFix/>
          </a:blip>
          <a:srcRect/>
          <a:stretch/>
        </p:blipFill>
        <p:spPr>
          <a:xfrm>
            <a:off x="4248663" y="845273"/>
            <a:ext cx="4418574" cy="3326102"/>
          </a:xfrm>
          <a:prstGeom prst="rect">
            <a:avLst/>
          </a:prstGeom>
          <a:noFill/>
          <a:ln>
            <a:noFill/>
          </a:ln>
        </p:spPr>
      </p:pic>
      <p:sp>
        <p:nvSpPr>
          <p:cNvPr id="517" name="Google Shape;517;p6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Túnel de rayos X</a:t>
            </a:r>
            <a:endParaRPr sz="2400" b="1"/>
          </a:p>
        </p:txBody>
      </p:sp>
      <p:sp>
        <p:nvSpPr>
          <p:cNvPr id="518" name="Google Shape;518;p65"/>
          <p:cNvSpPr txBox="1"/>
          <p:nvPr/>
        </p:nvSpPr>
        <p:spPr>
          <a:xfrm>
            <a:off x="764626" y="2090260"/>
            <a:ext cx="3448800" cy="13005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El túnel de rayos X permite al usuario mirar dentro de un edificio y da pistas sobre la distancia de la geometría descubierta</a:t>
            </a:r>
            <a:endParaRPr sz="1600">
              <a:solidFill>
                <a:schemeClr val="dk1"/>
              </a:solidFill>
              <a:latin typeface="Space Mono"/>
              <a:ea typeface="Space Mono"/>
              <a:cs typeface="Space Mono"/>
              <a:sym typeface="Space Mono"/>
            </a:endParaRPr>
          </a:p>
        </p:txBody>
      </p:sp>
      <p:sp>
        <p:nvSpPr>
          <p:cNvPr id="519" name="Google Shape;519;p65"/>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20" name="Google Shape;520;p65"/>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pic>
        <p:nvPicPr>
          <p:cNvPr id="525" name="Google Shape;525;p66" descr="Picture 2"/>
          <p:cNvPicPr preferRelativeResize="0"/>
          <p:nvPr/>
        </p:nvPicPr>
        <p:blipFill rotWithShape="1">
          <a:blip r:embed="rId3">
            <a:alphaModFix/>
          </a:blip>
          <a:srcRect/>
          <a:stretch/>
        </p:blipFill>
        <p:spPr>
          <a:xfrm>
            <a:off x="2686050" y="1420416"/>
            <a:ext cx="4122535" cy="3270165"/>
          </a:xfrm>
          <a:prstGeom prst="rect">
            <a:avLst/>
          </a:prstGeom>
          <a:noFill/>
          <a:ln>
            <a:noFill/>
          </a:ln>
        </p:spPr>
      </p:pic>
      <p:sp>
        <p:nvSpPr>
          <p:cNvPr id="526" name="Google Shape;526;p6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Lente de rayos X Hígado</a:t>
            </a:r>
            <a:endParaRPr sz="2400" b="1"/>
          </a:p>
        </p:txBody>
      </p:sp>
      <p:sp>
        <p:nvSpPr>
          <p:cNvPr id="527" name="Google Shape;527;p66"/>
          <p:cNvSpPr txBox="1"/>
          <p:nvPr/>
        </p:nvSpPr>
        <p:spPr>
          <a:xfrm>
            <a:off x="770700" y="1076725"/>
            <a:ext cx="7602600" cy="2847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400" i="0" u="none" strike="noStrike" cap="none">
                <a:solidFill>
                  <a:schemeClr val="dk1"/>
                </a:solidFill>
                <a:latin typeface="Space Mono"/>
                <a:ea typeface="Space Mono"/>
                <a:cs typeface="Space Mono"/>
                <a:sym typeface="Space Mono"/>
              </a:rPr>
              <a:t>Una lente mágica revela los vasos del interior de un modelo de hígado </a:t>
            </a:r>
            <a:endParaRPr sz="500">
              <a:solidFill>
                <a:schemeClr val="dk1"/>
              </a:solidFill>
              <a:latin typeface="Space Mono"/>
              <a:ea typeface="Space Mono"/>
              <a:cs typeface="Space Mono"/>
              <a:sym typeface="Space Mono"/>
            </a:endParaRPr>
          </a:p>
        </p:txBody>
      </p:sp>
      <p:sp>
        <p:nvSpPr>
          <p:cNvPr id="528" name="Google Shape;528;p66"/>
          <p:cNvSpPr txBox="1"/>
          <p:nvPr/>
        </p:nvSpPr>
        <p:spPr>
          <a:xfrm>
            <a:off x="2492921" y="4642664"/>
            <a:ext cx="4572000" cy="253800"/>
          </a:xfrm>
          <a:prstGeom prst="rect">
            <a:avLst/>
          </a:prstGeom>
          <a:noFill/>
          <a:ln>
            <a:noFill/>
          </a:ln>
        </p:spPr>
        <p:txBody>
          <a:bodyPr spcFirstLastPara="1" wrap="square" lIns="34275" tIns="34275" rIns="34275" bIns="34275" anchor="t" anchorCtr="0">
            <a:spAutoFit/>
          </a:bodyPr>
          <a:lstStyle/>
          <a:p>
            <a:pPr marL="0" marR="0" lvl="0" indent="0" algn="ctr"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Erick Mendez and Denis Kalkofen</a:t>
            </a:r>
            <a:endParaRPr sz="1200">
              <a:solidFill>
                <a:schemeClr val="dk1"/>
              </a:solidFill>
              <a:latin typeface="Space Mono"/>
              <a:ea typeface="Space Mono"/>
              <a:cs typeface="Space Mono"/>
              <a:sym typeface="Space Mono"/>
            </a:endParaRPr>
          </a:p>
        </p:txBody>
      </p:sp>
      <p:sp>
        <p:nvSpPr>
          <p:cNvPr id="529" name="Google Shape;529;p66"/>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30" name="Google Shape;530;p66"/>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pic>
        <p:nvPicPr>
          <p:cNvPr id="535" name="Google Shape;535;p67" descr="Picture 4"/>
          <p:cNvPicPr preferRelativeResize="0"/>
          <p:nvPr/>
        </p:nvPicPr>
        <p:blipFill rotWithShape="1">
          <a:blip r:embed="rId3">
            <a:alphaModFix/>
          </a:blip>
          <a:srcRect/>
          <a:stretch/>
        </p:blipFill>
        <p:spPr>
          <a:xfrm>
            <a:off x="3740005" y="1268016"/>
            <a:ext cx="4574382" cy="3024189"/>
          </a:xfrm>
          <a:prstGeom prst="rect">
            <a:avLst/>
          </a:prstGeom>
          <a:noFill/>
          <a:ln>
            <a:noFill/>
          </a:ln>
        </p:spPr>
      </p:pic>
      <p:sp>
        <p:nvSpPr>
          <p:cNvPr id="536" name="Google Shape;536;p67"/>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Filtrado basado en el conocimiento</a:t>
            </a:r>
            <a:endParaRPr sz="2400" b="1"/>
          </a:p>
        </p:txBody>
      </p:sp>
      <p:sp>
        <p:nvSpPr>
          <p:cNvPr id="537" name="Google Shape;537;p67"/>
          <p:cNvSpPr txBox="1"/>
          <p:nvPr/>
        </p:nvSpPr>
        <p:spPr>
          <a:xfrm>
            <a:off x="3761815" y="4333571"/>
            <a:ext cx="4425000" cy="438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Blair MacIntyre and Steve Feiner, Columbia Univ. </a:t>
            </a:r>
            <a:endParaRPr sz="1200">
              <a:solidFill>
                <a:schemeClr val="dk1"/>
              </a:solidFill>
              <a:latin typeface="Space Mono"/>
              <a:ea typeface="Space Mono"/>
              <a:cs typeface="Space Mono"/>
              <a:sym typeface="Space Mono"/>
            </a:endParaRPr>
          </a:p>
        </p:txBody>
      </p:sp>
      <p:sp>
        <p:nvSpPr>
          <p:cNvPr id="538" name="Google Shape;538;p67"/>
          <p:cNvSpPr txBox="1"/>
          <p:nvPr/>
        </p:nvSpPr>
        <p:spPr>
          <a:xfrm>
            <a:off x="570578" y="2013586"/>
            <a:ext cx="3086100" cy="15468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600" i="0" u="none" strike="noStrike" cap="none">
                <a:solidFill>
                  <a:schemeClr val="dk1"/>
                </a:solidFill>
                <a:latin typeface="Space Mono"/>
                <a:ea typeface="Space Mono"/>
                <a:cs typeface="Space Mono"/>
                <a:sym typeface="Space Mono"/>
              </a:rPr>
              <a:t>Mostrar información de una secuencia de mantenimiento basada en el conocimiento del procedimiento y el estado del usuario</a:t>
            </a:r>
            <a:endParaRPr sz="1600">
              <a:solidFill>
                <a:schemeClr val="dk1"/>
              </a:solidFill>
              <a:latin typeface="Space Mono"/>
              <a:ea typeface="Space Mono"/>
              <a:cs typeface="Space Mono"/>
              <a:sym typeface="Space Mono"/>
            </a:endParaRPr>
          </a:p>
        </p:txBody>
      </p:sp>
      <p:sp>
        <p:nvSpPr>
          <p:cNvPr id="539" name="Google Shape;539;p67"/>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40" name="Google Shape;540;p67"/>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68"/>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Filtrado por contexto desde el gráfico de la escena</a:t>
            </a:r>
            <a:endParaRPr sz="2400" b="1"/>
          </a:p>
        </p:txBody>
      </p:sp>
      <p:sp>
        <p:nvSpPr>
          <p:cNvPr id="546" name="Google Shape;546;p68"/>
          <p:cNvSpPr txBox="1">
            <a:spLocks noGrp="1"/>
          </p:cNvSpPr>
          <p:nvPr>
            <p:ph type="body" idx="4294967295"/>
          </p:nvPr>
        </p:nvSpPr>
        <p:spPr>
          <a:xfrm>
            <a:off x="311700" y="1152475"/>
            <a:ext cx="8520600" cy="3416400"/>
          </a:xfrm>
          <a:prstGeom prst="rect">
            <a:avLst/>
          </a:prstGeom>
          <a:noFill/>
          <a:ln>
            <a:noFill/>
          </a:ln>
        </p:spPr>
        <p:txBody>
          <a:bodyPr spcFirstLastPara="1" wrap="square" lIns="34275" tIns="34275" rIns="34275" bIns="34275" anchor="t" anchorCtr="0">
            <a:normAutofit/>
          </a:bodyPr>
          <a:lstStyle/>
          <a:p>
            <a:pPr marL="304800" lvl="0" indent="-228600" algn="l" rtl="0">
              <a:lnSpc>
                <a:spcPct val="100000"/>
              </a:lnSpc>
              <a:spcBef>
                <a:spcPts val="0"/>
              </a:spcBef>
              <a:spcAft>
                <a:spcPts val="0"/>
              </a:spcAft>
              <a:buClr>
                <a:srgbClr val="000000"/>
              </a:buClr>
              <a:buSzPts val="1600"/>
              <a:buChar char="●"/>
            </a:pPr>
            <a:r>
              <a:rPr lang="en-GB" sz="1600"/>
              <a:t>Selección de área mediante una lente mágica 3D</a:t>
            </a:r>
            <a:endParaRPr sz="1600"/>
          </a:p>
          <a:p>
            <a:pPr marL="304800" lvl="0" indent="-228600" algn="l" rtl="0">
              <a:lnSpc>
                <a:spcPct val="100000"/>
              </a:lnSpc>
              <a:spcBef>
                <a:spcPts val="500"/>
              </a:spcBef>
              <a:spcAft>
                <a:spcPts val="0"/>
              </a:spcAft>
              <a:buClr>
                <a:srgbClr val="000000"/>
              </a:buClr>
              <a:buSzPts val="1600"/>
              <a:buChar char="●"/>
            </a:pPr>
            <a:r>
              <a:rPr lang="en-GB" sz="1600"/>
              <a:t>La apariencia de los objetos se determina a partir de los atributos heredados en el gráfico de la escena</a:t>
            </a:r>
            <a:endParaRPr sz="1600"/>
          </a:p>
        </p:txBody>
      </p:sp>
      <p:pic>
        <p:nvPicPr>
          <p:cNvPr id="547" name="Google Shape;547;p68" descr="Picture 3"/>
          <p:cNvPicPr preferRelativeResize="0"/>
          <p:nvPr/>
        </p:nvPicPr>
        <p:blipFill rotWithShape="1">
          <a:blip r:embed="rId3">
            <a:alphaModFix/>
          </a:blip>
          <a:srcRect b="13312"/>
          <a:stretch/>
        </p:blipFill>
        <p:spPr>
          <a:xfrm>
            <a:off x="1378475" y="2354428"/>
            <a:ext cx="3283430" cy="2214447"/>
          </a:xfrm>
          <a:prstGeom prst="rect">
            <a:avLst/>
          </a:prstGeom>
          <a:noFill/>
          <a:ln>
            <a:noFill/>
          </a:ln>
        </p:spPr>
      </p:pic>
      <p:pic>
        <p:nvPicPr>
          <p:cNvPr id="548" name="Google Shape;548;p68" descr="Picture 4"/>
          <p:cNvPicPr preferRelativeResize="0"/>
          <p:nvPr/>
        </p:nvPicPr>
        <p:blipFill rotWithShape="1">
          <a:blip r:embed="rId4">
            <a:alphaModFix/>
          </a:blip>
          <a:srcRect/>
          <a:stretch/>
        </p:blipFill>
        <p:spPr>
          <a:xfrm>
            <a:off x="4771212" y="2354425"/>
            <a:ext cx="2994314" cy="2214446"/>
          </a:xfrm>
          <a:prstGeom prst="rect">
            <a:avLst/>
          </a:prstGeom>
          <a:noFill/>
          <a:ln>
            <a:noFill/>
          </a:ln>
        </p:spPr>
      </p:pic>
      <p:sp>
        <p:nvSpPr>
          <p:cNvPr id="549" name="Google Shape;549;p68"/>
          <p:cNvSpPr txBox="1"/>
          <p:nvPr/>
        </p:nvSpPr>
        <p:spPr>
          <a:xfrm>
            <a:off x="3969778" y="4660450"/>
            <a:ext cx="2431200" cy="184800"/>
          </a:xfrm>
          <a:prstGeom prst="rect">
            <a:avLst/>
          </a:prstGeom>
          <a:noFill/>
          <a:ln>
            <a:noFill/>
          </a:ln>
        </p:spPr>
        <p:txBody>
          <a:bodyPr spcFirstLastPara="1" wrap="square" lIns="0" tIns="0" rIns="0" bIns="0" anchor="t" anchorCtr="0">
            <a:spAutoFit/>
          </a:bodyPr>
          <a:lstStyle/>
          <a:p>
            <a:pPr marL="0" marR="0" lvl="0" indent="25400" algn="l" rtl="0">
              <a:lnSpc>
                <a:spcPct val="100000"/>
              </a:lnSpc>
              <a:spcBef>
                <a:spcPts val="0"/>
              </a:spcBef>
              <a:spcAft>
                <a:spcPts val="0"/>
              </a:spcAft>
              <a:buClr>
                <a:srgbClr val="000000"/>
              </a:buClr>
              <a:buSzPts val="1200"/>
              <a:buFont typeface="Helvetica Neue"/>
              <a:buNone/>
            </a:pPr>
            <a:r>
              <a:rPr lang="en-GB" sz="1200" i="0" u="none" strike="noStrike" cap="none">
                <a:solidFill>
                  <a:srgbClr val="000000"/>
                </a:solidFill>
                <a:latin typeface="Space Mono"/>
                <a:ea typeface="Space Mono"/>
                <a:cs typeface="Space Mono"/>
                <a:sym typeface="Space Mono"/>
              </a:rPr>
              <a:t>Image: Erick Mendez</a:t>
            </a:r>
            <a:endParaRPr sz="1200">
              <a:latin typeface="Space Mono"/>
              <a:ea typeface="Space Mono"/>
              <a:cs typeface="Space Mono"/>
              <a:sym typeface="Space Mono"/>
            </a:endParaRPr>
          </a:p>
        </p:txBody>
      </p:sp>
      <p:sp>
        <p:nvSpPr>
          <p:cNvPr id="550" name="Google Shape;550;p68"/>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51" name="Google Shape;551;p68"/>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6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Agrupación jerárquica de etiquetas</a:t>
            </a:r>
            <a:endParaRPr sz="2400" b="1"/>
          </a:p>
        </p:txBody>
      </p:sp>
      <p:sp>
        <p:nvSpPr>
          <p:cNvPr id="557" name="Google Shape;557;p69"/>
          <p:cNvSpPr txBox="1"/>
          <p:nvPr/>
        </p:nvSpPr>
        <p:spPr>
          <a:xfrm>
            <a:off x="473225" y="1410225"/>
            <a:ext cx="3783300" cy="669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300" i="0" u="none" strike="noStrike" cap="none">
                <a:solidFill>
                  <a:schemeClr val="dk1"/>
                </a:solidFill>
                <a:latin typeface="Space Mono"/>
                <a:ea typeface="Space Mono"/>
                <a:cs typeface="Space Mono"/>
                <a:sym typeface="Space Mono"/>
              </a:rPr>
              <a:t>Mostrar todos los libros que coinciden con una consulta a la vez produce desorden </a:t>
            </a:r>
            <a:endParaRPr sz="1300" i="0" u="none" strike="noStrike" cap="none">
              <a:solidFill>
                <a:schemeClr val="dk1"/>
              </a:solidFill>
              <a:latin typeface="Space Mono"/>
              <a:ea typeface="Space Mono"/>
              <a:cs typeface="Space Mono"/>
              <a:sym typeface="Space Mono"/>
            </a:endParaRPr>
          </a:p>
        </p:txBody>
      </p:sp>
      <p:pic>
        <p:nvPicPr>
          <p:cNvPr id="558" name="Google Shape;558;p69" descr="Grafik 6"/>
          <p:cNvPicPr preferRelativeResize="0"/>
          <p:nvPr/>
        </p:nvPicPr>
        <p:blipFill rotWithShape="1">
          <a:blip r:embed="rId3">
            <a:alphaModFix/>
          </a:blip>
          <a:srcRect/>
          <a:stretch/>
        </p:blipFill>
        <p:spPr>
          <a:xfrm>
            <a:off x="4632297" y="2122485"/>
            <a:ext cx="3783233" cy="2123037"/>
          </a:xfrm>
          <a:prstGeom prst="rect">
            <a:avLst/>
          </a:prstGeom>
          <a:noFill/>
          <a:ln>
            <a:noFill/>
          </a:ln>
        </p:spPr>
      </p:pic>
      <p:pic>
        <p:nvPicPr>
          <p:cNvPr id="559" name="Google Shape;559;p69" descr="Grafik 7"/>
          <p:cNvPicPr preferRelativeResize="0"/>
          <p:nvPr/>
        </p:nvPicPr>
        <p:blipFill rotWithShape="1">
          <a:blip r:embed="rId4">
            <a:alphaModFix/>
          </a:blip>
          <a:srcRect/>
          <a:stretch/>
        </p:blipFill>
        <p:spPr>
          <a:xfrm>
            <a:off x="482562" y="2122476"/>
            <a:ext cx="3783231" cy="2123037"/>
          </a:xfrm>
          <a:prstGeom prst="rect">
            <a:avLst/>
          </a:prstGeom>
          <a:noFill/>
          <a:ln>
            <a:noFill/>
          </a:ln>
        </p:spPr>
      </p:pic>
      <p:sp>
        <p:nvSpPr>
          <p:cNvPr id="560" name="Google Shape;560;p69"/>
          <p:cNvSpPr txBox="1"/>
          <p:nvPr/>
        </p:nvSpPr>
        <p:spPr>
          <a:xfrm>
            <a:off x="2222375" y="4319150"/>
            <a:ext cx="4597500" cy="2538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a:buNone/>
            </a:pPr>
            <a:r>
              <a:rPr lang="en-GB" sz="1200" i="0" u="none" strike="noStrike" cap="none">
                <a:solidFill>
                  <a:schemeClr val="dk1"/>
                </a:solidFill>
                <a:latin typeface="Space Mono"/>
                <a:ea typeface="Space Mono"/>
                <a:cs typeface="Space Mono"/>
                <a:sym typeface="Space Mono"/>
              </a:rPr>
              <a:t>Image: Markus Tatzgern and Denis Kalkofen</a:t>
            </a:r>
            <a:endParaRPr sz="1200">
              <a:solidFill>
                <a:schemeClr val="dk1"/>
              </a:solidFill>
              <a:latin typeface="Space Mono"/>
              <a:ea typeface="Space Mono"/>
              <a:cs typeface="Space Mono"/>
              <a:sym typeface="Space Mono"/>
            </a:endParaRPr>
          </a:p>
        </p:txBody>
      </p:sp>
      <p:sp>
        <p:nvSpPr>
          <p:cNvPr id="561" name="Google Shape;561;p69"/>
          <p:cNvSpPr txBox="1"/>
          <p:nvPr/>
        </p:nvSpPr>
        <p:spPr>
          <a:xfrm>
            <a:off x="4632300" y="1181625"/>
            <a:ext cx="3783300" cy="869700"/>
          </a:xfrm>
          <a:prstGeom prst="rect">
            <a:avLst/>
          </a:prstGeom>
          <a:noFill/>
          <a:ln>
            <a:noFill/>
          </a:ln>
        </p:spPr>
        <p:txBody>
          <a:bodyPr spcFirstLastPara="1" wrap="square" lIns="34275" tIns="34275" rIns="34275" bIns="34275" anchor="t" anchorCtr="0">
            <a:spAutoFit/>
          </a:bodyPr>
          <a:lstStyle/>
          <a:p>
            <a:pPr marL="0" marR="0" lvl="0" indent="0" algn="r" rtl="0">
              <a:lnSpc>
                <a:spcPct val="100000"/>
              </a:lnSpc>
              <a:spcBef>
                <a:spcPts val="0"/>
              </a:spcBef>
              <a:spcAft>
                <a:spcPts val="0"/>
              </a:spcAft>
              <a:buClr>
                <a:srgbClr val="000000"/>
              </a:buClr>
              <a:buSzPts val="1400"/>
              <a:buFont typeface="Helvetica Neue"/>
              <a:buNone/>
            </a:pPr>
            <a:r>
              <a:rPr lang="en-GB" sz="1300" i="0" u="none" strike="noStrike" cap="none">
                <a:solidFill>
                  <a:srgbClr val="000000"/>
                </a:solidFill>
                <a:latin typeface="Space Mono"/>
                <a:ea typeface="Space Mono"/>
                <a:cs typeface="Space Mono"/>
                <a:sym typeface="Space Mono"/>
              </a:rPr>
              <a:t>Agrupar los libros por similitud y mostrar sólo los grupos de libros produce una vista fácilmente comprensible </a:t>
            </a:r>
            <a:endParaRPr sz="1300">
              <a:latin typeface="Space Mono"/>
              <a:ea typeface="Space Mono"/>
              <a:cs typeface="Space Mono"/>
              <a:sym typeface="Space Mono"/>
            </a:endParaRPr>
          </a:p>
        </p:txBody>
      </p:sp>
      <p:sp>
        <p:nvSpPr>
          <p:cNvPr id="562" name="Google Shape;562;p69"/>
          <p:cNvSpPr txBox="1"/>
          <p:nvPr/>
        </p:nvSpPr>
        <p:spPr>
          <a:xfrm>
            <a:off x="4229100" y="4936814"/>
            <a:ext cx="3086100" cy="207900"/>
          </a:xfrm>
          <a:prstGeom prst="rect">
            <a:avLst/>
          </a:prstGeom>
          <a:noFill/>
          <a:ln>
            <a:noFill/>
          </a:ln>
        </p:spPr>
        <p:txBody>
          <a:bodyPr spcFirstLastPara="1" wrap="square" lIns="34275" tIns="34275" rIns="34275" bIns="34275" anchor="ctr" anchorCtr="0">
            <a:spAutoFit/>
          </a:bodyPr>
          <a:lstStyle/>
          <a:p>
            <a:pPr marL="0" marR="0" lvl="0" indent="0" algn="ctr"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Situated Visualization</a:t>
            </a:r>
            <a:endParaRPr sz="500">
              <a:solidFill>
                <a:schemeClr val="dk1"/>
              </a:solidFill>
              <a:latin typeface="Space Mono"/>
              <a:ea typeface="Space Mono"/>
              <a:cs typeface="Space Mono"/>
              <a:sym typeface="Space Mono"/>
            </a:endParaRPr>
          </a:p>
        </p:txBody>
      </p:sp>
      <p:sp>
        <p:nvSpPr>
          <p:cNvPr id="563" name="Google Shape;563;p69"/>
          <p:cNvSpPr txBox="1"/>
          <p:nvPr/>
        </p:nvSpPr>
        <p:spPr>
          <a:xfrm>
            <a:off x="1828800" y="4936814"/>
            <a:ext cx="2057400" cy="207900"/>
          </a:xfrm>
          <a:prstGeom prst="rect">
            <a:avLst/>
          </a:prstGeom>
          <a:noFill/>
          <a:ln>
            <a:noFill/>
          </a:ln>
        </p:spPr>
        <p:txBody>
          <a:bodyPr spcFirstLastPara="1" wrap="square" lIns="34275" tIns="34275" rIns="34275" bIns="34275" anchor="ctr" anchorCtr="0">
            <a:spAutoFit/>
          </a:bodyPr>
          <a:lstStyle/>
          <a:p>
            <a:pPr marL="0" marR="0" lvl="0" indent="0" algn="l" rtl="0">
              <a:lnSpc>
                <a:spcPct val="100000"/>
              </a:lnSpc>
              <a:spcBef>
                <a:spcPts val="0"/>
              </a:spcBef>
              <a:spcAft>
                <a:spcPts val="0"/>
              </a:spcAft>
              <a:buClr>
                <a:srgbClr val="888888"/>
              </a:buClr>
              <a:buSzPts val="900"/>
              <a:buFont typeface="Calibri"/>
              <a:buNone/>
            </a:pPr>
            <a:r>
              <a:rPr lang="en-GB" sz="900" i="0" u="none" strike="noStrike" cap="none">
                <a:solidFill>
                  <a:schemeClr val="dk1"/>
                </a:solidFill>
                <a:latin typeface="Space Mono"/>
                <a:ea typeface="Space Mono"/>
                <a:cs typeface="Space Mono"/>
                <a:sym typeface="Space Mono"/>
              </a:rPr>
              <a:t>www.augmentedrealitybook.org</a:t>
            </a:r>
            <a:endParaRPr sz="500">
              <a:solidFill>
                <a:schemeClr val="dk1"/>
              </a:solidFill>
              <a:latin typeface="Space Mono"/>
              <a:ea typeface="Space Mono"/>
              <a:cs typeface="Space Mono"/>
              <a:sym typeface="Space Mon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rgbClr val="7D8AFF"/>
            </a:gs>
            <a:gs pos="100000">
              <a:srgbClr val="FC83DA"/>
            </a:gs>
          </a:gsLst>
          <a:lin ang="10800025" scaled="0"/>
        </a:gradFill>
        <a:effectLst/>
      </p:bgPr>
    </p:bg>
    <p:spTree>
      <p:nvGrpSpPr>
        <p:cNvPr id="1" name="Shape 567"/>
        <p:cNvGrpSpPr/>
        <p:nvPr/>
      </p:nvGrpSpPr>
      <p:grpSpPr>
        <a:xfrm>
          <a:off x="0" y="0"/>
          <a:ext cx="0" cy="0"/>
          <a:chOff x="0" y="0"/>
          <a:chExt cx="0" cy="0"/>
        </a:xfrm>
      </p:grpSpPr>
      <p:sp>
        <p:nvSpPr>
          <p:cNvPr id="568" name="Google Shape;568;p70"/>
          <p:cNvSpPr txBox="1"/>
          <p:nvPr/>
        </p:nvSpPr>
        <p:spPr>
          <a:xfrm>
            <a:off x="2598150" y="2202450"/>
            <a:ext cx="3947700" cy="7386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GB" sz="3600" b="1">
                <a:solidFill>
                  <a:schemeClr val="dk1"/>
                </a:solidFill>
                <a:latin typeface="Space Mono"/>
                <a:ea typeface="Space Mono"/>
                <a:cs typeface="Space Mono"/>
                <a:sym typeface="Space Mono"/>
              </a:rPr>
              <a:t>Analíticas Inmersivas</a:t>
            </a:r>
            <a:endParaRPr sz="2400">
              <a:solidFill>
                <a:schemeClr val="dk1"/>
              </a:solidFill>
              <a:latin typeface="Space Mono"/>
              <a:ea typeface="Space Mono"/>
              <a:cs typeface="Space Mono"/>
              <a:sym typeface="Space Mon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7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¿Qué es la analítica inmersiva?</a:t>
            </a:r>
            <a:endParaRPr sz="2400" b="1"/>
          </a:p>
        </p:txBody>
      </p:sp>
      <p:sp>
        <p:nvSpPr>
          <p:cNvPr id="574" name="Google Shape;574;p71"/>
          <p:cNvSpPr txBox="1">
            <a:spLocks noGrp="1"/>
          </p:cNvSpPr>
          <p:nvPr>
            <p:ph type="body" idx="4294967295"/>
          </p:nvPr>
        </p:nvSpPr>
        <p:spPr>
          <a:xfrm>
            <a:off x="457200" y="1188863"/>
            <a:ext cx="8229600" cy="3710700"/>
          </a:xfrm>
          <a:prstGeom prst="rect">
            <a:avLst/>
          </a:prstGeom>
          <a:noFill/>
          <a:ln>
            <a:noFill/>
          </a:ln>
        </p:spPr>
        <p:txBody>
          <a:bodyPr spcFirstLastPara="1" wrap="square" lIns="34275" tIns="34275" rIns="34275" bIns="34275" anchor="t" anchorCtr="0">
            <a:normAutofit/>
          </a:bodyPr>
          <a:lstStyle/>
          <a:p>
            <a:pPr marL="254000" lvl="0" indent="-215900" algn="l" rtl="0">
              <a:lnSpc>
                <a:spcPct val="115000"/>
              </a:lnSpc>
              <a:spcBef>
                <a:spcPts val="0"/>
              </a:spcBef>
              <a:spcAft>
                <a:spcPts val="0"/>
              </a:spcAft>
              <a:buSzPts val="1600"/>
              <a:buChar char="●"/>
            </a:pPr>
            <a:r>
              <a:rPr lang="en-GB" sz="1600"/>
              <a:t>La </a:t>
            </a:r>
            <a:r>
              <a:rPr lang="en-GB" sz="1600" b="1"/>
              <a:t>analítica inmersiva</a:t>
            </a:r>
            <a:r>
              <a:rPr lang="en-GB" sz="1600"/>
              <a:t> es el uso de herramientas de análisis atractivas y encarnadas para apoyar la comprensión de los datos y la toma de decisiones. </a:t>
            </a:r>
            <a:endParaRPr sz="1600"/>
          </a:p>
          <a:p>
            <a:pPr marL="254000" lvl="0" indent="-215900" algn="l" rtl="0">
              <a:lnSpc>
                <a:spcPct val="115000"/>
              </a:lnSpc>
              <a:spcBef>
                <a:spcPts val="500"/>
              </a:spcBef>
              <a:spcAft>
                <a:spcPts val="0"/>
              </a:spcAft>
              <a:buSzPts val="1600"/>
              <a:buChar char="●"/>
            </a:pPr>
            <a:r>
              <a:rPr lang="en-GB" sz="1600"/>
              <a:t>La analítica inmersiva se basa en los campos de la visualización de datos, la analítica visual, la realidad virtual, la infografía y la interacción humano-computador. </a:t>
            </a:r>
            <a:endParaRPr sz="1600"/>
          </a:p>
          <a:p>
            <a:pPr marL="254000" lvl="0" indent="-215900" algn="l" rtl="0">
              <a:lnSpc>
                <a:spcPct val="115000"/>
              </a:lnSpc>
              <a:spcBef>
                <a:spcPts val="500"/>
              </a:spcBef>
              <a:spcAft>
                <a:spcPts val="0"/>
              </a:spcAft>
              <a:buSzPts val="1600"/>
              <a:buChar char="●"/>
            </a:pPr>
            <a:r>
              <a:rPr lang="en-GB" sz="1600"/>
              <a:t>Su objetivo es eliminar las barreras entre las personas, sus datos y las herramientas que utilizan para el análisis. Su objetivo es apoyar la comprensión de los datos y la toma de decisiones en todas partes y por todos, tanto trabajando individualmente como en colaboración.</a:t>
            </a:r>
            <a:endParaRPr sz="1600"/>
          </a:p>
        </p:txBody>
      </p:sp>
      <p:sp>
        <p:nvSpPr>
          <p:cNvPr id="575" name="Google Shape;575;p71"/>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72"/>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La AI ofrece varias oportunidades </a:t>
            </a:r>
            <a:endParaRPr sz="2400" b="1"/>
          </a:p>
        </p:txBody>
      </p:sp>
      <p:sp>
        <p:nvSpPr>
          <p:cNvPr id="581" name="Google Shape;581;p72"/>
          <p:cNvSpPr txBox="1">
            <a:spLocks noGrp="1"/>
          </p:cNvSpPr>
          <p:nvPr>
            <p:ph type="body" idx="4294967295"/>
          </p:nvPr>
        </p:nvSpPr>
        <p:spPr>
          <a:xfrm>
            <a:off x="361950" y="1098375"/>
            <a:ext cx="8229600" cy="3710700"/>
          </a:xfrm>
          <a:prstGeom prst="rect">
            <a:avLst/>
          </a:prstGeom>
          <a:noFill/>
          <a:ln>
            <a:noFill/>
          </a:ln>
        </p:spPr>
        <p:txBody>
          <a:bodyPr spcFirstLastPara="1" wrap="square" lIns="34275" tIns="34275" rIns="34275" bIns="34275" anchor="t" anchorCtr="0">
            <a:noAutofit/>
          </a:bodyPr>
          <a:lstStyle/>
          <a:p>
            <a:pPr marL="203200" lvl="0" indent="-190500" algn="l" rtl="0">
              <a:lnSpc>
                <a:spcPct val="100000"/>
              </a:lnSpc>
              <a:spcBef>
                <a:spcPts val="0"/>
              </a:spcBef>
              <a:spcAft>
                <a:spcPts val="0"/>
              </a:spcAft>
              <a:buSzPts val="1400"/>
              <a:buChar char="●"/>
            </a:pPr>
            <a:r>
              <a:rPr lang="en-GB" sz="1400" b="1"/>
              <a:t>La exploración de datos corpórea</a:t>
            </a:r>
            <a:r>
              <a:rPr lang="en-GB" sz="1400"/>
              <a:t> se aleja del mouse y el teclado, y permite interacciones táctiles, gestuales, vocales y tangibles, que son más intuitivas y atractivas. </a:t>
            </a:r>
            <a:endParaRPr sz="1400"/>
          </a:p>
          <a:p>
            <a:pPr marL="203200" lvl="0" indent="-190500" algn="l" rtl="0">
              <a:lnSpc>
                <a:spcPct val="100000"/>
              </a:lnSpc>
              <a:spcBef>
                <a:spcPts val="400"/>
              </a:spcBef>
              <a:spcAft>
                <a:spcPts val="0"/>
              </a:spcAft>
              <a:buSzPts val="1400"/>
              <a:buChar char="●"/>
            </a:pPr>
            <a:r>
              <a:rPr lang="en-GB" sz="1400" b="1"/>
              <a:t>La colaboración</a:t>
            </a:r>
            <a:r>
              <a:rPr lang="en-GB" sz="1400"/>
              <a:t>, que puede ser localizada o remota, así como sincrónica o asincrónica. La AI puede favorecer una colaboración más profunda, equitativa y socialmente atractiva.</a:t>
            </a:r>
            <a:endParaRPr sz="1400"/>
          </a:p>
          <a:p>
            <a:pPr marL="203200" lvl="0" indent="-190500" algn="l" rtl="0">
              <a:lnSpc>
                <a:spcPct val="100000"/>
              </a:lnSpc>
              <a:spcBef>
                <a:spcPts val="400"/>
              </a:spcBef>
              <a:spcAft>
                <a:spcPts val="0"/>
              </a:spcAft>
              <a:buSzPts val="1400"/>
              <a:buChar char="●"/>
            </a:pPr>
            <a:r>
              <a:rPr lang="en-GB" sz="1400" b="1"/>
              <a:t>La inmersión espacial</a:t>
            </a:r>
            <a:r>
              <a:rPr lang="en-GB" sz="1400"/>
              <a:t> se aleja del escritorio y permite a los usuarios utilizar el espacio que les rodea como espacio de trabajo tridimensional. </a:t>
            </a:r>
            <a:endParaRPr sz="1400"/>
          </a:p>
          <a:p>
            <a:pPr marL="203200" lvl="0" indent="-190500" algn="l" rtl="0">
              <a:lnSpc>
                <a:spcPct val="100000"/>
              </a:lnSpc>
              <a:spcBef>
                <a:spcPts val="400"/>
              </a:spcBef>
              <a:spcAft>
                <a:spcPts val="0"/>
              </a:spcAft>
              <a:buSzPts val="1400"/>
              <a:buChar char="●"/>
            </a:pPr>
            <a:r>
              <a:rPr lang="en-GB" sz="1400" b="1"/>
              <a:t>Presentación</a:t>
            </a:r>
            <a:r>
              <a:rPr lang="en-GB" sz="1400"/>
              <a:t> </a:t>
            </a:r>
            <a:r>
              <a:rPr lang="en-GB" sz="1400" b="1"/>
              <a:t>multisensorial</a:t>
            </a:r>
            <a:r>
              <a:rPr lang="en-GB" sz="1400"/>
              <a:t> que incorpora lo auditivo y los demás sentidos que también pueden utilizarse para proporcionar información adicional o como alternativa a la visión cuando ésta no esté disponible o no sea útil. </a:t>
            </a:r>
            <a:endParaRPr sz="1400"/>
          </a:p>
          <a:p>
            <a:pPr marL="203200" lvl="0" indent="-190500" algn="l" rtl="0">
              <a:lnSpc>
                <a:spcPct val="100000"/>
              </a:lnSpc>
              <a:spcBef>
                <a:spcPts val="400"/>
              </a:spcBef>
              <a:spcAft>
                <a:spcPts val="0"/>
              </a:spcAft>
              <a:buSzPts val="1400"/>
              <a:buChar char="●"/>
            </a:pPr>
            <a:r>
              <a:rPr lang="en-GB" sz="1400" b="1"/>
              <a:t>Participación</a:t>
            </a:r>
            <a:r>
              <a:rPr lang="en-GB" sz="1400"/>
              <a:t> del público en general y de otras partes interesadas que pueden estar más informadas y aumentar la toma de decisiones basadas en datos.</a:t>
            </a:r>
            <a:endParaRPr sz="1400"/>
          </a:p>
        </p:txBody>
      </p:sp>
      <p:sp>
        <p:nvSpPr>
          <p:cNvPr id="582" name="Google Shape;582;p72"/>
          <p:cNvSpPr txBox="1"/>
          <p:nvPr/>
        </p:nvSpPr>
        <p:spPr>
          <a:xfrm>
            <a:off x="3996890" y="4840422"/>
            <a:ext cx="1332846" cy="173354"/>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b="0" i="0" u="none" strike="noStrike" cap="none">
                <a:solidFill>
                  <a:srgbClr val="A7A7A7"/>
                </a:solidFill>
                <a:latin typeface="Calibri"/>
                <a:ea typeface="Calibri"/>
                <a:cs typeface="Calibri"/>
                <a:sym typeface="Calibri"/>
              </a:rPr>
              <a:t>“Immersive Analytics”, Marriot et al.</a:t>
            </a:r>
            <a:endParaRPr sz="500"/>
          </a:p>
        </p:txBody>
      </p:sp>
      <p:sp>
        <p:nvSpPr>
          <p:cNvPr id="583" name="Google Shape;583;p72"/>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7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¿Cuándo son útiles las técnicas de análisis inmersivo?</a:t>
            </a:r>
            <a:endParaRPr sz="2400" b="1"/>
          </a:p>
        </p:txBody>
      </p:sp>
      <p:sp>
        <p:nvSpPr>
          <p:cNvPr id="589" name="Google Shape;589;p73"/>
          <p:cNvSpPr txBox="1">
            <a:spLocks noGrp="1"/>
          </p:cNvSpPr>
          <p:nvPr>
            <p:ph type="body" idx="4294967295"/>
          </p:nvPr>
        </p:nvSpPr>
        <p:spPr>
          <a:xfrm>
            <a:off x="381000" y="1341263"/>
            <a:ext cx="8229600" cy="3710700"/>
          </a:xfrm>
          <a:prstGeom prst="rect">
            <a:avLst/>
          </a:prstGeom>
          <a:noFill/>
          <a:ln>
            <a:noFill/>
          </a:ln>
        </p:spPr>
        <p:txBody>
          <a:bodyPr spcFirstLastPara="1" wrap="square" lIns="34275" tIns="34275" rIns="34275" bIns="34275" anchor="t" anchorCtr="0">
            <a:normAutofit/>
          </a:bodyPr>
          <a:lstStyle/>
          <a:p>
            <a:pPr marL="254000" lvl="0" indent="-215900" algn="l" rtl="0">
              <a:lnSpc>
                <a:spcPct val="100000"/>
              </a:lnSpc>
              <a:spcBef>
                <a:spcPts val="0"/>
              </a:spcBef>
              <a:spcAft>
                <a:spcPts val="0"/>
              </a:spcAft>
              <a:buSzPts val="1600"/>
              <a:buChar char="●"/>
            </a:pPr>
            <a:r>
              <a:rPr lang="en-GB" sz="1600"/>
              <a:t>Tradicionalmente, los investigadores de la visualización de datos se han centrado en el rendimiento de las tareas, normalmente la </a:t>
            </a:r>
            <a:r>
              <a:rPr lang="en-GB" sz="1600" b="1"/>
              <a:t>precisión</a:t>
            </a:r>
            <a:r>
              <a:rPr lang="en-GB" sz="1600"/>
              <a:t> y la </a:t>
            </a:r>
            <a:r>
              <a:rPr lang="en-GB" sz="1600" b="1"/>
              <a:t>velocidad</a:t>
            </a:r>
            <a:r>
              <a:rPr lang="en-GB" sz="1600"/>
              <a:t>. </a:t>
            </a:r>
            <a:endParaRPr sz="1600"/>
          </a:p>
          <a:p>
            <a:pPr marL="254000" lvl="0" indent="-215900" algn="l" rtl="0">
              <a:lnSpc>
                <a:spcPct val="100000"/>
              </a:lnSpc>
              <a:spcBef>
                <a:spcPts val="500"/>
              </a:spcBef>
              <a:spcAft>
                <a:spcPts val="0"/>
              </a:spcAft>
              <a:buSzPts val="1600"/>
              <a:buChar char="●"/>
            </a:pPr>
            <a:r>
              <a:rPr lang="en-GB" sz="1600"/>
              <a:t>El uso de </a:t>
            </a:r>
            <a:r>
              <a:rPr lang="en-GB" sz="1600" b="1"/>
              <a:t>señales de profundidad</a:t>
            </a:r>
            <a:r>
              <a:rPr lang="en-GB" sz="1600"/>
              <a:t> puede mejorar la eficacia de la tarea en algunos tipos de tareas de visualización. </a:t>
            </a:r>
            <a:endParaRPr sz="1600"/>
          </a:p>
          <a:p>
            <a:pPr marL="254000" lvl="0" indent="-215900" algn="l" rtl="0">
              <a:lnSpc>
                <a:spcPct val="100000"/>
              </a:lnSpc>
              <a:spcBef>
                <a:spcPts val="500"/>
              </a:spcBef>
              <a:spcAft>
                <a:spcPts val="0"/>
              </a:spcAft>
              <a:buSzPts val="1600"/>
              <a:buChar char="●"/>
            </a:pPr>
            <a:r>
              <a:rPr lang="en-GB" sz="1600"/>
              <a:t>El compromiso emocional y el recuerdo también pueden ser importantes, especialmente cuando se comunican los resultados a las partes interesadas. </a:t>
            </a:r>
            <a:endParaRPr sz="1600"/>
          </a:p>
          <a:p>
            <a:pPr marL="254000" lvl="0" indent="-215900" algn="l" rtl="0">
              <a:lnSpc>
                <a:spcPct val="100000"/>
              </a:lnSpc>
              <a:spcBef>
                <a:spcPts val="500"/>
              </a:spcBef>
              <a:spcAft>
                <a:spcPts val="0"/>
              </a:spcAft>
              <a:buSzPts val="1600"/>
              <a:buChar char="●"/>
            </a:pPr>
            <a:r>
              <a:rPr lang="en-GB" sz="1600"/>
              <a:t>La sensación de presencia aumenta en los entornos "emocionales". </a:t>
            </a:r>
            <a:endParaRPr sz="1600"/>
          </a:p>
        </p:txBody>
      </p:sp>
      <p:sp>
        <p:nvSpPr>
          <p:cNvPr id="590" name="Google Shape;590;p73"/>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4"/>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376092"/>
              </a:buClr>
              <a:buSzPts val="2000"/>
              <a:buFont typeface="Calibri"/>
              <a:buNone/>
            </a:pPr>
            <a:r>
              <a:rPr lang="en-GB" sz="2400" b="1"/>
              <a:t>¿Es hora de reconsiderar el valor del 3D para la visualización de la información?</a:t>
            </a:r>
            <a:endParaRPr sz="2400" b="1"/>
          </a:p>
        </p:txBody>
      </p:sp>
      <p:sp>
        <p:nvSpPr>
          <p:cNvPr id="596" name="Google Shape;596;p74"/>
          <p:cNvSpPr txBox="1">
            <a:spLocks noGrp="1"/>
          </p:cNvSpPr>
          <p:nvPr>
            <p:ph type="body" idx="4294967295"/>
          </p:nvPr>
        </p:nvSpPr>
        <p:spPr>
          <a:xfrm>
            <a:off x="380999" y="1265062"/>
            <a:ext cx="6401700" cy="4238100"/>
          </a:xfrm>
          <a:prstGeom prst="rect">
            <a:avLst/>
          </a:prstGeom>
          <a:noFill/>
          <a:ln>
            <a:noFill/>
          </a:ln>
        </p:spPr>
        <p:txBody>
          <a:bodyPr spcFirstLastPara="1" wrap="square" lIns="34275" tIns="34275" rIns="34275" bIns="34275" anchor="t" anchorCtr="0">
            <a:noAutofit/>
          </a:bodyPr>
          <a:lstStyle/>
          <a:p>
            <a:pPr marL="203200" lvl="0" indent="-184150" algn="l" rtl="0">
              <a:lnSpc>
                <a:spcPct val="100000"/>
              </a:lnSpc>
              <a:spcBef>
                <a:spcPts val="0"/>
              </a:spcBef>
              <a:spcAft>
                <a:spcPts val="0"/>
              </a:spcAft>
              <a:buClr>
                <a:srgbClr val="000000"/>
              </a:buClr>
              <a:buSzPts val="1300"/>
              <a:buChar char="●"/>
            </a:pPr>
            <a:r>
              <a:rPr lang="en-GB" sz="1300"/>
              <a:t>Los investigadores de la visualización de la información han sido muy cautelosos con el uso de representaciones 3D para datos abstractos y, por tanto, </a:t>
            </a:r>
            <a:r>
              <a:rPr lang="en-GB" sz="1300" b="1"/>
              <a:t>han visto pocos beneficios en el uso de tecnologías de inmersión espacial</a:t>
            </a:r>
            <a:r>
              <a:rPr lang="en-GB" sz="1300"/>
              <a:t>. </a:t>
            </a:r>
            <a:endParaRPr sz="1300"/>
          </a:p>
          <a:p>
            <a:pPr marL="203200" lvl="0" indent="-184150" algn="l" rtl="0">
              <a:lnSpc>
                <a:spcPct val="100000"/>
              </a:lnSpc>
              <a:spcBef>
                <a:spcPts val="300"/>
              </a:spcBef>
              <a:spcAft>
                <a:spcPts val="0"/>
              </a:spcAft>
              <a:buClr>
                <a:srgbClr val="000000"/>
              </a:buClr>
              <a:buSzPts val="1300"/>
              <a:buChar char="●"/>
            </a:pPr>
            <a:r>
              <a:rPr lang="en-GB" sz="1300"/>
              <a:t>Este conservadurismo es bastante deliberado y responde al "entusiasmo desenfrenado" de los investigadores de la visualización de la información a finales de los 80 y principios de los 90 por las representaciones en 3D. </a:t>
            </a:r>
            <a:endParaRPr sz="1300"/>
          </a:p>
          <a:p>
            <a:pPr marL="203200" lvl="0" indent="-184150" algn="l" rtl="0">
              <a:lnSpc>
                <a:spcPct val="100000"/>
              </a:lnSpc>
              <a:spcBef>
                <a:spcPts val="300"/>
              </a:spcBef>
              <a:spcAft>
                <a:spcPts val="0"/>
              </a:spcAft>
              <a:buClr>
                <a:srgbClr val="000000"/>
              </a:buClr>
              <a:buSzPts val="1300"/>
              <a:buChar char="●"/>
            </a:pPr>
            <a:r>
              <a:rPr lang="en-GB" sz="1300"/>
              <a:t>Los infames gráficos de tarta o de barras en 3D que mostraban las aplicaciones de hojas de cálculo más populares también se introdujeron en esa época. </a:t>
            </a:r>
            <a:endParaRPr sz="1300"/>
          </a:p>
          <a:p>
            <a:pPr marL="203200" lvl="0" indent="-184150" algn="l" rtl="0">
              <a:lnSpc>
                <a:spcPct val="100000"/>
              </a:lnSpc>
              <a:spcBef>
                <a:spcPts val="300"/>
              </a:spcBef>
              <a:spcAft>
                <a:spcPts val="0"/>
              </a:spcAft>
              <a:buClr>
                <a:srgbClr val="000000"/>
              </a:buClr>
              <a:buSzPts val="1300"/>
              <a:buChar char="●"/>
            </a:pPr>
            <a:r>
              <a:rPr lang="en-GB" sz="1300"/>
              <a:t>Sin embargo, los estudios posteriores sobre los usuarios </a:t>
            </a:r>
            <a:r>
              <a:rPr lang="en-GB" sz="1300" b="1"/>
              <a:t>no lograron encontrar ninguna ventaja</a:t>
            </a:r>
            <a:r>
              <a:rPr lang="en-GB" sz="1300"/>
              <a:t> de estas representaciones en 3D sobre las tradicionales en 2D en la visualización de datos abstractos, y este temprano entusiasmo por las 3D fue sustituido por un fuerte escepticismo. </a:t>
            </a:r>
            <a:endParaRPr sz="1300"/>
          </a:p>
        </p:txBody>
      </p:sp>
      <p:pic>
        <p:nvPicPr>
          <p:cNvPr id="597" name="Google Shape;597;p74" descr="Image"/>
          <p:cNvPicPr preferRelativeResize="0"/>
          <p:nvPr/>
        </p:nvPicPr>
        <p:blipFill rotWithShape="1">
          <a:blip r:embed="rId3">
            <a:alphaModFix/>
          </a:blip>
          <a:srcRect/>
          <a:stretch/>
        </p:blipFill>
        <p:spPr>
          <a:xfrm>
            <a:off x="6859125" y="2996653"/>
            <a:ext cx="2141742" cy="1204730"/>
          </a:xfrm>
          <a:prstGeom prst="rect">
            <a:avLst/>
          </a:prstGeom>
          <a:noFill/>
          <a:ln>
            <a:noFill/>
          </a:ln>
        </p:spPr>
      </p:pic>
      <p:pic>
        <p:nvPicPr>
          <p:cNvPr id="598" name="Google Shape;598;p74" descr="Image"/>
          <p:cNvPicPr preferRelativeResize="0"/>
          <p:nvPr/>
        </p:nvPicPr>
        <p:blipFill rotWithShape="1">
          <a:blip r:embed="rId4">
            <a:alphaModFix/>
          </a:blip>
          <a:srcRect/>
          <a:stretch/>
        </p:blipFill>
        <p:spPr>
          <a:xfrm>
            <a:off x="6827858" y="1001529"/>
            <a:ext cx="2204248" cy="1641384"/>
          </a:xfrm>
          <a:prstGeom prst="rect">
            <a:avLst/>
          </a:prstGeom>
          <a:noFill/>
          <a:ln>
            <a:noFill/>
          </a:ln>
        </p:spPr>
      </p:pic>
      <p:sp>
        <p:nvSpPr>
          <p:cNvPr id="599" name="Google Shape;599;p74"/>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9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75"/>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Calibri"/>
              <a:buNone/>
            </a:pPr>
            <a:r>
              <a:rPr lang="en-GB" sz="2400" b="1"/>
              <a:t>Hay varias razones para adoptar la analítica inmersiva </a:t>
            </a:r>
            <a:endParaRPr sz="2400" b="1"/>
          </a:p>
        </p:txBody>
      </p:sp>
      <p:sp>
        <p:nvSpPr>
          <p:cNvPr id="605" name="Google Shape;605;p75"/>
          <p:cNvSpPr txBox="1">
            <a:spLocks noGrp="1"/>
          </p:cNvSpPr>
          <p:nvPr>
            <p:ph type="body" idx="4294967295"/>
          </p:nvPr>
        </p:nvSpPr>
        <p:spPr>
          <a:xfrm>
            <a:off x="381000" y="1188863"/>
            <a:ext cx="8229600" cy="3710700"/>
          </a:xfrm>
          <a:prstGeom prst="rect">
            <a:avLst/>
          </a:prstGeom>
          <a:noFill/>
          <a:ln>
            <a:noFill/>
          </a:ln>
        </p:spPr>
        <p:txBody>
          <a:bodyPr spcFirstLastPara="1" wrap="square" lIns="34275" tIns="34275" rIns="34275" bIns="34275" anchor="t" anchorCtr="0">
            <a:noAutofit/>
          </a:bodyPr>
          <a:lstStyle/>
          <a:p>
            <a:pPr marL="228600" lvl="0" indent="-203200" algn="l" rtl="0">
              <a:lnSpc>
                <a:spcPct val="100000"/>
              </a:lnSpc>
              <a:spcBef>
                <a:spcPts val="0"/>
              </a:spcBef>
              <a:spcAft>
                <a:spcPts val="0"/>
              </a:spcAft>
              <a:buSzPts val="1400"/>
              <a:buChar char="●"/>
            </a:pPr>
            <a:r>
              <a:rPr lang="en-GB" sz="1400" b="1"/>
              <a:t>Potencial de las pantallas inmersivas</a:t>
            </a:r>
            <a:r>
              <a:rPr lang="en-GB" sz="1400"/>
              <a:t>. Es casi seguro que las pantallas de realidad mixta montadas en la cabeza van a ser mucho más comunes. </a:t>
            </a:r>
            <a:endParaRPr sz="1400"/>
          </a:p>
          <a:p>
            <a:pPr marL="228600" lvl="0" indent="-203200" algn="l" rtl="0">
              <a:lnSpc>
                <a:spcPct val="100000"/>
              </a:lnSpc>
              <a:spcBef>
                <a:spcPts val="400"/>
              </a:spcBef>
              <a:spcAft>
                <a:spcPts val="0"/>
              </a:spcAft>
              <a:buSzPts val="1400"/>
              <a:buChar char="●"/>
            </a:pPr>
            <a:r>
              <a:rPr lang="en-GB" sz="1400" b="1"/>
              <a:t>Canal visual adicional.</a:t>
            </a:r>
            <a:r>
              <a:rPr lang="en-GB" sz="1400"/>
              <a:t> Permitir una tercera dimensión espacial proporciona otro canal visual para la visualización de datos. </a:t>
            </a:r>
            <a:endParaRPr sz="1400"/>
          </a:p>
          <a:p>
            <a:pPr marL="228600" lvl="0" indent="-203200" algn="l" rtl="0">
              <a:lnSpc>
                <a:spcPct val="100000"/>
              </a:lnSpc>
              <a:spcBef>
                <a:spcPts val="400"/>
              </a:spcBef>
              <a:spcAft>
                <a:spcPts val="0"/>
              </a:spcAft>
              <a:buSzPts val="1400"/>
              <a:buChar char="●"/>
            </a:pPr>
            <a:r>
              <a:rPr lang="en-GB" sz="1400" b="1"/>
              <a:t>Mejora de la tecnología.</a:t>
            </a:r>
            <a:r>
              <a:rPr lang="en-GB" sz="1400"/>
              <a:t> Además, las tecnologías de visualización inmersiva han avanzado considerablemente en la última década. </a:t>
            </a:r>
            <a:endParaRPr sz="1400"/>
          </a:p>
          <a:p>
            <a:pPr marL="228600" lvl="0" indent="-203200" algn="l" rtl="0">
              <a:lnSpc>
                <a:spcPct val="100000"/>
              </a:lnSpc>
              <a:spcBef>
                <a:spcPts val="400"/>
              </a:spcBef>
              <a:spcAft>
                <a:spcPts val="0"/>
              </a:spcAft>
              <a:buSzPts val="1400"/>
              <a:buChar char="●"/>
            </a:pPr>
            <a:r>
              <a:rPr lang="en-GB" sz="1400" b="1"/>
              <a:t>Espacios de trabajo inmersivos.</a:t>
            </a:r>
            <a:r>
              <a:rPr lang="en-GB" sz="1400"/>
              <a:t> Los dispositivos de realidad mixta montados en la cabeza permiten potencialmente al analista utilizar el espacio que le rodea como su espacio de trabajo, colocando las visualizaciones de datos donde le plazca y, en el caso de la realidad aumentada, utilizando el entorno físico como espacio de trabajo. </a:t>
            </a:r>
            <a:endParaRPr sz="1400"/>
          </a:p>
          <a:p>
            <a:pPr marL="228600" lvl="0" indent="-203200" algn="l" rtl="0">
              <a:lnSpc>
                <a:spcPct val="100000"/>
              </a:lnSpc>
              <a:spcBef>
                <a:spcPts val="400"/>
              </a:spcBef>
              <a:spcAft>
                <a:spcPts val="0"/>
              </a:spcAft>
              <a:buSzPts val="1400"/>
              <a:buChar char="●"/>
            </a:pPr>
            <a:r>
              <a:rPr lang="en-GB" sz="1400" b="1"/>
              <a:t>Más allá de la eficacia de la tarea.</a:t>
            </a:r>
            <a:r>
              <a:rPr lang="en-GB" sz="1400"/>
              <a:t> Evaluar la eficacia de la AI en un sentido más amplio que incluya otros aspectos del rendimiento y la experiencia del usuario.</a:t>
            </a:r>
            <a:endParaRPr sz="1400"/>
          </a:p>
        </p:txBody>
      </p:sp>
      <p:sp>
        <p:nvSpPr>
          <p:cNvPr id="606" name="Google Shape;606;p75"/>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76"/>
          <p:cNvSpPr txBox="1">
            <a:spLocks noGrp="1"/>
          </p:cNvSpPr>
          <p:nvPr>
            <p:ph type="title"/>
          </p:nvPr>
        </p:nvSpPr>
        <p:spPr>
          <a:xfrm>
            <a:off x="387900" y="42597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En resumen</a:t>
            </a:r>
            <a:endParaRPr sz="2400" b="1"/>
          </a:p>
        </p:txBody>
      </p:sp>
      <p:sp>
        <p:nvSpPr>
          <p:cNvPr id="612" name="Google Shape;612;p76"/>
          <p:cNvSpPr txBox="1">
            <a:spLocks noGrp="1"/>
          </p:cNvSpPr>
          <p:nvPr>
            <p:ph type="body" idx="4294967295"/>
          </p:nvPr>
        </p:nvSpPr>
        <p:spPr>
          <a:xfrm>
            <a:off x="381000" y="1093613"/>
            <a:ext cx="8229600" cy="3710700"/>
          </a:xfrm>
          <a:prstGeom prst="rect">
            <a:avLst/>
          </a:prstGeom>
          <a:noFill/>
          <a:ln>
            <a:noFill/>
          </a:ln>
        </p:spPr>
        <p:txBody>
          <a:bodyPr spcFirstLastPara="1" wrap="square" lIns="34275" tIns="34275" rIns="34275" bIns="34275" anchor="t" anchorCtr="0">
            <a:noAutofit/>
          </a:bodyPr>
          <a:lstStyle/>
          <a:p>
            <a:pPr marL="215900" lvl="0" indent="-190500" algn="l" rtl="0">
              <a:lnSpc>
                <a:spcPct val="100000"/>
              </a:lnSpc>
              <a:spcBef>
                <a:spcPts val="0"/>
              </a:spcBef>
              <a:spcAft>
                <a:spcPts val="0"/>
              </a:spcAft>
              <a:buSzPts val="1400"/>
              <a:buChar char="●"/>
            </a:pPr>
            <a:r>
              <a:rPr lang="en-GB" sz="1400"/>
              <a:t>Estudios previos de usuarios sugieren que las </a:t>
            </a:r>
            <a:r>
              <a:rPr lang="en-GB" sz="1400" b="1"/>
              <a:t>representaciones en 3D</a:t>
            </a:r>
            <a:r>
              <a:rPr lang="en-GB" sz="1400"/>
              <a:t> muestran más claramente la </a:t>
            </a:r>
            <a:r>
              <a:rPr lang="en-GB" sz="1400" b="1"/>
              <a:t>estructura general</a:t>
            </a:r>
            <a:r>
              <a:rPr lang="en-GB" sz="1400"/>
              <a:t> en conjuntos de datos de mayor dimensión, como terrenos en 3D, redes o datos multidimensionales, y son útiles para proporcionar orientación, mientras que las </a:t>
            </a:r>
            <a:r>
              <a:rPr lang="en-GB" sz="1400" b="1"/>
              <a:t>representaciones en 2D</a:t>
            </a:r>
            <a:r>
              <a:rPr lang="en-GB" sz="1400"/>
              <a:t> son preferibles para una </a:t>
            </a:r>
            <a:r>
              <a:rPr lang="en-GB" sz="1400" b="1"/>
              <a:t>manipulación precisa o una medición o comparación exacta</a:t>
            </a:r>
            <a:r>
              <a:rPr lang="en-GB" sz="1400"/>
              <a:t> del valor de los datos. Por lo tanto, puede ser útil proporcionar representaciones 2D y 3D vinculadas en aplicaciones de análisis inmersivo. </a:t>
            </a:r>
            <a:endParaRPr sz="1400"/>
          </a:p>
          <a:p>
            <a:pPr marL="215900" lvl="0" indent="-190500" algn="l" rtl="0">
              <a:lnSpc>
                <a:spcPct val="100000"/>
              </a:lnSpc>
              <a:spcBef>
                <a:spcPts val="400"/>
              </a:spcBef>
              <a:spcAft>
                <a:spcPts val="0"/>
              </a:spcAft>
              <a:buSzPts val="1400"/>
              <a:buChar char="●"/>
            </a:pPr>
            <a:r>
              <a:rPr lang="en-GB" sz="1400"/>
              <a:t>Las aplicaciones potenciales de las señales de profundidad para la visualización de datos abstractos incluyen: el uso de la profundidad para mostrar una dimensión abstracta adicional, como en los diseños de redes en 2,5D, las vistas en superficies no planas y las vistas egocéntricas en las que los datos se colocan alrededor del espectador, la visualización de datos abstractos con una incrustación espacial, así como la organización de múltiples vistas en el espacio 3D. </a:t>
            </a:r>
            <a:endParaRPr sz="1400"/>
          </a:p>
        </p:txBody>
      </p:sp>
      <p:sp>
        <p:nvSpPr>
          <p:cNvPr id="613" name="Google Shape;613;p76"/>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77"/>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Ejemplos</a:t>
            </a:r>
            <a:endParaRPr sz="2400" b="1"/>
          </a:p>
        </p:txBody>
      </p:sp>
      <p:sp>
        <p:nvSpPr>
          <p:cNvPr id="619" name="Google Shape;619;p77"/>
          <p:cNvSpPr txBox="1">
            <a:spLocks noGrp="1"/>
          </p:cNvSpPr>
          <p:nvPr>
            <p:ph type="body" idx="4294967295"/>
          </p:nvPr>
        </p:nvSpPr>
        <p:spPr>
          <a:xfrm>
            <a:off x="381000" y="1188863"/>
            <a:ext cx="3607500" cy="37107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2100"/>
              <a:buFont typeface="Arial"/>
              <a:buNone/>
            </a:pPr>
            <a:r>
              <a:rPr lang="en-GB" sz="1600"/>
              <a:t>Los cubos matriciales para visualizar redes dinámicas son un ejemplo del uso de la tercera dimensión para mostrar el tiempo.</a:t>
            </a:r>
            <a:endParaRPr sz="1600"/>
          </a:p>
        </p:txBody>
      </p:sp>
      <p:pic>
        <p:nvPicPr>
          <p:cNvPr id="620" name="Google Shape;620;p77" descr="Image"/>
          <p:cNvPicPr preferRelativeResize="0"/>
          <p:nvPr/>
        </p:nvPicPr>
        <p:blipFill rotWithShape="1">
          <a:blip r:embed="rId3">
            <a:alphaModFix/>
          </a:blip>
          <a:srcRect/>
          <a:stretch/>
        </p:blipFill>
        <p:spPr>
          <a:xfrm>
            <a:off x="4018371" y="846226"/>
            <a:ext cx="4693759" cy="3959629"/>
          </a:xfrm>
          <a:prstGeom prst="rect">
            <a:avLst/>
          </a:prstGeom>
          <a:noFill/>
          <a:ln>
            <a:noFill/>
          </a:ln>
        </p:spPr>
      </p:pic>
      <p:sp>
        <p:nvSpPr>
          <p:cNvPr id="621" name="Google Shape;621;p77"/>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625"/>
        <p:cNvGrpSpPr/>
        <p:nvPr/>
      </p:nvGrpSpPr>
      <p:grpSpPr>
        <a:xfrm>
          <a:off x="0" y="0"/>
          <a:ext cx="0" cy="0"/>
          <a:chOff x="0" y="0"/>
          <a:chExt cx="0" cy="0"/>
        </a:xfrm>
      </p:grpSpPr>
      <p:pic>
        <p:nvPicPr>
          <p:cNvPr id="626" name="Google Shape;626;p78" descr="Cubix is a visualization interface for the exploration of dense dynamic networks with changing edge weights. Dynamic networks are networks that change topology over time and/or edge weights change over time. Examples for such networks are, amongst others:&#10;&#10;Social networks (facebook, LinkedIn)&#10;Email communication between people,&#10;Scientific collaboration networks,&#10;Signals between computers or mobile devices,&#10;Trading volume between countries&#10;Migration streams between countries&#10;Scientific data expressed in correlation matrices (brain activity between regions).&#10;To represent these type of networks, Cubix employs a novel representation, called Matrix Cube. A Matrix Cube results from stacking adjacency matrices and forms a Space-Time Cube. It acts as a physical cube; it can be rotated, projected and decomposed in order to explore the data.&#10;See https://www.aviz.fr/Research/Cubix" title="Visualizing Dynamic Networks with Matrix Cubes">
            <a:hlinkClick r:id="rId3"/>
          </p:cNvPr>
          <p:cNvPicPr preferRelativeResize="0"/>
          <p:nvPr/>
        </p:nvPicPr>
        <p:blipFill>
          <a:blip r:embed="rId4">
            <a:alphaModFix/>
          </a:blip>
          <a:stretch>
            <a:fillRect/>
          </a:stretch>
        </p:blipFill>
        <p:spPr>
          <a:xfrm>
            <a:off x="0" y="47625"/>
            <a:ext cx="9059334" cy="50958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6"/>
                                        </p:tgtEl>
                                        <p:attrNameLst>
                                          <p:attrName>style.visibility</p:attrName>
                                        </p:attrNameLst>
                                      </p:cBhvr>
                                      <p:to>
                                        <p:strVal val="visible"/>
                                      </p:to>
                                    </p:set>
                                    <p:animEffect transition="in" filter="fade">
                                      <p:cBhvr>
                                        <p:cTn id="7" dur="1000"/>
                                        <p:tgtEl>
                                          <p:spTgt spid="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79"/>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Ejemplos</a:t>
            </a:r>
            <a:endParaRPr sz="2400" b="1"/>
          </a:p>
        </p:txBody>
      </p:sp>
      <p:sp>
        <p:nvSpPr>
          <p:cNvPr id="632" name="Google Shape;632;p79"/>
          <p:cNvSpPr txBox="1">
            <a:spLocks noGrp="1"/>
          </p:cNvSpPr>
          <p:nvPr>
            <p:ph type="body" idx="4294967295"/>
          </p:nvPr>
        </p:nvSpPr>
        <p:spPr>
          <a:xfrm>
            <a:off x="304800" y="1112663"/>
            <a:ext cx="2396700" cy="37107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2100"/>
              <a:buFont typeface="Arial"/>
              <a:buNone/>
            </a:pPr>
            <a:r>
              <a:rPr lang="en-GB" sz="1600"/>
              <a:t>Vinculación de la representación 2D en el espacio 3D mediante arcos </a:t>
            </a:r>
            <a:endParaRPr sz="1600"/>
          </a:p>
        </p:txBody>
      </p:sp>
      <p:pic>
        <p:nvPicPr>
          <p:cNvPr id="633" name="Google Shape;633;p79" descr="Image"/>
          <p:cNvPicPr preferRelativeResize="0"/>
          <p:nvPr/>
        </p:nvPicPr>
        <p:blipFill rotWithShape="1">
          <a:blip r:embed="rId3">
            <a:alphaModFix/>
          </a:blip>
          <a:srcRect/>
          <a:stretch/>
        </p:blipFill>
        <p:spPr>
          <a:xfrm>
            <a:off x="2609850" y="952500"/>
            <a:ext cx="6358050" cy="3590925"/>
          </a:xfrm>
          <a:prstGeom prst="rect">
            <a:avLst/>
          </a:prstGeom>
          <a:noFill/>
          <a:ln>
            <a:noFill/>
          </a:ln>
        </p:spPr>
      </p:pic>
      <p:sp>
        <p:nvSpPr>
          <p:cNvPr id="634" name="Google Shape;634;p79"/>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80"/>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Ejemplos</a:t>
            </a:r>
            <a:endParaRPr sz="500" b="1"/>
          </a:p>
        </p:txBody>
      </p:sp>
      <p:sp>
        <p:nvSpPr>
          <p:cNvPr id="640" name="Google Shape;640;p80"/>
          <p:cNvSpPr txBox="1">
            <a:spLocks noGrp="1"/>
          </p:cNvSpPr>
          <p:nvPr>
            <p:ph type="body" idx="4294967295"/>
          </p:nvPr>
        </p:nvSpPr>
        <p:spPr>
          <a:xfrm>
            <a:off x="381000" y="1036463"/>
            <a:ext cx="2396700" cy="37107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2100"/>
              <a:buFont typeface="Arial"/>
              <a:buNone/>
            </a:pPr>
            <a:r>
              <a:rPr lang="en-GB" sz="1600"/>
              <a:t>Un usuario trabajando con el sistema ImAxes. Aquí, el usuario ha dispuesto cuatro ejes para formar coordenadas paralelas. </a:t>
            </a:r>
            <a:endParaRPr sz="1600"/>
          </a:p>
        </p:txBody>
      </p:sp>
      <p:sp>
        <p:nvSpPr>
          <p:cNvPr id="641" name="Google Shape;641;p80"/>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pic>
        <p:nvPicPr>
          <p:cNvPr id="642" name="Google Shape;642;p80" descr="Link to the paper: http://bit.ly/2u2A6zz&#10;&#10;We introduce ImAxes, an immersive system for exploring multivariate data using fluid, modeless interaction. The basic interface element is an embodied data axis. The user can manipulate these axes like physical objects in the immersive environment and combine them into sophisticated visualisations. The type of visualisation that appears depends on the proximity and relative orientation of the axes with respect to one another, which we describe with a formal grammar. This straight-forward composability leads to a number of emergent visualisations and interactions, which we review, and then demonstrate with a detailed multivariate data analysis use case.&#10;&#10;Authors: Maxime Cordeil, Andrew Cunningham, Tim Dwyer, Bruce H Thomas, Kim Marriott&#10;&#10;Project (Unity 3D) available on github: https://github.com/MaximeCordeil/ImAxes&#10;&#10;UIST 2017" title="ImAxes - Immersive Multivariate Data Visualisation in Virtual Reality - ACM UIST 2017">
            <a:hlinkClick r:id="rId3"/>
          </p:cNvPr>
          <p:cNvPicPr preferRelativeResize="0"/>
          <p:nvPr/>
        </p:nvPicPr>
        <p:blipFill>
          <a:blip r:embed="rId4">
            <a:alphaModFix/>
          </a:blip>
          <a:stretch>
            <a:fillRect/>
          </a:stretch>
        </p:blipFill>
        <p:spPr>
          <a:xfrm>
            <a:off x="2777700" y="973550"/>
            <a:ext cx="6054600" cy="340572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2"/>
                                        </p:tgtEl>
                                        <p:attrNameLst>
                                          <p:attrName>style.visibility</p:attrName>
                                        </p:attrNameLst>
                                      </p:cBhvr>
                                      <p:to>
                                        <p:strVal val="visible"/>
                                      </p:to>
                                    </p:set>
                                    <p:animEffect transition="in" filter="fade">
                                      <p:cBhvr>
                                        <p:cTn id="7" dur="1000"/>
                                        <p:tgtEl>
                                          <p:spTgt spid="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81"/>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Ejemplos</a:t>
            </a:r>
            <a:endParaRPr sz="500" b="1"/>
          </a:p>
        </p:txBody>
      </p:sp>
      <p:sp>
        <p:nvSpPr>
          <p:cNvPr id="648" name="Google Shape;648;p81"/>
          <p:cNvSpPr txBox="1">
            <a:spLocks noGrp="1"/>
          </p:cNvSpPr>
          <p:nvPr>
            <p:ph type="body" idx="4294967295"/>
          </p:nvPr>
        </p:nvSpPr>
        <p:spPr>
          <a:xfrm>
            <a:off x="381000" y="1188863"/>
            <a:ext cx="2054100" cy="37107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2100"/>
              <a:buFont typeface="Arial"/>
              <a:buNone/>
            </a:pPr>
            <a:r>
              <a:rPr lang="en-GB" sz="1600"/>
              <a:t>PerfVis: Visualizaciones omnipresentes para el conocimiento del rendimiento del software</a:t>
            </a:r>
            <a:endParaRPr sz="1600"/>
          </a:p>
        </p:txBody>
      </p:sp>
      <p:sp>
        <p:nvSpPr>
          <p:cNvPr id="649" name="Google Shape;649;p81"/>
          <p:cNvSpPr txBox="1"/>
          <p:nvPr/>
        </p:nvSpPr>
        <p:spPr>
          <a:xfrm>
            <a:off x="3495750" y="4840425"/>
            <a:ext cx="2152500" cy="177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A7A7A7"/>
              </a:buClr>
              <a:buSzPts val="700"/>
              <a:buFont typeface="Calibri"/>
              <a:buNone/>
            </a:pPr>
            <a:r>
              <a:rPr lang="en-GB" sz="700" i="0" u="none" strike="noStrike" cap="none">
                <a:solidFill>
                  <a:schemeClr val="dk1"/>
                </a:solidFill>
                <a:latin typeface="Space Mono"/>
                <a:ea typeface="Space Mono"/>
                <a:cs typeface="Space Mono"/>
                <a:sym typeface="Space Mono"/>
              </a:rPr>
              <a:t>“Immersive Analytics”, Marriot et al.</a:t>
            </a:r>
            <a:endParaRPr sz="500">
              <a:solidFill>
                <a:schemeClr val="dk1"/>
              </a:solidFill>
              <a:latin typeface="Space Mono"/>
              <a:ea typeface="Space Mono"/>
              <a:cs typeface="Space Mono"/>
              <a:sym typeface="Space Mono"/>
            </a:endParaRPr>
          </a:p>
        </p:txBody>
      </p:sp>
      <p:pic>
        <p:nvPicPr>
          <p:cNvPr id="650" name="Google Shape;650;p81" title="PerfVis">
            <a:hlinkClick r:id="rId3"/>
          </p:cNvPr>
          <p:cNvPicPr preferRelativeResize="0"/>
          <p:nvPr/>
        </p:nvPicPr>
        <p:blipFill>
          <a:blip r:embed="rId4">
            <a:alphaModFix/>
          </a:blip>
          <a:stretch>
            <a:fillRect/>
          </a:stretch>
        </p:blipFill>
        <p:spPr>
          <a:xfrm>
            <a:off x="2358900" y="751113"/>
            <a:ext cx="6473400" cy="364127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0"/>
                                        </p:tgtEl>
                                        <p:attrNameLst>
                                          <p:attrName>style.visibility</p:attrName>
                                        </p:attrNameLst>
                                      </p:cBhvr>
                                      <p:to>
                                        <p:strVal val="visible"/>
                                      </p:to>
                                    </p:set>
                                    <p:animEffect transition="in" filter="fade">
                                      <p:cBhvr>
                                        <p:cTn id="7" dur="1000"/>
                                        <p:tgtEl>
                                          <p:spTgt spid="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rgbClr val="7D8AFF"/>
            </a:gs>
            <a:gs pos="100000">
              <a:srgbClr val="FC83DA"/>
            </a:gs>
          </a:gsLst>
          <a:lin ang="10800025" scaled="0"/>
        </a:gradFill>
        <a:effectLst/>
      </p:bgPr>
    </p:bg>
    <p:spTree>
      <p:nvGrpSpPr>
        <p:cNvPr id="1" name="Shape 654"/>
        <p:cNvGrpSpPr/>
        <p:nvPr/>
      </p:nvGrpSpPr>
      <p:grpSpPr>
        <a:xfrm>
          <a:off x="0" y="0"/>
          <a:ext cx="0" cy="0"/>
          <a:chOff x="0" y="0"/>
          <a:chExt cx="0" cy="0"/>
        </a:xfrm>
      </p:grpSpPr>
      <p:sp>
        <p:nvSpPr>
          <p:cNvPr id="655" name="Google Shape;655;p82"/>
          <p:cNvSpPr txBox="1"/>
          <p:nvPr/>
        </p:nvSpPr>
        <p:spPr>
          <a:xfrm>
            <a:off x="1509600" y="2202450"/>
            <a:ext cx="6124800" cy="738600"/>
          </a:xfrm>
          <a:prstGeom prst="rect">
            <a:avLst/>
          </a:prstGeom>
          <a:noFill/>
          <a:ln>
            <a:noFill/>
          </a:ln>
        </p:spPr>
        <p:txBody>
          <a:bodyPr spcFirstLastPara="1" wrap="square" lIns="91425" tIns="91425" rIns="91425" bIns="91425" anchor="ctr" anchorCtr="0">
            <a:noAutofit/>
          </a:bodyPr>
          <a:lstStyle/>
          <a:p>
            <a:pPr marL="0" marR="0" lvl="0" indent="0" algn="ctr" rtl="0">
              <a:lnSpc>
                <a:spcPct val="90000"/>
              </a:lnSpc>
              <a:spcBef>
                <a:spcPts val="0"/>
              </a:spcBef>
              <a:spcAft>
                <a:spcPts val="0"/>
              </a:spcAft>
              <a:buClr>
                <a:srgbClr val="000000"/>
              </a:buClr>
              <a:buSzPts val="1100"/>
              <a:buFont typeface="Arial"/>
              <a:buNone/>
            </a:pPr>
            <a:r>
              <a:rPr lang="en-GB" sz="3600" b="1">
                <a:solidFill>
                  <a:schemeClr val="dk1"/>
                </a:solidFill>
                <a:latin typeface="Space Mono"/>
                <a:ea typeface="Space Mono"/>
                <a:cs typeface="Space Mono"/>
                <a:sym typeface="Space Mono"/>
              </a:rPr>
              <a:t>Caso de Estudio: AVAR</a:t>
            </a:r>
            <a:endParaRPr sz="2400">
              <a:solidFill>
                <a:schemeClr val="dk1"/>
              </a:solidFill>
              <a:latin typeface="Space Mono"/>
              <a:ea typeface="Space Mono"/>
              <a:cs typeface="Space Mono"/>
              <a:sym typeface="Space Mono"/>
            </a:endParaRPr>
          </a:p>
        </p:txBody>
      </p:sp>
      <p:sp>
        <p:nvSpPr>
          <p:cNvPr id="3" name="TextBox 2">
            <a:extLst>
              <a:ext uri="{FF2B5EF4-FFF2-40B4-BE49-F238E27FC236}">
                <a16:creationId xmlns:a16="http://schemas.microsoft.com/office/drawing/2014/main" id="{B1CBF779-8BE0-E371-8135-43F5B27F74FC}"/>
              </a:ext>
            </a:extLst>
          </p:cNvPr>
          <p:cNvSpPr txBox="1"/>
          <p:nvPr/>
        </p:nvSpPr>
        <p:spPr>
          <a:xfrm>
            <a:off x="1573210" y="3482305"/>
            <a:ext cx="5773795" cy="577081"/>
          </a:xfrm>
          <a:prstGeom prst="rect">
            <a:avLst/>
          </a:prstGeom>
          <a:noFill/>
        </p:spPr>
        <p:txBody>
          <a:bodyPr wrap="square">
            <a:spAutoFit/>
          </a:bodyPr>
          <a:lstStyle/>
          <a:p>
            <a:r>
              <a:rPr lang="en-CL" sz="1050" b="0" i="0" dirty="0">
                <a:solidFill>
                  <a:srgbClr val="000000"/>
                </a:solidFill>
                <a:effectLst/>
                <a:latin typeface="Arial"/>
              </a:rPr>
              <a:t>Merino, L., Sotomayor-Gómez, B., Yu, X., Salgado, R., Bergel, A., Sedlmair, M., &amp; Weiskopf, D. (2020, April). Toward agile situated visualization: An exploratory user study. In </a:t>
            </a:r>
            <a:r>
              <a:rPr lang="en-CL" sz="1050" b="0" i="1" dirty="0">
                <a:solidFill>
                  <a:srgbClr val="000000"/>
                </a:solidFill>
                <a:effectLst/>
                <a:latin typeface="Arial"/>
              </a:rPr>
              <a:t>Extended Abstracts of the 2020 CHI Conference on Human Factors in Computing Systems</a:t>
            </a:r>
            <a:r>
              <a:rPr lang="en-CL" sz="1050" b="0" i="0" dirty="0">
                <a:solidFill>
                  <a:srgbClr val="000000"/>
                </a:solidFill>
                <a:effectLst/>
                <a:latin typeface="Arial"/>
              </a:rPr>
              <a:t> (pp. 1-7).</a:t>
            </a:r>
            <a:endParaRPr lang="en-CL"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83"/>
          <p:cNvSpPr txBox="1">
            <a:spLocks noGrp="1"/>
          </p:cNvSpPr>
          <p:nvPr>
            <p:ph type="body" idx="4294967295"/>
          </p:nvPr>
        </p:nvSpPr>
        <p:spPr>
          <a:xfrm>
            <a:off x="362450" y="1041275"/>
            <a:ext cx="7836900" cy="1391400"/>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000000"/>
              </a:buClr>
              <a:buSzPts val="1900"/>
              <a:buFont typeface="Arial"/>
              <a:buNone/>
            </a:pPr>
            <a:r>
              <a:rPr lang="en-GB" sz="1600"/>
              <a:t>Las herramientas existentes de visualización situada no promueven agilidad y ofrecen limitado soporte en:</a:t>
            </a:r>
            <a:endParaRPr sz="1600"/>
          </a:p>
        </p:txBody>
      </p:sp>
      <p:graphicFrame>
        <p:nvGraphicFramePr>
          <p:cNvPr id="662" name="Google Shape;662;p83"/>
          <p:cNvGraphicFramePr/>
          <p:nvPr/>
        </p:nvGraphicFramePr>
        <p:xfrm>
          <a:off x="431800" y="1905000"/>
          <a:ext cx="3000000" cy="3000000"/>
        </p:xfrm>
        <a:graphic>
          <a:graphicData uri="http://schemas.openxmlformats.org/drawingml/2006/table">
            <a:tbl>
              <a:tblPr bandRow="1">
                <a:noFill/>
                <a:tableStyleId>{644D82D1-A5CC-4578-84F6-CFC42621E0DF}</a:tableStyleId>
              </a:tblPr>
              <a:tblGrid>
                <a:gridCol w="2024850">
                  <a:extLst>
                    <a:ext uri="{9D8B030D-6E8A-4147-A177-3AD203B41FA5}">
                      <a16:colId xmlns:a16="http://schemas.microsoft.com/office/drawing/2014/main" val="20000"/>
                    </a:ext>
                  </a:extLst>
                </a:gridCol>
                <a:gridCol w="5666375">
                  <a:extLst>
                    <a:ext uri="{9D8B030D-6E8A-4147-A177-3AD203B41FA5}">
                      <a16:colId xmlns:a16="http://schemas.microsoft.com/office/drawing/2014/main" val="20001"/>
                    </a:ext>
                  </a:extLst>
                </a:gridCol>
              </a:tblGrid>
              <a:tr h="1189725">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Expresividad</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Limitadas técnicas de visualización debido a la falta de integración con motores de visualización</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0"/>
                  </a:ext>
                </a:extLst>
              </a:tr>
              <a:tr h="894750">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Comprehensividad</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Procesos de visualización no soportados, e.g., transformación de datos</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extLst>
                  <a:ext uri="{0D108BD9-81ED-4DB2-BD59-A6C34878D82A}">
                    <a16:rowId xmlns:a16="http://schemas.microsoft.com/office/drawing/2014/main" val="10001"/>
                  </a:ext>
                </a:extLst>
              </a:tr>
              <a:tr h="599775">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Vivacidad</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900"/>
                        <a:buFont typeface="Helvetica Neue Light"/>
                        <a:buNone/>
                      </a:pPr>
                      <a:r>
                        <a:rPr lang="en-GB" sz="1600" u="none" strike="noStrike" cap="none">
                          <a:latin typeface="Space Mono"/>
                          <a:ea typeface="Space Mono"/>
                          <a:cs typeface="Space Mono"/>
                          <a:sym typeface="Space Mono"/>
                        </a:rPr>
                        <a:t>Cambios tienen efecto en tiempo real</a:t>
                      </a:r>
                      <a:endParaRPr sz="16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2"/>
                  </a:ext>
                </a:extLst>
              </a:tr>
            </a:tbl>
          </a:graphicData>
        </a:graphic>
      </p:graphicFrame>
      <p:sp>
        <p:nvSpPr>
          <p:cNvPr id="663" name="Google Shape;663;p83"/>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Calibri"/>
              <a:buNone/>
            </a:pPr>
            <a:r>
              <a:rPr lang="en-GB" sz="2400" b="1"/>
              <a:t>Problema</a:t>
            </a:r>
            <a:endParaRPr sz="2400" b="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84"/>
          <p:cNvSpPr txBox="1">
            <a:spLocks noGrp="1"/>
          </p:cNvSpPr>
          <p:nvPr>
            <p:ph type="title"/>
          </p:nvPr>
        </p:nvSpPr>
        <p:spPr>
          <a:xfrm>
            <a:off x="311700" y="445025"/>
            <a:ext cx="88323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Herramientas Existentes de Visualización Situada</a:t>
            </a:r>
            <a:endParaRPr sz="2400" b="1"/>
          </a:p>
        </p:txBody>
      </p:sp>
      <p:sp>
        <p:nvSpPr>
          <p:cNvPr id="670" name="Google Shape;670;p84"/>
          <p:cNvSpPr txBox="1"/>
          <p:nvPr/>
        </p:nvSpPr>
        <p:spPr>
          <a:xfrm>
            <a:off x="421279" y="874170"/>
            <a:ext cx="102000" cy="2079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900"/>
              <a:buFont typeface="Times"/>
              <a:buNone/>
            </a:pPr>
            <a:r>
              <a:rPr lang="en-GB" sz="900" i="0" u="none" strike="noStrike" cap="none">
                <a:solidFill>
                  <a:schemeClr val="dk1"/>
                </a:solidFill>
                <a:latin typeface="Space Mono"/>
                <a:ea typeface="Space Mono"/>
                <a:cs typeface="Space Mono"/>
                <a:sym typeface="Space Mono"/>
              </a:rPr>
              <a:t> </a:t>
            </a:r>
            <a:endParaRPr sz="500">
              <a:solidFill>
                <a:schemeClr val="dk1"/>
              </a:solidFill>
              <a:latin typeface="Space Mono"/>
              <a:ea typeface="Space Mono"/>
              <a:cs typeface="Space Mono"/>
              <a:sym typeface="Space Mono"/>
            </a:endParaRPr>
          </a:p>
        </p:txBody>
      </p:sp>
      <p:pic>
        <p:nvPicPr>
          <p:cNvPr id="671" name="Google Shape;671;p84"/>
          <p:cNvPicPr preferRelativeResize="0"/>
          <p:nvPr/>
        </p:nvPicPr>
        <p:blipFill>
          <a:blip r:embed="rId3">
            <a:alphaModFix/>
          </a:blip>
          <a:stretch>
            <a:fillRect/>
          </a:stretch>
        </p:blipFill>
        <p:spPr>
          <a:xfrm>
            <a:off x="311699" y="1202300"/>
            <a:ext cx="7502034" cy="3864549"/>
          </a:xfrm>
          <a:prstGeom prst="rect">
            <a:avLst/>
          </a:prstGeom>
          <a:noFill/>
          <a:ln>
            <a:noFill/>
          </a:ln>
        </p:spPr>
      </p:pic>
      <p:sp>
        <p:nvSpPr>
          <p:cNvPr id="672" name="Google Shape;672;p84"/>
          <p:cNvSpPr/>
          <p:nvPr/>
        </p:nvSpPr>
        <p:spPr>
          <a:xfrm>
            <a:off x="311700" y="4494000"/>
            <a:ext cx="7502100" cy="572700"/>
          </a:xfrm>
          <a:prstGeom prst="rect">
            <a:avLst/>
          </a:prstGeom>
          <a:solidFill>
            <a:srgbClr val="828E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i="0" u="none" strike="noStrike" cap="none">
              <a:solidFill>
                <a:schemeClr val="dk1"/>
              </a:solidFill>
              <a:latin typeface="Space Mono"/>
              <a:ea typeface="Space Mono"/>
              <a:cs typeface="Space Mono"/>
              <a:sym typeface="Space Mono"/>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85"/>
          <p:cNvSpPr txBox="1">
            <a:spLocks noGrp="1"/>
          </p:cNvSpPr>
          <p:nvPr>
            <p:ph type="title"/>
          </p:nvPr>
        </p:nvSpPr>
        <p:spPr>
          <a:xfrm>
            <a:off x="311700" y="445025"/>
            <a:ext cx="8832300" cy="572700"/>
          </a:xfrm>
          <a:prstGeom prst="rect">
            <a:avLst/>
          </a:prstGeom>
          <a:noFill/>
          <a:ln>
            <a:noFill/>
          </a:ln>
        </p:spPr>
        <p:txBody>
          <a:bodyPr spcFirstLastPara="1" wrap="square" lIns="34275" tIns="34275" rIns="34275" bIns="34275" anchor="ctr" anchorCtr="0">
            <a:no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Herramientas Existentes de Visualización Situada</a:t>
            </a:r>
            <a:endParaRPr sz="2400" b="1"/>
          </a:p>
        </p:txBody>
      </p:sp>
      <p:sp>
        <p:nvSpPr>
          <p:cNvPr id="679" name="Google Shape;679;p85"/>
          <p:cNvSpPr txBox="1"/>
          <p:nvPr/>
        </p:nvSpPr>
        <p:spPr>
          <a:xfrm>
            <a:off x="421279" y="874170"/>
            <a:ext cx="102000" cy="2079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900"/>
              <a:buFont typeface="Times"/>
              <a:buNone/>
            </a:pPr>
            <a:r>
              <a:rPr lang="en-GB" sz="900" i="0" u="none" strike="noStrike" cap="none">
                <a:solidFill>
                  <a:schemeClr val="dk1"/>
                </a:solidFill>
                <a:latin typeface="Space Mono"/>
                <a:ea typeface="Space Mono"/>
                <a:cs typeface="Space Mono"/>
                <a:sym typeface="Space Mono"/>
              </a:rPr>
              <a:t> </a:t>
            </a:r>
            <a:endParaRPr sz="500">
              <a:solidFill>
                <a:schemeClr val="dk1"/>
              </a:solidFill>
              <a:latin typeface="Space Mono"/>
              <a:ea typeface="Space Mono"/>
              <a:cs typeface="Space Mono"/>
              <a:sym typeface="Space Mono"/>
            </a:endParaRPr>
          </a:p>
        </p:txBody>
      </p:sp>
      <p:pic>
        <p:nvPicPr>
          <p:cNvPr id="680" name="Google Shape;680;p85"/>
          <p:cNvPicPr preferRelativeResize="0"/>
          <p:nvPr/>
        </p:nvPicPr>
        <p:blipFill>
          <a:blip r:embed="rId3">
            <a:alphaModFix/>
          </a:blip>
          <a:stretch>
            <a:fillRect/>
          </a:stretch>
        </p:blipFill>
        <p:spPr>
          <a:xfrm>
            <a:off x="311699" y="1202300"/>
            <a:ext cx="7502034" cy="386454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8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Arquitectura Propuesta</a:t>
            </a:r>
            <a:endParaRPr sz="2400" b="1"/>
          </a:p>
        </p:txBody>
      </p:sp>
      <p:sp>
        <p:nvSpPr>
          <p:cNvPr id="687" name="Google Shape;687;p86"/>
          <p:cNvSpPr/>
          <p:nvPr/>
        </p:nvSpPr>
        <p:spPr>
          <a:xfrm>
            <a:off x="473936" y="1103788"/>
            <a:ext cx="3915205" cy="3361660"/>
          </a:xfrm>
          <a:prstGeom prst="rect">
            <a:avLst/>
          </a:prstGeom>
          <a:solidFill>
            <a:srgbClr val="ECFBF3"/>
          </a:solidFill>
          <a:ln w="25400" cap="flat" cmpd="sng">
            <a:solidFill>
              <a:srgbClr val="19961F"/>
            </a:solidFill>
            <a:prstDash val="dashDot"/>
            <a:miter lim="4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Helvetica Neue Light"/>
              <a:buNone/>
            </a:pPr>
            <a:endParaRPr sz="1400" b="0" i="0" u="none" strike="noStrike" cap="none">
              <a:solidFill>
                <a:srgbClr val="000000"/>
              </a:solidFill>
              <a:latin typeface="Helvetica Neue Light"/>
              <a:ea typeface="Helvetica Neue Light"/>
              <a:cs typeface="Helvetica Neue Light"/>
              <a:sym typeface="Helvetica Neue Light"/>
            </a:endParaRPr>
          </a:p>
        </p:txBody>
      </p:sp>
      <p:sp>
        <p:nvSpPr>
          <p:cNvPr id="688" name="Google Shape;688;p86"/>
          <p:cNvSpPr/>
          <p:nvPr/>
        </p:nvSpPr>
        <p:spPr>
          <a:xfrm>
            <a:off x="5975877" y="1103788"/>
            <a:ext cx="2728800" cy="3361800"/>
          </a:xfrm>
          <a:prstGeom prst="rect">
            <a:avLst/>
          </a:prstGeom>
          <a:solidFill>
            <a:srgbClr val="E5F3FF"/>
          </a:solidFill>
          <a:ln w="25400" cap="flat" cmpd="sng">
            <a:solidFill>
              <a:srgbClr val="081BA7"/>
            </a:solidFill>
            <a:prstDash val="dashDot"/>
            <a:miter lim="4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689" name="Google Shape;689;p86"/>
          <p:cNvSpPr txBox="1"/>
          <p:nvPr/>
        </p:nvSpPr>
        <p:spPr>
          <a:xfrm>
            <a:off x="1991972" y="4499025"/>
            <a:ext cx="685200" cy="315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chemeClr val="dk1"/>
                </a:solidFill>
                <a:latin typeface="Space Mono"/>
                <a:ea typeface="Space Mono"/>
                <a:cs typeface="Space Mono"/>
                <a:sym typeface="Space Mono"/>
              </a:rPr>
              <a:t>AVAR</a:t>
            </a:r>
            <a:endParaRPr sz="1600">
              <a:solidFill>
                <a:schemeClr val="dk1"/>
              </a:solidFill>
              <a:latin typeface="Space Mono"/>
              <a:ea typeface="Space Mono"/>
              <a:cs typeface="Space Mono"/>
              <a:sym typeface="Space Mono"/>
            </a:endParaRPr>
          </a:p>
        </p:txBody>
      </p:sp>
      <p:sp>
        <p:nvSpPr>
          <p:cNvPr id="690" name="Google Shape;690;p86"/>
          <p:cNvSpPr txBox="1"/>
          <p:nvPr/>
        </p:nvSpPr>
        <p:spPr>
          <a:xfrm>
            <a:off x="6911824" y="4489475"/>
            <a:ext cx="835800" cy="315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chemeClr val="dk1"/>
                </a:solidFill>
                <a:latin typeface="Space Mono"/>
                <a:ea typeface="Space Mono"/>
                <a:cs typeface="Space Mono"/>
                <a:sym typeface="Space Mono"/>
              </a:rPr>
              <a:t>Pharo</a:t>
            </a:r>
            <a:endParaRPr sz="1600">
              <a:solidFill>
                <a:schemeClr val="dk1"/>
              </a:solidFill>
              <a:latin typeface="Space Mono"/>
              <a:ea typeface="Space Mono"/>
              <a:cs typeface="Space Mono"/>
              <a:sym typeface="Space Mono"/>
            </a:endParaRPr>
          </a:p>
        </p:txBody>
      </p:sp>
      <p:sp>
        <p:nvSpPr>
          <p:cNvPr id="691" name="Google Shape;691;p86"/>
          <p:cNvSpPr/>
          <p:nvPr/>
        </p:nvSpPr>
        <p:spPr>
          <a:xfrm>
            <a:off x="3589542" y="3398857"/>
            <a:ext cx="428338" cy="428338"/>
          </a:xfrm>
          <a:custGeom>
            <a:avLst/>
            <a:gdLst/>
            <a:ahLst/>
            <a:cxnLst/>
            <a:rect l="l" t="t" r="r" b="b"/>
            <a:pathLst>
              <a:path w="21600" h="21600" extrusionOk="0">
                <a:moveTo>
                  <a:pt x="0" y="10800"/>
                </a:moveTo>
                <a:lnTo>
                  <a:pt x="10800" y="21600"/>
                </a:lnTo>
                <a:lnTo>
                  <a:pt x="21600" y="10800"/>
                </a:lnTo>
                <a:lnTo>
                  <a:pt x="10800" y="0"/>
                </a:lnTo>
                <a:close/>
              </a:path>
            </a:pathLst>
          </a:custGeom>
          <a:solidFill>
            <a:srgbClr val="FFFFFF"/>
          </a:solidFill>
          <a:ln w="25400" cap="flat" cmpd="sng">
            <a:solidFill>
              <a:srgbClr val="A7A7A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692" name="Google Shape;692;p86"/>
          <p:cNvSpPr/>
          <p:nvPr/>
        </p:nvSpPr>
        <p:spPr>
          <a:xfrm>
            <a:off x="737994" y="1316794"/>
            <a:ext cx="999310" cy="2935397"/>
          </a:xfrm>
          <a:prstGeom prst="rect">
            <a:avLst/>
          </a:prstGeom>
          <a:solidFill>
            <a:srgbClr val="E5F0DF"/>
          </a:solidFill>
          <a:ln w="25400" cap="flat" cmpd="sng">
            <a:solidFill>
              <a:srgbClr val="7C9647"/>
            </a:solidFill>
            <a:prstDash val="solid"/>
            <a:miter lim="400000"/>
            <a:headEnd type="none" w="sm" len="sm"/>
            <a:tailEnd type="none" w="sm" len="sm"/>
          </a:ln>
        </p:spPr>
        <p:txBody>
          <a:bodyPr spcFirstLastPara="1" wrap="square" lIns="34275" tIns="34275" rIns="34275" bIns="34275" anchor="t"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Scenes</a:t>
            </a:r>
            <a:endParaRPr sz="700">
              <a:latin typeface="Space Mono"/>
              <a:ea typeface="Space Mono"/>
              <a:cs typeface="Space Mono"/>
              <a:sym typeface="Space Mono"/>
            </a:endParaRPr>
          </a:p>
        </p:txBody>
      </p:sp>
      <p:sp>
        <p:nvSpPr>
          <p:cNvPr id="693" name="Google Shape;693;p86"/>
          <p:cNvSpPr/>
          <p:nvPr/>
        </p:nvSpPr>
        <p:spPr>
          <a:xfrm>
            <a:off x="2189482" y="1821907"/>
            <a:ext cx="999310" cy="553979"/>
          </a:xfrm>
          <a:prstGeom prst="rect">
            <a:avLst/>
          </a:prstGeom>
          <a:solidFill>
            <a:srgbClr val="9BBC99"/>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Elipse</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Box</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Label</a:t>
            </a:r>
            <a:endParaRPr sz="700">
              <a:latin typeface="Space Mono"/>
              <a:ea typeface="Space Mono"/>
              <a:cs typeface="Space Mono"/>
              <a:sym typeface="Space Mono"/>
            </a:endParaRPr>
          </a:p>
        </p:txBody>
      </p:sp>
      <p:sp>
        <p:nvSpPr>
          <p:cNvPr id="694" name="Google Shape;694;p86"/>
          <p:cNvSpPr/>
          <p:nvPr/>
        </p:nvSpPr>
        <p:spPr>
          <a:xfrm>
            <a:off x="2189482" y="1312277"/>
            <a:ext cx="999310" cy="268605"/>
          </a:xfrm>
          <a:prstGeom prst="rect">
            <a:avLst/>
          </a:prstGeom>
          <a:solidFill>
            <a:srgbClr val="FFFFFF"/>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Main</a:t>
            </a:r>
            <a:endParaRPr sz="700">
              <a:latin typeface="Space Mono"/>
              <a:ea typeface="Space Mono"/>
              <a:cs typeface="Space Mono"/>
              <a:sym typeface="Space Mono"/>
            </a:endParaRPr>
          </a:p>
        </p:txBody>
      </p:sp>
      <p:sp>
        <p:nvSpPr>
          <p:cNvPr id="695" name="Google Shape;695;p86"/>
          <p:cNvSpPr/>
          <p:nvPr/>
        </p:nvSpPr>
        <p:spPr>
          <a:xfrm>
            <a:off x="2189482" y="2616910"/>
            <a:ext cx="999310" cy="620788"/>
          </a:xfrm>
          <a:prstGeom prst="rect">
            <a:avLst/>
          </a:prstGeom>
          <a:solidFill>
            <a:srgbClr val="9BBC99"/>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Cube</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Cylinder</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Sphere</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Label</a:t>
            </a:r>
            <a:endParaRPr sz="700">
              <a:latin typeface="Space Mono"/>
              <a:ea typeface="Space Mono"/>
              <a:cs typeface="Space Mono"/>
              <a:sym typeface="Space Mono"/>
            </a:endParaRPr>
          </a:p>
        </p:txBody>
      </p:sp>
      <p:sp>
        <p:nvSpPr>
          <p:cNvPr id="696" name="Google Shape;696;p86"/>
          <p:cNvSpPr/>
          <p:nvPr/>
        </p:nvSpPr>
        <p:spPr>
          <a:xfrm>
            <a:off x="2189482" y="3478723"/>
            <a:ext cx="999310" cy="268605"/>
          </a:xfrm>
          <a:prstGeom prst="rect">
            <a:avLst/>
          </a:prstGeom>
          <a:solidFill>
            <a:srgbClr val="9BBC99"/>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Plain Text</a:t>
            </a:r>
            <a:endParaRPr sz="700">
              <a:latin typeface="Space Mono"/>
              <a:ea typeface="Space Mono"/>
              <a:cs typeface="Space Mono"/>
              <a:sym typeface="Space Mono"/>
            </a:endParaRPr>
          </a:p>
        </p:txBody>
      </p:sp>
      <p:sp>
        <p:nvSpPr>
          <p:cNvPr id="697" name="Google Shape;697;p86"/>
          <p:cNvSpPr/>
          <p:nvPr/>
        </p:nvSpPr>
        <p:spPr>
          <a:xfrm>
            <a:off x="2189482" y="3988353"/>
            <a:ext cx="999310" cy="268605"/>
          </a:xfrm>
          <a:prstGeom prst="rect">
            <a:avLst/>
          </a:prstGeom>
          <a:solidFill>
            <a:srgbClr val="9BBC99"/>
          </a:solidFill>
          <a:ln w="25400" cap="flat" cmpd="sng">
            <a:solidFill>
              <a:srgbClr val="7C964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Interaction</a:t>
            </a:r>
            <a:endParaRPr sz="700">
              <a:latin typeface="Space Mono"/>
              <a:ea typeface="Space Mono"/>
              <a:cs typeface="Space Mono"/>
              <a:sym typeface="Space Mono"/>
            </a:endParaRPr>
          </a:p>
        </p:txBody>
      </p:sp>
      <p:sp>
        <p:nvSpPr>
          <p:cNvPr id="698" name="Google Shape;698;p86"/>
          <p:cNvSpPr/>
          <p:nvPr/>
        </p:nvSpPr>
        <p:spPr>
          <a:xfrm>
            <a:off x="843753" y="1803005"/>
            <a:ext cx="787793" cy="268605"/>
          </a:xfrm>
          <a:prstGeom prst="rect">
            <a:avLst/>
          </a:prstGeom>
          <a:solidFill>
            <a:srgbClr val="CDDDAC"/>
          </a:solidFill>
          <a:ln w="25400" cap="flat" cmpd="sng">
            <a:solidFill>
              <a:srgbClr val="9BBB59"/>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700"/>
              <a:buFont typeface="Helvetica Neue Light"/>
              <a:buNone/>
            </a:pPr>
            <a:r>
              <a:rPr lang="en-GB" sz="900" i="0" u="none" strike="noStrike" cap="none">
                <a:solidFill>
                  <a:srgbClr val="000000"/>
                </a:solidFill>
                <a:latin typeface="Space Mono"/>
                <a:ea typeface="Space Mono"/>
                <a:cs typeface="Space Mono"/>
                <a:sym typeface="Space Mono"/>
              </a:rPr>
              <a:t>Scene #1</a:t>
            </a:r>
            <a:endParaRPr sz="700">
              <a:latin typeface="Space Mono"/>
              <a:ea typeface="Space Mono"/>
              <a:cs typeface="Space Mono"/>
              <a:sym typeface="Space Mono"/>
            </a:endParaRPr>
          </a:p>
        </p:txBody>
      </p:sp>
      <p:sp>
        <p:nvSpPr>
          <p:cNvPr id="699" name="Google Shape;699;p86"/>
          <p:cNvSpPr/>
          <p:nvPr/>
        </p:nvSpPr>
        <p:spPr>
          <a:xfrm>
            <a:off x="843753" y="2118678"/>
            <a:ext cx="787793" cy="268605"/>
          </a:xfrm>
          <a:prstGeom prst="rect">
            <a:avLst/>
          </a:prstGeom>
          <a:solidFill>
            <a:srgbClr val="CDDDAC"/>
          </a:solidFill>
          <a:ln w="25400" cap="flat" cmpd="sng">
            <a:solidFill>
              <a:srgbClr val="9BBB59"/>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700"/>
              <a:buFont typeface="Helvetica Neue Light"/>
              <a:buNone/>
            </a:pPr>
            <a:r>
              <a:rPr lang="en-GB" sz="900" i="0" u="none" strike="noStrike" cap="none">
                <a:solidFill>
                  <a:srgbClr val="000000"/>
                </a:solidFill>
                <a:latin typeface="Space Mono"/>
                <a:ea typeface="Space Mono"/>
                <a:cs typeface="Space Mono"/>
                <a:sym typeface="Space Mono"/>
              </a:rPr>
              <a:t>Scene #1</a:t>
            </a:r>
            <a:endParaRPr sz="700">
              <a:latin typeface="Space Mono"/>
              <a:ea typeface="Space Mono"/>
              <a:cs typeface="Space Mono"/>
              <a:sym typeface="Space Mono"/>
            </a:endParaRPr>
          </a:p>
        </p:txBody>
      </p:sp>
      <p:sp>
        <p:nvSpPr>
          <p:cNvPr id="700" name="Google Shape;700;p86"/>
          <p:cNvSpPr/>
          <p:nvPr/>
        </p:nvSpPr>
        <p:spPr>
          <a:xfrm>
            <a:off x="843753" y="2789249"/>
            <a:ext cx="787793" cy="268605"/>
          </a:xfrm>
          <a:prstGeom prst="rect">
            <a:avLst/>
          </a:prstGeom>
          <a:solidFill>
            <a:srgbClr val="CDDDAC"/>
          </a:solidFill>
          <a:ln w="25400" cap="flat" cmpd="sng">
            <a:solidFill>
              <a:srgbClr val="9BBB59"/>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700"/>
              <a:buFont typeface="Helvetica Neue Light"/>
              <a:buNone/>
            </a:pPr>
            <a:r>
              <a:rPr lang="en-GB" sz="900" i="0" u="none" strike="noStrike" cap="none">
                <a:solidFill>
                  <a:srgbClr val="000000"/>
                </a:solidFill>
                <a:latin typeface="Space Mono"/>
                <a:ea typeface="Space Mono"/>
                <a:cs typeface="Space Mono"/>
                <a:sym typeface="Space Mono"/>
              </a:rPr>
              <a:t>Scene #N</a:t>
            </a:r>
            <a:endParaRPr sz="700">
              <a:latin typeface="Space Mono"/>
              <a:ea typeface="Space Mono"/>
              <a:cs typeface="Space Mono"/>
              <a:sym typeface="Space Mono"/>
            </a:endParaRPr>
          </a:p>
        </p:txBody>
      </p:sp>
      <p:sp>
        <p:nvSpPr>
          <p:cNvPr id="701" name="Google Shape;701;p86"/>
          <p:cNvSpPr/>
          <p:nvPr/>
        </p:nvSpPr>
        <p:spPr>
          <a:xfrm>
            <a:off x="843753" y="3474971"/>
            <a:ext cx="787793" cy="268605"/>
          </a:xfrm>
          <a:prstGeom prst="rect">
            <a:avLst/>
          </a:prstGeom>
          <a:solidFill>
            <a:srgbClr val="CDDDAC"/>
          </a:solidFill>
          <a:ln w="25400" cap="flat" cmpd="sng">
            <a:solidFill>
              <a:srgbClr val="9BBB59"/>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700"/>
              <a:buFont typeface="Helvetica Neue Light"/>
              <a:buNone/>
            </a:pPr>
            <a:r>
              <a:rPr lang="en-GB" sz="900" i="0" u="none" strike="noStrike" cap="none">
                <a:solidFill>
                  <a:srgbClr val="000000"/>
                </a:solidFill>
                <a:latin typeface="Space Mono"/>
                <a:ea typeface="Space Mono"/>
                <a:cs typeface="Space Mono"/>
                <a:sym typeface="Space Mono"/>
              </a:rPr>
              <a:t>Console</a:t>
            </a:r>
            <a:endParaRPr sz="700">
              <a:latin typeface="Space Mono"/>
              <a:ea typeface="Space Mono"/>
              <a:cs typeface="Space Mono"/>
              <a:sym typeface="Space Mono"/>
            </a:endParaRPr>
          </a:p>
        </p:txBody>
      </p:sp>
      <p:sp>
        <p:nvSpPr>
          <p:cNvPr id="702" name="Google Shape;702;p86"/>
          <p:cNvSpPr/>
          <p:nvPr/>
        </p:nvSpPr>
        <p:spPr>
          <a:xfrm>
            <a:off x="6840681" y="1312277"/>
            <a:ext cx="999310" cy="268605"/>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Listener</a:t>
            </a:r>
            <a:endParaRPr sz="700">
              <a:latin typeface="Space Mono"/>
              <a:ea typeface="Space Mono"/>
              <a:cs typeface="Space Mono"/>
              <a:sym typeface="Space Mono"/>
            </a:endParaRPr>
          </a:p>
        </p:txBody>
      </p:sp>
      <p:sp>
        <p:nvSpPr>
          <p:cNvPr id="703" name="Google Shape;703;p86"/>
          <p:cNvSpPr/>
          <p:nvPr/>
        </p:nvSpPr>
        <p:spPr>
          <a:xfrm>
            <a:off x="6840681" y="1803005"/>
            <a:ext cx="999310" cy="268605"/>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Interpreter</a:t>
            </a:r>
            <a:endParaRPr sz="700">
              <a:latin typeface="Space Mono"/>
              <a:ea typeface="Space Mono"/>
              <a:cs typeface="Space Mono"/>
              <a:sym typeface="Space Mono"/>
            </a:endParaRPr>
          </a:p>
        </p:txBody>
      </p:sp>
      <p:sp>
        <p:nvSpPr>
          <p:cNvPr id="704" name="Google Shape;704;p86"/>
          <p:cNvSpPr/>
          <p:nvPr/>
        </p:nvSpPr>
        <p:spPr>
          <a:xfrm>
            <a:off x="7498700" y="2797779"/>
            <a:ext cx="999300" cy="366900"/>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Text Generator</a:t>
            </a:r>
            <a:endParaRPr sz="700">
              <a:latin typeface="Space Mono"/>
              <a:ea typeface="Space Mono"/>
              <a:cs typeface="Space Mono"/>
              <a:sym typeface="Space Mono"/>
            </a:endParaRPr>
          </a:p>
        </p:txBody>
      </p:sp>
      <p:sp>
        <p:nvSpPr>
          <p:cNvPr id="705" name="Google Shape;705;p86"/>
          <p:cNvSpPr/>
          <p:nvPr/>
        </p:nvSpPr>
        <p:spPr>
          <a:xfrm>
            <a:off x="6840681" y="3478723"/>
            <a:ext cx="999310" cy="268605"/>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Serializer</a:t>
            </a:r>
            <a:endParaRPr sz="700">
              <a:latin typeface="Space Mono"/>
              <a:ea typeface="Space Mono"/>
              <a:cs typeface="Space Mono"/>
              <a:sym typeface="Space Mono"/>
            </a:endParaRPr>
          </a:p>
        </p:txBody>
      </p:sp>
      <p:sp>
        <p:nvSpPr>
          <p:cNvPr id="706" name="Google Shape;706;p86"/>
          <p:cNvSpPr/>
          <p:nvPr/>
        </p:nvSpPr>
        <p:spPr>
          <a:xfrm>
            <a:off x="4850761" y="3271177"/>
            <a:ext cx="514260" cy="621385"/>
          </a:xfrm>
          <a:custGeom>
            <a:avLst/>
            <a:gdLst/>
            <a:ahLst/>
            <a:cxnLst/>
            <a:rect l="l" t="t" r="r" b="b"/>
            <a:pathLst>
              <a:path w="21600" h="21600" extrusionOk="0">
                <a:moveTo>
                  <a:pt x="21600" y="21"/>
                </a:moveTo>
                <a:lnTo>
                  <a:pt x="21600" y="21600"/>
                </a:lnTo>
                <a:lnTo>
                  <a:pt x="39" y="21600"/>
                </a:lnTo>
                <a:lnTo>
                  <a:pt x="0" y="2771"/>
                </a:lnTo>
                <a:lnTo>
                  <a:pt x="3607" y="0"/>
                </a:lnTo>
                <a:lnTo>
                  <a:pt x="21600" y="21"/>
                </a:lnTo>
                <a:close/>
              </a:path>
            </a:pathLst>
          </a:custGeom>
          <a:solidFill>
            <a:srgbClr val="FFFFFF"/>
          </a:solidFill>
          <a:ln w="25400" cap="flat" cmpd="sng">
            <a:solidFill>
              <a:srgbClr val="A7A7A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JSON</a:t>
            </a:r>
            <a:endParaRPr sz="700">
              <a:latin typeface="Space Mono"/>
              <a:ea typeface="Space Mono"/>
              <a:cs typeface="Space Mono"/>
              <a:sym typeface="Space Mono"/>
            </a:endParaRPr>
          </a:p>
        </p:txBody>
      </p:sp>
      <p:sp>
        <p:nvSpPr>
          <p:cNvPr id="707" name="Google Shape;707;p86"/>
          <p:cNvSpPr/>
          <p:nvPr/>
        </p:nvSpPr>
        <p:spPr>
          <a:xfrm>
            <a:off x="4860325" y="1253025"/>
            <a:ext cx="614250" cy="621378"/>
          </a:xfrm>
          <a:custGeom>
            <a:avLst/>
            <a:gdLst/>
            <a:ahLst/>
            <a:cxnLst/>
            <a:rect l="l" t="t" r="r" b="b"/>
            <a:pathLst>
              <a:path w="21600" h="21600" extrusionOk="0">
                <a:moveTo>
                  <a:pt x="21600" y="21"/>
                </a:moveTo>
                <a:lnTo>
                  <a:pt x="21600" y="21600"/>
                </a:lnTo>
                <a:lnTo>
                  <a:pt x="39" y="21600"/>
                </a:lnTo>
                <a:lnTo>
                  <a:pt x="0" y="2771"/>
                </a:lnTo>
                <a:lnTo>
                  <a:pt x="3607" y="0"/>
                </a:lnTo>
                <a:lnTo>
                  <a:pt x="21600" y="21"/>
                </a:lnTo>
                <a:close/>
              </a:path>
            </a:pathLst>
          </a:custGeom>
          <a:solidFill>
            <a:srgbClr val="FFFFFF"/>
          </a:solidFill>
          <a:ln w="25400" cap="flat" cmpd="sng">
            <a:solidFill>
              <a:srgbClr val="A7A7A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Script</a:t>
            </a:r>
            <a:endParaRPr sz="700">
              <a:latin typeface="Space Mono"/>
              <a:ea typeface="Space Mono"/>
              <a:cs typeface="Space Mono"/>
              <a:sym typeface="Space Mono"/>
            </a:endParaRPr>
          </a:p>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(POST)</a:t>
            </a:r>
            <a:endParaRPr sz="700">
              <a:latin typeface="Space Mono"/>
              <a:ea typeface="Space Mono"/>
              <a:cs typeface="Space Mono"/>
              <a:sym typeface="Space Mono"/>
            </a:endParaRPr>
          </a:p>
        </p:txBody>
      </p:sp>
      <p:sp>
        <p:nvSpPr>
          <p:cNvPr id="708" name="Google Shape;708;p86"/>
          <p:cNvSpPr txBox="1"/>
          <p:nvPr/>
        </p:nvSpPr>
        <p:spPr>
          <a:xfrm>
            <a:off x="4901751" y="1898425"/>
            <a:ext cx="621300" cy="223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request</a:t>
            </a:r>
            <a:endParaRPr sz="700">
              <a:latin typeface="Space Mono"/>
              <a:ea typeface="Space Mono"/>
              <a:cs typeface="Space Mono"/>
              <a:sym typeface="Space Mono"/>
            </a:endParaRPr>
          </a:p>
        </p:txBody>
      </p:sp>
      <p:sp>
        <p:nvSpPr>
          <p:cNvPr id="709" name="Google Shape;709;p86"/>
          <p:cNvSpPr txBox="1"/>
          <p:nvPr/>
        </p:nvSpPr>
        <p:spPr>
          <a:xfrm>
            <a:off x="4851425" y="3953850"/>
            <a:ext cx="696300" cy="223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response</a:t>
            </a:r>
            <a:endParaRPr sz="700">
              <a:latin typeface="Space Mono"/>
              <a:ea typeface="Space Mono"/>
              <a:cs typeface="Space Mono"/>
              <a:sym typeface="Space Mono"/>
            </a:endParaRPr>
          </a:p>
        </p:txBody>
      </p:sp>
      <p:sp>
        <p:nvSpPr>
          <p:cNvPr id="710" name="Google Shape;710;p86"/>
          <p:cNvSpPr/>
          <p:nvPr/>
        </p:nvSpPr>
        <p:spPr>
          <a:xfrm>
            <a:off x="7126167" y="2282229"/>
            <a:ext cx="428338" cy="428338"/>
          </a:xfrm>
          <a:custGeom>
            <a:avLst/>
            <a:gdLst/>
            <a:ahLst/>
            <a:cxnLst/>
            <a:rect l="l" t="t" r="r" b="b"/>
            <a:pathLst>
              <a:path w="21600" h="21600" extrusionOk="0">
                <a:moveTo>
                  <a:pt x="0" y="10800"/>
                </a:moveTo>
                <a:lnTo>
                  <a:pt x="10800" y="21600"/>
                </a:lnTo>
                <a:lnTo>
                  <a:pt x="21600" y="10800"/>
                </a:lnTo>
                <a:lnTo>
                  <a:pt x="10800" y="0"/>
                </a:lnTo>
                <a:close/>
              </a:path>
            </a:pathLst>
          </a:custGeom>
          <a:solidFill>
            <a:srgbClr val="FFFFFF"/>
          </a:solidFill>
          <a:ln w="25400" cap="flat" cmpd="sng">
            <a:solidFill>
              <a:srgbClr val="A7A7A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cxnSp>
        <p:nvCxnSpPr>
          <p:cNvPr id="711" name="Google Shape;711;p86"/>
          <p:cNvCxnSpPr/>
          <p:nvPr/>
        </p:nvCxnSpPr>
        <p:spPr>
          <a:xfrm>
            <a:off x="3191581" y="1438456"/>
            <a:ext cx="1665949" cy="0"/>
          </a:xfrm>
          <a:prstGeom prst="straightConnector1">
            <a:avLst/>
          </a:prstGeom>
          <a:noFill/>
          <a:ln w="25400" cap="flat" cmpd="sng">
            <a:solidFill>
              <a:srgbClr val="A7A7A7"/>
            </a:solidFill>
            <a:prstDash val="solid"/>
            <a:round/>
            <a:headEnd type="none" w="sm" len="sm"/>
            <a:tailEnd type="triangle" w="med" len="med"/>
          </a:ln>
        </p:spPr>
      </p:cxnSp>
      <p:sp>
        <p:nvSpPr>
          <p:cNvPr id="712" name="Google Shape;712;p86"/>
          <p:cNvSpPr/>
          <p:nvPr/>
        </p:nvSpPr>
        <p:spPr>
          <a:xfrm>
            <a:off x="1237096" y="1126813"/>
            <a:ext cx="1452231" cy="183406"/>
          </a:xfrm>
          <a:custGeom>
            <a:avLst/>
            <a:gdLst/>
            <a:ahLst/>
            <a:cxnLst/>
            <a:rect l="l" t="t" r="r" b="b"/>
            <a:pathLst>
              <a:path w="21600" h="21229" extrusionOk="0">
                <a:moveTo>
                  <a:pt x="0" y="21229"/>
                </a:moveTo>
                <a:cubicBezTo>
                  <a:pt x="3454" y="6926"/>
                  <a:pt x="7318" y="-371"/>
                  <a:pt x="11232" y="14"/>
                </a:cubicBezTo>
                <a:cubicBezTo>
                  <a:pt x="14842" y="370"/>
                  <a:pt x="18392" y="7263"/>
                  <a:pt x="21600" y="20145"/>
                </a:cubicBezTo>
              </a:path>
            </a:pathLst>
          </a:custGeom>
          <a:noFill/>
          <a:ln w="25400" cap="flat" cmpd="sng">
            <a:solidFill>
              <a:srgbClr val="A7A7A7"/>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cxnSp>
        <p:nvCxnSpPr>
          <p:cNvPr id="713" name="Google Shape;713;p86"/>
          <p:cNvCxnSpPr/>
          <p:nvPr/>
        </p:nvCxnSpPr>
        <p:spPr>
          <a:xfrm flipH="1">
            <a:off x="1742281" y="4122656"/>
            <a:ext cx="441808" cy="0"/>
          </a:xfrm>
          <a:prstGeom prst="straightConnector1">
            <a:avLst/>
          </a:prstGeom>
          <a:noFill/>
          <a:ln w="25400" cap="flat" cmpd="sng">
            <a:solidFill>
              <a:srgbClr val="A7A7A7"/>
            </a:solidFill>
            <a:prstDash val="solid"/>
            <a:round/>
            <a:headEnd type="none" w="sm" len="sm"/>
            <a:tailEnd type="triangle" w="med" len="med"/>
          </a:ln>
        </p:spPr>
      </p:cxnSp>
      <p:cxnSp>
        <p:nvCxnSpPr>
          <p:cNvPr id="714" name="Google Shape;714;p86"/>
          <p:cNvCxnSpPr/>
          <p:nvPr/>
        </p:nvCxnSpPr>
        <p:spPr>
          <a:xfrm flipH="1">
            <a:off x="1742281" y="3613026"/>
            <a:ext cx="441808" cy="0"/>
          </a:xfrm>
          <a:prstGeom prst="straightConnector1">
            <a:avLst/>
          </a:prstGeom>
          <a:noFill/>
          <a:ln w="25400" cap="flat" cmpd="sng">
            <a:solidFill>
              <a:srgbClr val="A7A7A7"/>
            </a:solidFill>
            <a:prstDash val="solid"/>
            <a:round/>
            <a:headEnd type="none" w="sm" len="sm"/>
            <a:tailEnd type="triangle" w="med" len="med"/>
          </a:ln>
        </p:spPr>
      </p:cxnSp>
      <p:cxnSp>
        <p:nvCxnSpPr>
          <p:cNvPr id="715" name="Google Shape;715;p86"/>
          <p:cNvCxnSpPr/>
          <p:nvPr/>
        </p:nvCxnSpPr>
        <p:spPr>
          <a:xfrm flipH="1">
            <a:off x="1990121" y="2109153"/>
            <a:ext cx="193968" cy="0"/>
          </a:xfrm>
          <a:prstGeom prst="straightConnector1">
            <a:avLst/>
          </a:prstGeom>
          <a:noFill/>
          <a:ln w="25400" cap="flat" cmpd="sng">
            <a:solidFill>
              <a:srgbClr val="A7A7A7"/>
            </a:solidFill>
            <a:prstDash val="solid"/>
            <a:round/>
            <a:headEnd type="none" w="sm" len="sm"/>
            <a:tailEnd type="none" w="sm" len="sm"/>
          </a:ln>
        </p:spPr>
      </p:cxnSp>
      <p:cxnSp>
        <p:nvCxnSpPr>
          <p:cNvPr id="716" name="Google Shape;716;p86"/>
          <p:cNvCxnSpPr/>
          <p:nvPr/>
        </p:nvCxnSpPr>
        <p:spPr>
          <a:xfrm flipH="1">
            <a:off x="1990121" y="2932067"/>
            <a:ext cx="193968" cy="0"/>
          </a:xfrm>
          <a:prstGeom prst="straightConnector1">
            <a:avLst/>
          </a:prstGeom>
          <a:noFill/>
          <a:ln w="25400" cap="flat" cmpd="sng">
            <a:solidFill>
              <a:srgbClr val="A7A7A7"/>
            </a:solidFill>
            <a:prstDash val="solid"/>
            <a:round/>
            <a:headEnd type="none" w="sm" len="sm"/>
            <a:tailEnd type="none" w="sm" len="sm"/>
          </a:ln>
        </p:spPr>
      </p:cxnSp>
      <p:cxnSp>
        <p:nvCxnSpPr>
          <p:cNvPr id="717" name="Google Shape;717;p86"/>
          <p:cNvCxnSpPr/>
          <p:nvPr/>
        </p:nvCxnSpPr>
        <p:spPr>
          <a:xfrm flipH="1">
            <a:off x="1991968" y="2109229"/>
            <a:ext cx="0" cy="827946"/>
          </a:xfrm>
          <a:prstGeom prst="straightConnector1">
            <a:avLst/>
          </a:prstGeom>
          <a:noFill/>
          <a:ln w="25400" cap="flat" cmpd="sng">
            <a:solidFill>
              <a:srgbClr val="A7A7A7"/>
            </a:solidFill>
            <a:prstDash val="solid"/>
            <a:round/>
            <a:headEnd type="none" w="sm" len="sm"/>
            <a:tailEnd type="none" w="sm" len="sm"/>
          </a:ln>
        </p:spPr>
      </p:cxnSp>
      <p:cxnSp>
        <p:nvCxnSpPr>
          <p:cNvPr id="718" name="Google Shape;718;p86"/>
          <p:cNvCxnSpPr/>
          <p:nvPr/>
        </p:nvCxnSpPr>
        <p:spPr>
          <a:xfrm flipH="1">
            <a:off x="1742489" y="2496398"/>
            <a:ext cx="248040" cy="0"/>
          </a:xfrm>
          <a:prstGeom prst="straightConnector1">
            <a:avLst/>
          </a:prstGeom>
          <a:noFill/>
          <a:ln w="25400" cap="flat" cmpd="sng">
            <a:solidFill>
              <a:srgbClr val="A7A7A7"/>
            </a:solidFill>
            <a:prstDash val="solid"/>
            <a:round/>
            <a:headEnd type="none" w="sm" len="sm"/>
            <a:tailEnd type="triangle" w="med" len="med"/>
          </a:ln>
        </p:spPr>
      </p:cxnSp>
      <p:cxnSp>
        <p:nvCxnSpPr>
          <p:cNvPr id="719" name="Google Shape;719;p86"/>
          <p:cNvCxnSpPr/>
          <p:nvPr/>
        </p:nvCxnSpPr>
        <p:spPr>
          <a:xfrm flipH="1">
            <a:off x="3186823" y="2089371"/>
            <a:ext cx="621186" cy="0"/>
          </a:xfrm>
          <a:prstGeom prst="straightConnector1">
            <a:avLst/>
          </a:prstGeom>
          <a:noFill/>
          <a:ln w="25400" cap="flat" cmpd="sng">
            <a:solidFill>
              <a:srgbClr val="A7A7A7"/>
            </a:solidFill>
            <a:prstDash val="solid"/>
            <a:round/>
            <a:headEnd type="none" w="sm" len="sm"/>
            <a:tailEnd type="none" w="sm" len="sm"/>
          </a:ln>
        </p:spPr>
      </p:cxnSp>
      <p:cxnSp>
        <p:nvCxnSpPr>
          <p:cNvPr id="720" name="Google Shape;720;p86"/>
          <p:cNvCxnSpPr/>
          <p:nvPr/>
        </p:nvCxnSpPr>
        <p:spPr>
          <a:xfrm flipH="1">
            <a:off x="3190306" y="2922542"/>
            <a:ext cx="614221" cy="0"/>
          </a:xfrm>
          <a:prstGeom prst="straightConnector1">
            <a:avLst/>
          </a:prstGeom>
          <a:noFill/>
          <a:ln w="25400" cap="flat" cmpd="sng">
            <a:solidFill>
              <a:srgbClr val="A7A7A7"/>
            </a:solidFill>
            <a:prstDash val="solid"/>
            <a:round/>
            <a:headEnd type="none" w="sm" len="sm"/>
            <a:tailEnd type="none" w="sm" len="sm"/>
          </a:ln>
        </p:spPr>
      </p:cxnSp>
      <p:cxnSp>
        <p:nvCxnSpPr>
          <p:cNvPr id="721" name="Google Shape;721;p86"/>
          <p:cNvCxnSpPr/>
          <p:nvPr/>
        </p:nvCxnSpPr>
        <p:spPr>
          <a:xfrm flipH="1">
            <a:off x="3186823" y="3613026"/>
            <a:ext cx="409797" cy="0"/>
          </a:xfrm>
          <a:prstGeom prst="straightConnector1">
            <a:avLst/>
          </a:prstGeom>
          <a:noFill/>
          <a:ln w="25400" cap="flat" cmpd="sng">
            <a:solidFill>
              <a:srgbClr val="A7A7A7"/>
            </a:solidFill>
            <a:prstDash val="solid"/>
            <a:round/>
            <a:headEnd type="none" w="sm" len="sm"/>
            <a:tailEnd type="none" w="sm" len="sm"/>
          </a:ln>
        </p:spPr>
      </p:cxnSp>
      <p:cxnSp>
        <p:nvCxnSpPr>
          <p:cNvPr id="722" name="Google Shape;722;p86"/>
          <p:cNvCxnSpPr/>
          <p:nvPr/>
        </p:nvCxnSpPr>
        <p:spPr>
          <a:xfrm flipH="1">
            <a:off x="3186823" y="4122656"/>
            <a:ext cx="621186" cy="0"/>
          </a:xfrm>
          <a:prstGeom prst="straightConnector1">
            <a:avLst/>
          </a:prstGeom>
          <a:noFill/>
          <a:ln w="25400" cap="flat" cmpd="sng">
            <a:solidFill>
              <a:srgbClr val="A7A7A7"/>
            </a:solidFill>
            <a:prstDash val="solid"/>
            <a:round/>
            <a:headEnd type="none" w="sm" len="sm"/>
            <a:tailEnd type="none" w="sm" len="sm"/>
          </a:ln>
        </p:spPr>
      </p:cxnSp>
      <p:cxnSp>
        <p:nvCxnSpPr>
          <p:cNvPr id="723" name="Google Shape;723;p86"/>
          <p:cNvCxnSpPr/>
          <p:nvPr/>
        </p:nvCxnSpPr>
        <p:spPr>
          <a:xfrm>
            <a:off x="3803711" y="3824220"/>
            <a:ext cx="0" cy="297180"/>
          </a:xfrm>
          <a:prstGeom prst="straightConnector1">
            <a:avLst/>
          </a:prstGeom>
          <a:noFill/>
          <a:ln w="25400" cap="flat" cmpd="sng">
            <a:solidFill>
              <a:srgbClr val="A7A7A7"/>
            </a:solidFill>
            <a:prstDash val="solid"/>
            <a:round/>
            <a:headEnd type="none" w="sm" len="sm"/>
            <a:tailEnd type="none" w="sm" len="sm"/>
          </a:ln>
        </p:spPr>
      </p:cxnSp>
      <p:cxnSp>
        <p:nvCxnSpPr>
          <p:cNvPr id="724" name="Google Shape;724;p86"/>
          <p:cNvCxnSpPr/>
          <p:nvPr/>
        </p:nvCxnSpPr>
        <p:spPr>
          <a:xfrm>
            <a:off x="3803711" y="2090911"/>
            <a:ext cx="0" cy="1310673"/>
          </a:xfrm>
          <a:prstGeom prst="straightConnector1">
            <a:avLst/>
          </a:prstGeom>
          <a:noFill/>
          <a:ln w="25400" cap="flat" cmpd="sng">
            <a:solidFill>
              <a:srgbClr val="A7A7A7"/>
            </a:solidFill>
            <a:prstDash val="solid"/>
            <a:round/>
            <a:headEnd type="none" w="sm" len="sm"/>
            <a:tailEnd type="none" w="sm" len="sm"/>
          </a:ln>
        </p:spPr>
      </p:cxnSp>
      <p:cxnSp>
        <p:nvCxnSpPr>
          <p:cNvPr id="725" name="Google Shape;725;p86"/>
          <p:cNvCxnSpPr/>
          <p:nvPr/>
        </p:nvCxnSpPr>
        <p:spPr>
          <a:xfrm flipH="1">
            <a:off x="4011741" y="3613026"/>
            <a:ext cx="835942" cy="0"/>
          </a:xfrm>
          <a:prstGeom prst="straightConnector1">
            <a:avLst/>
          </a:prstGeom>
          <a:noFill/>
          <a:ln w="25400" cap="flat" cmpd="sng">
            <a:solidFill>
              <a:srgbClr val="A7A7A7"/>
            </a:solidFill>
            <a:prstDash val="solid"/>
            <a:round/>
            <a:headEnd type="none" w="sm" len="sm"/>
            <a:tailEnd type="triangle" w="med" len="med"/>
          </a:ln>
        </p:spPr>
      </p:cxnSp>
      <p:cxnSp>
        <p:nvCxnSpPr>
          <p:cNvPr id="726" name="Google Shape;726;p86"/>
          <p:cNvCxnSpPr/>
          <p:nvPr/>
        </p:nvCxnSpPr>
        <p:spPr>
          <a:xfrm rot="10800000" flipH="1">
            <a:off x="5457825" y="1446600"/>
            <a:ext cx="1381200" cy="1200"/>
          </a:xfrm>
          <a:prstGeom prst="straightConnector1">
            <a:avLst/>
          </a:prstGeom>
          <a:noFill/>
          <a:ln w="25400" cap="flat" cmpd="sng">
            <a:solidFill>
              <a:srgbClr val="A7A7A7"/>
            </a:solidFill>
            <a:prstDash val="solid"/>
            <a:round/>
            <a:headEnd type="none" w="sm" len="sm"/>
            <a:tailEnd type="triangle" w="med" len="med"/>
          </a:ln>
        </p:spPr>
      </p:cxnSp>
      <p:cxnSp>
        <p:nvCxnSpPr>
          <p:cNvPr id="727" name="Google Shape;727;p86"/>
          <p:cNvCxnSpPr/>
          <p:nvPr/>
        </p:nvCxnSpPr>
        <p:spPr>
          <a:xfrm>
            <a:off x="7340336" y="1581453"/>
            <a:ext cx="0" cy="220980"/>
          </a:xfrm>
          <a:prstGeom prst="straightConnector1">
            <a:avLst/>
          </a:prstGeom>
          <a:noFill/>
          <a:ln w="25400" cap="flat" cmpd="sng">
            <a:solidFill>
              <a:srgbClr val="A7A7A7"/>
            </a:solidFill>
            <a:prstDash val="solid"/>
            <a:round/>
            <a:headEnd type="none" w="sm" len="sm"/>
            <a:tailEnd type="triangle" w="med" len="med"/>
          </a:ln>
        </p:spPr>
      </p:cxnSp>
      <p:cxnSp>
        <p:nvCxnSpPr>
          <p:cNvPr id="728" name="Google Shape;728;p86"/>
          <p:cNvCxnSpPr/>
          <p:nvPr/>
        </p:nvCxnSpPr>
        <p:spPr>
          <a:xfrm>
            <a:off x="7340336" y="2071682"/>
            <a:ext cx="0" cy="211455"/>
          </a:xfrm>
          <a:prstGeom prst="straightConnector1">
            <a:avLst/>
          </a:prstGeom>
          <a:noFill/>
          <a:ln w="25400" cap="flat" cmpd="sng">
            <a:solidFill>
              <a:srgbClr val="A7A7A7"/>
            </a:solidFill>
            <a:prstDash val="solid"/>
            <a:round/>
            <a:headEnd type="none" w="sm" len="sm"/>
            <a:tailEnd type="triangle" w="med" len="med"/>
          </a:ln>
        </p:spPr>
      </p:cxnSp>
      <p:cxnSp>
        <p:nvCxnSpPr>
          <p:cNvPr id="729" name="Google Shape;729;p86"/>
          <p:cNvCxnSpPr/>
          <p:nvPr/>
        </p:nvCxnSpPr>
        <p:spPr>
          <a:xfrm flipH="1">
            <a:off x="7555137" y="2496398"/>
            <a:ext cx="441808" cy="0"/>
          </a:xfrm>
          <a:prstGeom prst="straightConnector1">
            <a:avLst/>
          </a:prstGeom>
          <a:noFill/>
          <a:ln w="25400" cap="flat" cmpd="sng">
            <a:solidFill>
              <a:srgbClr val="A7A7A7"/>
            </a:solidFill>
            <a:prstDash val="solid"/>
            <a:round/>
            <a:headEnd type="none" w="sm" len="sm"/>
            <a:tailEnd type="none" w="sm" len="sm"/>
          </a:ln>
        </p:spPr>
      </p:cxnSp>
      <p:cxnSp>
        <p:nvCxnSpPr>
          <p:cNvPr id="730" name="Google Shape;730;p86"/>
          <p:cNvCxnSpPr/>
          <p:nvPr/>
        </p:nvCxnSpPr>
        <p:spPr>
          <a:xfrm flipH="1">
            <a:off x="6714734" y="2496398"/>
            <a:ext cx="409797" cy="0"/>
          </a:xfrm>
          <a:prstGeom prst="straightConnector1">
            <a:avLst/>
          </a:prstGeom>
          <a:noFill/>
          <a:ln w="25400" cap="flat" cmpd="sng">
            <a:solidFill>
              <a:srgbClr val="A7A7A7"/>
            </a:solidFill>
            <a:prstDash val="solid"/>
            <a:round/>
            <a:headEnd type="none" w="sm" len="sm"/>
            <a:tailEnd type="none" w="sm" len="sm"/>
          </a:ln>
        </p:spPr>
      </p:cxnSp>
      <p:cxnSp>
        <p:nvCxnSpPr>
          <p:cNvPr id="731" name="Google Shape;731;p86"/>
          <p:cNvCxnSpPr/>
          <p:nvPr/>
        </p:nvCxnSpPr>
        <p:spPr>
          <a:xfrm>
            <a:off x="7998361" y="2496398"/>
            <a:ext cx="0" cy="290617"/>
          </a:xfrm>
          <a:prstGeom prst="straightConnector1">
            <a:avLst/>
          </a:prstGeom>
          <a:noFill/>
          <a:ln w="25400" cap="flat" cmpd="sng">
            <a:solidFill>
              <a:srgbClr val="A7A7A7"/>
            </a:solidFill>
            <a:prstDash val="solid"/>
            <a:round/>
            <a:headEnd type="none" w="sm" len="sm"/>
            <a:tailEnd type="triangle" w="med" len="med"/>
          </a:ln>
        </p:spPr>
      </p:cxnSp>
      <p:cxnSp>
        <p:nvCxnSpPr>
          <p:cNvPr id="732" name="Google Shape;732;p86"/>
          <p:cNvCxnSpPr/>
          <p:nvPr/>
        </p:nvCxnSpPr>
        <p:spPr>
          <a:xfrm>
            <a:off x="6714703" y="2496398"/>
            <a:ext cx="0" cy="304935"/>
          </a:xfrm>
          <a:prstGeom prst="straightConnector1">
            <a:avLst/>
          </a:prstGeom>
          <a:noFill/>
          <a:ln w="25400" cap="flat" cmpd="sng">
            <a:solidFill>
              <a:srgbClr val="A7A7A7"/>
            </a:solidFill>
            <a:prstDash val="solid"/>
            <a:round/>
            <a:headEnd type="none" w="sm" len="sm"/>
            <a:tailEnd type="triangle" w="med" len="med"/>
          </a:ln>
        </p:spPr>
      </p:cxnSp>
      <p:cxnSp>
        <p:nvCxnSpPr>
          <p:cNvPr id="733" name="Google Shape;733;p86"/>
          <p:cNvCxnSpPr/>
          <p:nvPr/>
        </p:nvCxnSpPr>
        <p:spPr>
          <a:xfrm rot="10800000">
            <a:off x="6714703" y="3071182"/>
            <a:ext cx="0" cy="192300"/>
          </a:xfrm>
          <a:prstGeom prst="straightConnector1">
            <a:avLst/>
          </a:prstGeom>
          <a:noFill/>
          <a:ln w="25400" cap="flat" cmpd="sng">
            <a:solidFill>
              <a:srgbClr val="A7A7A7"/>
            </a:solidFill>
            <a:prstDash val="solid"/>
            <a:round/>
            <a:headEnd type="none" w="sm" len="sm"/>
            <a:tailEnd type="none" w="sm" len="sm"/>
          </a:ln>
        </p:spPr>
      </p:cxnSp>
      <p:cxnSp>
        <p:nvCxnSpPr>
          <p:cNvPr id="734" name="Google Shape;734;p86"/>
          <p:cNvCxnSpPr>
            <a:endCxn id="704" idx="2"/>
          </p:cNvCxnSpPr>
          <p:nvPr/>
        </p:nvCxnSpPr>
        <p:spPr>
          <a:xfrm rot="10800000">
            <a:off x="7998350" y="3164679"/>
            <a:ext cx="0" cy="98700"/>
          </a:xfrm>
          <a:prstGeom prst="straightConnector1">
            <a:avLst/>
          </a:prstGeom>
          <a:noFill/>
          <a:ln w="25400" cap="flat" cmpd="sng">
            <a:solidFill>
              <a:srgbClr val="A7A7A7"/>
            </a:solidFill>
            <a:prstDash val="solid"/>
            <a:round/>
            <a:headEnd type="none" w="sm" len="sm"/>
            <a:tailEnd type="none" w="sm" len="sm"/>
          </a:ln>
        </p:spPr>
      </p:cxnSp>
      <p:cxnSp>
        <p:nvCxnSpPr>
          <p:cNvPr id="735" name="Google Shape;735;p86"/>
          <p:cNvCxnSpPr/>
          <p:nvPr/>
        </p:nvCxnSpPr>
        <p:spPr>
          <a:xfrm rot="10800000">
            <a:off x="6714381" y="3266727"/>
            <a:ext cx="1289100" cy="0"/>
          </a:xfrm>
          <a:prstGeom prst="straightConnector1">
            <a:avLst/>
          </a:prstGeom>
          <a:noFill/>
          <a:ln w="25400" cap="flat" cmpd="sng">
            <a:solidFill>
              <a:srgbClr val="A7A7A7"/>
            </a:solidFill>
            <a:prstDash val="solid"/>
            <a:round/>
            <a:headEnd type="none" w="sm" len="sm"/>
            <a:tailEnd type="none" w="sm" len="sm"/>
          </a:ln>
        </p:spPr>
      </p:cxnSp>
      <p:cxnSp>
        <p:nvCxnSpPr>
          <p:cNvPr id="736" name="Google Shape;736;p86"/>
          <p:cNvCxnSpPr/>
          <p:nvPr/>
        </p:nvCxnSpPr>
        <p:spPr>
          <a:xfrm>
            <a:off x="7340336" y="3270165"/>
            <a:ext cx="0" cy="201930"/>
          </a:xfrm>
          <a:prstGeom prst="straightConnector1">
            <a:avLst/>
          </a:prstGeom>
          <a:noFill/>
          <a:ln w="25400" cap="flat" cmpd="sng">
            <a:solidFill>
              <a:srgbClr val="A7A7A7"/>
            </a:solidFill>
            <a:prstDash val="solid"/>
            <a:round/>
            <a:headEnd type="none" w="sm" len="sm"/>
            <a:tailEnd type="triangle" w="med" len="med"/>
          </a:ln>
        </p:spPr>
      </p:cxnSp>
      <p:cxnSp>
        <p:nvCxnSpPr>
          <p:cNvPr id="737" name="Google Shape;737;p86"/>
          <p:cNvCxnSpPr/>
          <p:nvPr/>
        </p:nvCxnSpPr>
        <p:spPr>
          <a:xfrm flipH="1">
            <a:off x="5372806" y="3618875"/>
            <a:ext cx="1466177" cy="0"/>
          </a:xfrm>
          <a:prstGeom prst="straightConnector1">
            <a:avLst/>
          </a:prstGeom>
          <a:noFill/>
          <a:ln w="25400" cap="flat" cmpd="sng">
            <a:solidFill>
              <a:srgbClr val="A7A7A7"/>
            </a:solidFill>
            <a:prstDash val="solid"/>
            <a:round/>
            <a:headEnd type="none" w="sm" len="sm"/>
            <a:tailEnd type="triangle" w="med" len="med"/>
          </a:ln>
        </p:spPr>
      </p:cxnSp>
      <p:sp>
        <p:nvSpPr>
          <p:cNvPr id="738" name="Google Shape;738;p86"/>
          <p:cNvSpPr txBox="1"/>
          <p:nvPr/>
        </p:nvSpPr>
        <p:spPr>
          <a:xfrm>
            <a:off x="7779270" y="2273125"/>
            <a:ext cx="409800" cy="223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true</a:t>
            </a:r>
            <a:endParaRPr sz="700">
              <a:latin typeface="Space Mono"/>
              <a:ea typeface="Space Mono"/>
              <a:cs typeface="Space Mono"/>
              <a:sym typeface="Space Mono"/>
            </a:endParaRPr>
          </a:p>
        </p:txBody>
      </p:sp>
      <p:sp>
        <p:nvSpPr>
          <p:cNvPr id="739" name="Google Shape;739;p86"/>
          <p:cNvSpPr txBox="1"/>
          <p:nvPr/>
        </p:nvSpPr>
        <p:spPr>
          <a:xfrm>
            <a:off x="6469718" y="2313550"/>
            <a:ext cx="514200" cy="223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false</a:t>
            </a:r>
            <a:endParaRPr sz="700">
              <a:latin typeface="Space Mono"/>
              <a:ea typeface="Space Mono"/>
              <a:cs typeface="Space Mono"/>
              <a:sym typeface="Space Mono"/>
            </a:endParaRPr>
          </a:p>
        </p:txBody>
      </p:sp>
      <p:sp>
        <p:nvSpPr>
          <p:cNvPr id="740" name="Google Shape;740;p86"/>
          <p:cNvSpPr/>
          <p:nvPr/>
        </p:nvSpPr>
        <p:spPr>
          <a:xfrm>
            <a:off x="6165975" y="2805175"/>
            <a:ext cx="999300" cy="366900"/>
          </a:xfrm>
          <a:prstGeom prst="rect">
            <a:avLst/>
          </a:prstGeom>
          <a:solidFill>
            <a:srgbClr val="FFFFFF"/>
          </a:solidFill>
          <a:ln w="25400" cap="flat" cmpd="sng">
            <a:solidFill>
              <a:srgbClr val="3F6797"/>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800"/>
              <a:buFont typeface="Helvetica Neue Light"/>
              <a:buNone/>
            </a:pPr>
            <a:r>
              <a:rPr lang="en-GB" sz="1000" i="0" u="none" strike="noStrike" cap="none">
                <a:solidFill>
                  <a:srgbClr val="000000"/>
                </a:solidFill>
                <a:latin typeface="Space Mono"/>
                <a:ea typeface="Space Mono"/>
                <a:cs typeface="Space Mono"/>
                <a:sym typeface="Space Mono"/>
              </a:rPr>
              <a:t>View Generator</a:t>
            </a:r>
            <a:endParaRPr sz="700">
              <a:latin typeface="Space Mono"/>
              <a:ea typeface="Space Mono"/>
              <a:cs typeface="Space Mono"/>
              <a:sym typeface="Space Mono"/>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pic>
        <p:nvPicPr>
          <p:cNvPr id="745" name="Google Shape;745;p87"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46" name="Google Shape;746;p87"/>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sp>
        <p:nvSpPr>
          <p:cNvPr id="747" name="Google Shape;747;p87"/>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748" name="Google Shape;748;p87"/>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2"/>
        <p:cNvGrpSpPr/>
        <p:nvPr/>
      </p:nvGrpSpPr>
      <p:grpSpPr>
        <a:xfrm>
          <a:off x="0" y="0"/>
          <a:ext cx="0" cy="0"/>
          <a:chOff x="0" y="0"/>
          <a:chExt cx="0" cy="0"/>
        </a:xfrm>
      </p:grpSpPr>
      <p:pic>
        <p:nvPicPr>
          <p:cNvPr id="753" name="Google Shape;753;p88"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54" name="Google Shape;754;p88"/>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755" name="Google Shape;755;p88"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756" name="Google Shape;756;p88"/>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757" name="Google Shape;757;p88"/>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1"/>
        <p:cNvGrpSpPr/>
        <p:nvPr/>
      </p:nvGrpSpPr>
      <p:grpSpPr>
        <a:xfrm>
          <a:off x="0" y="0"/>
          <a:ext cx="0" cy="0"/>
          <a:chOff x="0" y="0"/>
          <a:chExt cx="0" cy="0"/>
        </a:xfrm>
      </p:grpSpPr>
      <p:pic>
        <p:nvPicPr>
          <p:cNvPr id="762" name="Google Shape;762;p89"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63" name="Google Shape;763;p89"/>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764" name="Google Shape;764;p89"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765" name="Google Shape;765;p89"/>
          <p:cNvSpPr txBox="1"/>
          <p:nvPr/>
        </p:nvSpPr>
        <p:spPr>
          <a:xfrm>
            <a:off x="5286700" y="753175"/>
            <a:ext cx="3219000" cy="13623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 [ :n |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 := b := 1.</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(n - 1) timesRepeat: </a:t>
            </a:r>
            <a:endParaRPr sz="500">
              <a:latin typeface="Space Mono"/>
              <a:ea typeface="Space Mono"/>
              <a:cs typeface="Space Mono"/>
              <a:sym typeface="Space Mono"/>
            </a:endParaRPr>
          </a:p>
          <a:p>
            <a:pPr marL="0" marR="0" lvl="3" indent="52070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[a := b + (b := a)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value: 10</a:t>
            </a:r>
            <a:endParaRPr sz="500">
              <a:latin typeface="Space Mono"/>
              <a:ea typeface="Space Mono"/>
              <a:cs typeface="Space Mono"/>
              <a:sym typeface="Space Mono"/>
            </a:endParaRPr>
          </a:p>
        </p:txBody>
      </p:sp>
      <p:sp>
        <p:nvSpPr>
          <p:cNvPr id="766" name="Google Shape;766;p89"/>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67" name="Google Shape;767;p89"/>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68" name="Google Shape;768;p89"/>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769" name="Google Shape;769;p89"/>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3"/>
        <p:cNvGrpSpPr/>
        <p:nvPr/>
      </p:nvGrpSpPr>
      <p:grpSpPr>
        <a:xfrm>
          <a:off x="0" y="0"/>
          <a:ext cx="0" cy="0"/>
          <a:chOff x="0" y="0"/>
          <a:chExt cx="0" cy="0"/>
        </a:xfrm>
      </p:grpSpPr>
      <p:pic>
        <p:nvPicPr>
          <p:cNvPr id="774" name="Google Shape;774;p90"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75" name="Google Shape;775;p90"/>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776" name="Google Shape;776;p90"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777" name="Google Shape;777;p90"/>
          <p:cNvSpPr/>
          <p:nvPr/>
        </p:nvSpPr>
        <p:spPr>
          <a:xfrm>
            <a:off x="5247547" y="3423242"/>
            <a:ext cx="3403055" cy="1393746"/>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78" name="Google Shape;778;p90"/>
          <p:cNvSpPr/>
          <p:nvPr/>
        </p:nvSpPr>
        <p:spPr>
          <a:xfrm>
            <a:off x="5267325" y="4051522"/>
            <a:ext cx="3363499" cy="321253"/>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2"/>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779" name="Google Shape;779;p90"/>
          <p:cNvSpPr/>
          <p:nvPr/>
        </p:nvSpPr>
        <p:spPr>
          <a:xfrm>
            <a:off x="5267325" y="4408738"/>
            <a:ext cx="3363499" cy="321253"/>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2"/>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780" name="Google Shape;780;p90"/>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781" name="Google Shape;781;p90"/>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reflection endPos="30000" dist="38100" dir="5400000" fadeDir="5400012" sy="-100000" algn="bl" rotWithShape="0"/>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782" name="Google Shape;782;p90"/>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83" name="Google Shape;783;p90"/>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84" name="Google Shape;784;p90"/>
          <p:cNvSpPr/>
          <p:nvPr/>
        </p:nvSpPr>
        <p:spPr>
          <a:xfrm>
            <a:off x="5267325" y="3694306"/>
            <a:ext cx="3363499" cy="321253"/>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2"/>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785" name="Google Shape;785;p90"/>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786" name="Google Shape;786;p90"/>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787" name="Google Shape;787;p90"/>
          <p:cNvSpPr txBox="1"/>
          <p:nvPr/>
        </p:nvSpPr>
        <p:spPr>
          <a:xfrm>
            <a:off x="5286700" y="753175"/>
            <a:ext cx="3219000" cy="13623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 [ :n |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 := b := 1.</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(n - 1) timesRepeat: </a:t>
            </a:r>
            <a:endParaRPr sz="500">
              <a:latin typeface="Space Mono"/>
              <a:ea typeface="Space Mono"/>
              <a:cs typeface="Space Mono"/>
              <a:sym typeface="Space Mono"/>
            </a:endParaRPr>
          </a:p>
          <a:p>
            <a:pPr marL="0" marR="0" lvl="3" indent="52070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[a := b + (b := a)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value: 10</a:t>
            </a:r>
            <a:endParaRPr sz="500">
              <a:latin typeface="Space Mono"/>
              <a:ea typeface="Space Mono"/>
              <a:cs typeface="Space Mono"/>
              <a:sym typeface="Space Mono"/>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1"/>
        <p:cNvGrpSpPr/>
        <p:nvPr/>
      </p:nvGrpSpPr>
      <p:grpSpPr>
        <a:xfrm>
          <a:off x="0" y="0"/>
          <a:ext cx="0" cy="0"/>
          <a:chOff x="0" y="0"/>
          <a:chExt cx="0" cy="0"/>
        </a:xfrm>
      </p:grpSpPr>
      <p:pic>
        <p:nvPicPr>
          <p:cNvPr id="792" name="Google Shape;792;p91"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793" name="Google Shape;793;p91"/>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794" name="Google Shape;794;p91"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795" name="Google Shape;795;p91"/>
          <p:cNvSpPr/>
          <p:nvPr/>
        </p:nvSpPr>
        <p:spPr>
          <a:xfrm>
            <a:off x="7091610" y="2798738"/>
            <a:ext cx="306014" cy="585341"/>
          </a:xfrm>
          <a:custGeom>
            <a:avLst/>
            <a:gdLst/>
            <a:ahLst/>
            <a:cxnLst/>
            <a:rect l="l" t="t" r="r" b="b"/>
            <a:pathLst>
              <a:path w="16236" h="21600" extrusionOk="0">
                <a:moveTo>
                  <a:pt x="2906" y="21600"/>
                </a:moveTo>
                <a:cubicBezTo>
                  <a:pt x="21600" y="13769"/>
                  <a:pt x="20631" y="6569"/>
                  <a:pt x="0" y="0"/>
                </a:cubicBezTo>
              </a:path>
            </a:pathLst>
          </a:custGeom>
          <a:noFill/>
          <a:ln w="50800" cap="flat" cmpd="sng">
            <a:solidFill>
              <a:srgbClr val="4F81BD"/>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796" name="Google Shape;796;p91"/>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97" name="Google Shape;797;p91"/>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798" name="Google Shape;798;p91"/>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799" name="Google Shape;799;p91"/>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00" name="Google Shape;800;p91"/>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801" name="Google Shape;801;p91"/>
          <p:cNvSpPr/>
          <p:nvPr/>
        </p:nvSpPr>
        <p:spPr>
          <a:xfrm>
            <a:off x="5247547" y="3423242"/>
            <a:ext cx="3403200" cy="1393800"/>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02" name="Google Shape;802;p91"/>
          <p:cNvSpPr/>
          <p:nvPr/>
        </p:nvSpPr>
        <p:spPr>
          <a:xfrm>
            <a:off x="5267325" y="4051522"/>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803" name="Google Shape;803;p91"/>
          <p:cNvSpPr/>
          <p:nvPr/>
        </p:nvSpPr>
        <p:spPr>
          <a:xfrm>
            <a:off x="5267325" y="4408738"/>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804" name="Google Shape;804;p91"/>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805" name="Google Shape;805;p91"/>
          <p:cNvSpPr/>
          <p:nvPr/>
        </p:nvSpPr>
        <p:spPr>
          <a:xfrm>
            <a:off x="5267325" y="3694306"/>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806" name="Google Shape;806;p91"/>
          <p:cNvSpPr txBox="1"/>
          <p:nvPr/>
        </p:nvSpPr>
        <p:spPr>
          <a:xfrm>
            <a:off x="5286700" y="753175"/>
            <a:ext cx="3219000" cy="13623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 [ :n |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 := b := 1.</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(n - 1) timesRepeat: </a:t>
            </a:r>
            <a:endParaRPr sz="500">
              <a:latin typeface="Space Mono"/>
              <a:ea typeface="Space Mono"/>
              <a:cs typeface="Space Mono"/>
              <a:sym typeface="Space Mono"/>
            </a:endParaRPr>
          </a:p>
          <a:p>
            <a:pPr marL="0" marR="0" lvl="3" indent="52070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[a := b + (b := a)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value: 10</a:t>
            </a:r>
            <a:endParaRPr sz="500">
              <a:latin typeface="Space Mono"/>
              <a:ea typeface="Space Mono"/>
              <a:cs typeface="Space Mono"/>
              <a:sym typeface="Space Mono"/>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0"/>
        <p:cNvGrpSpPr/>
        <p:nvPr/>
      </p:nvGrpSpPr>
      <p:grpSpPr>
        <a:xfrm>
          <a:off x="0" y="0"/>
          <a:ext cx="0" cy="0"/>
          <a:chOff x="0" y="0"/>
          <a:chExt cx="0" cy="0"/>
        </a:xfrm>
      </p:grpSpPr>
      <p:pic>
        <p:nvPicPr>
          <p:cNvPr id="811" name="Google Shape;811;p92"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812" name="Google Shape;812;p92"/>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813" name="Google Shape;813;p92"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814" name="Google Shape;814;p92"/>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15" name="Google Shape;815;p92"/>
          <p:cNvSpPr/>
          <p:nvPr/>
        </p:nvSpPr>
        <p:spPr>
          <a:xfrm>
            <a:off x="7091610" y="2798738"/>
            <a:ext cx="306014" cy="585341"/>
          </a:xfrm>
          <a:custGeom>
            <a:avLst/>
            <a:gdLst/>
            <a:ahLst/>
            <a:cxnLst/>
            <a:rect l="l" t="t" r="r" b="b"/>
            <a:pathLst>
              <a:path w="16236" h="21600" extrusionOk="0">
                <a:moveTo>
                  <a:pt x="2906" y="21600"/>
                </a:moveTo>
                <a:cubicBezTo>
                  <a:pt x="21600" y="13769"/>
                  <a:pt x="20631" y="6569"/>
                  <a:pt x="0" y="0"/>
                </a:cubicBezTo>
              </a:path>
            </a:pathLst>
          </a:custGeom>
          <a:noFill/>
          <a:ln w="50800" cap="flat" cmpd="sng">
            <a:solidFill>
              <a:srgbClr val="4F81BD"/>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16" name="Google Shape;816;p92"/>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17" name="Google Shape;817;p92"/>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19" name="Google Shape;819;p92"/>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20" name="Google Shape;820;p92"/>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821" name="Google Shape;821;p92"/>
          <p:cNvSpPr/>
          <p:nvPr/>
        </p:nvSpPr>
        <p:spPr>
          <a:xfrm>
            <a:off x="5247547" y="3423242"/>
            <a:ext cx="3403200" cy="1393800"/>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22" name="Google Shape;822;p92"/>
          <p:cNvSpPr/>
          <p:nvPr/>
        </p:nvSpPr>
        <p:spPr>
          <a:xfrm>
            <a:off x="5267325" y="4051522"/>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823" name="Google Shape;823;p92"/>
          <p:cNvSpPr/>
          <p:nvPr/>
        </p:nvSpPr>
        <p:spPr>
          <a:xfrm>
            <a:off x="5267325" y="4408738"/>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824" name="Google Shape;824;p92"/>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825" name="Google Shape;825;p92"/>
          <p:cNvSpPr/>
          <p:nvPr/>
        </p:nvSpPr>
        <p:spPr>
          <a:xfrm>
            <a:off x="5267325" y="3694306"/>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826" name="Google Shape;826;p92"/>
          <p:cNvSpPr txBox="1"/>
          <p:nvPr/>
        </p:nvSpPr>
        <p:spPr>
          <a:xfrm>
            <a:off x="5286700" y="753175"/>
            <a:ext cx="3219000" cy="13623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 [ :n |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 := b := 1.</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(n - 1) timesRepeat: </a:t>
            </a:r>
            <a:endParaRPr sz="500">
              <a:latin typeface="Space Mono"/>
              <a:ea typeface="Space Mono"/>
              <a:cs typeface="Space Mono"/>
              <a:sym typeface="Space Mono"/>
            </a:endParaRPr>
          </a:p>
          <a:p>
            <a:pPr marL="0" marR="0" lvl="3" indent="52070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[a := b + (b := a) ].</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	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fib value: 10</a:t>
            </a:r>
            <a:endParaRPr sz="500">
              <a:latin typeface="Space Mono"/>
              <a:ea typeface="Space Mono"/>
              <a:cs typeface="Space Mono"/>
              <a:sym typeface="Space Mono"/>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0"/>
        <p:cNvGrpSpPr/>
        <p:nvPr/>
      </p:nvGrpSpPr>
      <p:grpSpPr>
        <a:xfrm>
          <a:off x="0" y="0"/>
          <a:ext cx="0" cy="0"/>
          <a:chOff x="0" y="0"/>
          <a:chExt cx="0" cy="0"/>
        </a:xfrm>
      </p:grpSpPr>
      <p:pic>
        <p:nvPicPr>
          <p:cNvPr id="831" name="Google Shape;831;p93"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832" name="Google Shape;832;p93"/>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833" name="Google Shape;833;p93"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834" name="Google Shape;834;p93"/>
          <p:cNvSpPr txBox="1"/>
          <p:nvPr/>
        </p:nvSpPr>
        <p:spPr>
          <a:xfrm>
            <a:off x="5286704" y="753175"/>
            <a:ext cx="3171600" cy="931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 RWCubeMatrix new.</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datapoints: data.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axes: (#1 #2 #3).</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run</a:t>
            </a:r>
            <a:endParaRPr sz="500">
              <a:latin typeface="Space Mono"/>
              <a:ea typeface="Space Mono"/>
              <a:cs typeface="Space Mono"/>
              <a:sym typeface="Space Mono"/>
            </a:endParaRPr>
          </a:p>
        </p:txBody>
      </p:sp>
      <p:sp>
        <p:nvSpPr>
          <p:cNvPr id="835" name="Google Shape;835;p93"/>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36" name="Google Shape;836;p93"/>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37" name="Google Shape;837;p93"/>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38" name="Google Shape;838;p93"/>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2"/>
        <p:cNvGrpSpPr/>
        <p:nvPr/>
      </p:nvGrpSpPr>
      <p:grpSpPr>
        <a:xfrm>
          <a:off x="0" y="0"/>
          <a:ext cx="0" cy="0"/>
          <a:chOff x="0" y="0"/>
          <a:chExt cx="0" cy="0"/>
        </a:xfrm>
      </p:grpSpPr>
      <p:pic>
        <p:nvPicPr>
          <p:cNvPr id="843" name="Google Shape;843;p94"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844" name="Google Shape;844;p94"/>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845" name="Google Shape;845;p94"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846" name="Google Shape;846;p94"/>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47" name="Google Shape;847;p94"/>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48" name="Google Shape;848;p94"/>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49" name="Google Shape;849;p94"/>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50" name="Google Shape;850;p94"/>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851" name="Google Shape;851;p94"/>
          <p:cNvSpPr/>
          <p:nvPr/>
        </p:nvSpPr>
        <p:spPr>
          <a:xfrm>
            <a:off x="5247547" y="3423242"/>
            <a:ext cx="3403200" cy="1393800"/>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52" name="Google Shape;852;p94"/>
          <p:cNvSpPr/>
          <p:nvPr/>
        </p:nvSpPr>
        <p:spPr>
          <a:xfrm>
            <a:off x="5267325" y="4051522"/>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853" name="Google Shape;853;p94"/>
          <p:cNvSpPr/>
          <p:nvPr/>
        </p:nvSpPr>
        <p:spPr>
          <a:xfrm>
            <a:off x="5267325" y="4408738"/>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854" name="Google Shape;854;p94"/>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855" name="Google Shape;855;p94"/>
          <p:cNvSpPr/>
          <p:nvPr/>
        </p:nvSpPr>
        <p:spPr>
          <a:xfrm>
            <a:off x="5267325" y="3694306"/>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856" name="Google Shape;856;p94"/>
          <p:cNvSpPr txBox="1"/>
          <p:nvPr/>
        </p:nvSpPr>
        <p:spPr>
          <a:xfrm>
            <a:off x="5286704" y="753175"/>
            <a:ext cx="3171600" cy="931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 RWCubeMatrix new.</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datapoints: data.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axes: (#1 #2 #3).</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run</a:t>
            </a:r>
            <a:endParaRPr sz="500">
              <a:latin typeface="Space Mono"/>
              <a:ea typeface="Space Mono"/>
              <a:cs typeface="Space Mono"/>
              <a:sym typeface="Space Mono"/>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0"/>
        <p:cNvGrpSpPr/>
        <p:nvPr/>
      </p:nvGrpSpPr>
      <p:grpSpPr>
        <a:xfrm>
          <a:off x="0" y="0"/>
          <a:ext cx="0" cy="0"/>
          <a:chOff x="0" y="0"/>
          <a:chExt cx="0" cy="0"/>
        </a:xfrm>
      </p:grpSpPr>
      <p:pic>
        <p:nvPicPr>
          <p:cNvPr id="861" name="Google Shape;861;p95" descr="Image"/>
          <p:cNvPicPr preferRelativeResize="0"/>
          <p:nvPr/>
        </p:nvPicPr>
        <p:blipFill rotWithShape="1">
          <a:blip r:embed="rId3">
            <a:alphaModFix/>
          </a:blip>
          <a:srcRect/>
          <a:stretch/>
        </p:blipFill>
        <p:spPr>
          <a:xfrm flipH="1">
            <a:off x="-30102" y="0"/>
            <a:ext cx="3422105" cy="5143500"/>
          </a:xfrm>
          <a:prstGeom prst="rect">
            <a:avLst/>
          </a:prstGeom>
          <a:noFill/>
          <a:ln>
            <a:noFill/>
          </a:ln>
        </p:spPr>
      </p:pic>
      <p:sp>
        <p:nvSpPr>
          <p:cNvPr id="862" name="Google Shape;862;p95"/>
          <p:cNvSpPr txBox="1"/>
          <p:nvPr/>
        </p:nvSpPr>
        <p:spPr>
          <a:xfrm>
            <a:off x="4518660" y="2470785"/>
            <a:ext cx="101918" cy="206693"/>
          </a:xfrm>
          <a:prstGeom prst="rect">
            <a:avLst/>
          </a:prstGeom>
          <a:noFill/>
          <a:ln>
            <a:noFill/>
          </a:ln>
        </p:spPr>
        <p:txBody>
          <a:bodyPr spcFirstLastPara="1" wrap="square" lIns="34275" tIns="34275" rIns="34275" bIns="34275" anchor="t" anchorCtr="0">
            <a:spAutoFit/>
          </a:bodyPr>
          <a:lstStyle/>
          <a:p>
            <a:pPr marL="0" marR="0" lvl="0" indent="0" algn="l" rtl="0">
              <a:lnSpc>
                <a:spcPct val="233333"/>
              </a:lnSpc>
              <a:spcBef>
                <a:spcPts val="0"/>
              </a:spcBef>
              <a:spcAft>
                <a:spcPts val="0"/>
              </a:spcAft>
              <a:buClr>
                <a:srgbClr val="000000"/>
              </a:buClr>
              <a:buSzPts val="900"/>
              <a:buFont typeface="Times"/>
              <a:buNone/>
            </a:pPr>
            <a:r>
              <a:rPr lang="en-GB" sz="900" b="0" i="0" u="none" strike="noStrike" cap="none">
                <a:solidFill>
                  <a:srgbClr val="000000"/>
                </a:solidFill>
                <a:latin typeface="Times"/>
                <a:ea typeface="Times"/>
                <a:cs typeface="Times"/>
                <a:sym typeface="Times"/>
              </a:rPr>
              <a:t> </a:t>
            </a:r>
            <a:endParaRPr sz="500"/>
          </a:p>
        </p:txBody>
      </p:sp>
      <p:pic>
        <p:nvPicPr>
          <p:cNvPr id="863" name="Google Shape;863;p95" descr="gui.png"/>
          <p:cNvPicPr preferRelativeResize="0"/>
          <p:nvPr/>
        </p:nvPicPr>
        <p:blipFill rotWithShape="1">
          <a:blip r:embed="rId4">
            <a:alphaModFix/>
          </a:blip>
          <a:srcRect/>
          <a:stretch/>
        </p:blipFill>
        <p:spPr>
          <a:xfrm>
            <a:off x="5238022" y="336057"/>
            <a:ext cx="3422105" cy="2429433"/>
          </a:xfrm>
          <a:prstGeom prst="rect">
            <a:avLst/>
          </a:prstGeom>
          <a:noFill/>
          <a:ln>
            <a:noFill/>
          </a:ln>
        </p:spPr>
      </p:pic>
      <p:sp>
        <p:nvSpPr>
          <p:cNvPr id="864" name="Google Shape;864;p95"/>
          <p:cNvSpPr/>
          <p:nvPr/>
        </p:nvSpPr>
        <p:spPr>
          <a:xfrm>
            <a:off x="6364080" y="2806442"/>
            <a:ext cx="280157" cy="570886"/>
          </a:xfrm>
          <a:custGeom>
            <a:avLst/>
            <a:gdLst/>
            <a:ahLst/>
            <a:cxnLst/>
            <a:rect l="l" t="t" r="r" b="b"/>
            <a:pathLst>
              <a:path w="16204" h="21600" extrusionOk="0">
                <a:moveTo>
                  <a:pt x="15213" y="21600"/>
                </a:moveTo>
                <a:cubicBezTo>
                  <a:pt x="-5396" y="13845"/>
                  <a:pt x="-5066" y="6645"/>
                  <a:pt x="16204" y="0"/>
                </a:cubicBezTo>
              </a:path>
            </a:pathLst>
          </a:custGeom>
          <a:noFill/>
          <a:ln w="50800" cap="flat" cmpd="sng">
            <a:solidFill>
              <a:srgbClr val="4F81BD"/>
            </a:solidFill>
            <a:prstDash val="solid"/>
            <a:miter lim="400000"/>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65" name="Google Shape;865;p95"/>
          <p:cNvSpPr/>
          <p:nvPr/>
        </p:nvSpPr>
        <p:spPr>
          <a:xfrm>
            <a:off x="5286375" y="523875"/>
            <a:ext cx="1291010" cy="258031"/>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66" name="Google Shape;866;p95"/>
          <p:cNvSpPr/>
          <p:nvPr/>
        </p:nvSpPr>
        <p:spPr>
          <a:xfrm>
            <a:off x="5286375" y="2538989"/>
            <a:ext cx="1643100" cy="142727"/>
          </a:xfrm>
          <a:prstGeom prst="rect">
            <a:avLst/>
          </a:prstGeom>
          <a:solidFill>
            <a:srgbClr val="FFFFFF"/>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pic>
        <p:nvPicPr>
          <p:cNvPr id="867" name="Google Shape;867;p95" descr="Image"/>
          <p:cNvPicPr preferRelativeResize="0"/>
          <p:nvPr/>
        </p:nvPicPr>
        <p:blipFill rotWithShape="1">
          <a:blip r:embed="rId5">
            <a:alphaModFix/>
          </a:blip>
          <a:srcRect/>
          <a:stretch/>
        </p:blipFill>
        <p:spPr>
          <a:xfrm>
            <a:off x="1557375" y="1487119"/>
            <a:ext cx="4476724" cy="2518157"/>
          </a:xfrm>
          <a:prstGeom prst="rect">
            <a:avLst/>
          </a:prstGeom>
          <a:noFill/>
          <a:ln>
            <a:noFill/>
          </a:ln>
        </p:spPr>
      </p:pic>
      <p:sp>
        <p:nvSpPr>
          <p:cNvPr id="868" name="Google Shape;868;p95"/>
          <p:cNvSpPr txBox="1"/>
          <p:nvPr/>
        </p:nvSpPr>
        <p:spPr>
          <a:xfrm>
            <a:off x="1938175" y="1067500"/>
            <a:ext cx="12093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Microsoft </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HoloLens</a:t>
            </a:r>
            <a:endParaRPr sz="1600">
              <a:latin typeface="Space Mono"/>
              <a:ea typeface="Space Mono"/>
              <a:cs typeface="Space Mono"/>
              <a:sym typeface="Space Mono"/>
            </a:endParaRPr>
          </a:p>
        </p:txBody>
      </p:sp>
      <p:sp>
        <p:nvSpPr>
          <p:cNvPr id="869" name="Google Shape;869;p95"/>
          <p:cNvSpPr txBox="1"/>
          <p:nvPr/>
        </p:nvSpPr>
        <p:spPr>
          <a:xfrm>
            <a:off x="3270828" y="3714150"/>
            <a:ext cx="1405800" cy="561900"/>
          </a:xfrm>
          <a:prstGeom prst="rect">
            <a:avLst/>
          </a:prstGeom>
          <a:solidFill>
            <a:srgbClr val="FFFFFF"/>
          </a:solid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Teclado</a:t>
            </a:r>
            <a:endParaRPr sz="16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600" i="0" u="none" strike="noStrike" cap="none">
                <a:solidFill>
                  <a:srgbClr val="000000"/>
                </a:solidFill>
                <a:latin typeface="Space Mono"/>
                <a:ea typeface="Space Mono"/>
                <a:cs typeface="Space Mono"/>
                <a:sym typeface="Space Mono"/>
              </a:rPr>
              <a:t>Bluetooth</a:t>
            </a:r>
            <a:endParaRPr sz="1600">
              <a:latin typeface="Space Mono"/>
              <a:ea typeface="Space Mono"/>
              <a:cs typeface="Space Mono"/>
              <a:sym typeface="Space Mono"/>
            </a:endParaRPr>
          </a:p>
        </p:txBody>
      </p:sp>
      <p:sp>
        <p:nvSpPr>
          <p:cNvPr id="870" name="Google Shape;870;p95"/>
          <p:cNvSpPr/>
          <p:nvPr/>
        </p:nvSpPr>
        <p:spPr>
          <a:xfrm>
            <a:off x="4498839" y="4142544"/>
            <a:ext cx="716161" cy="369513"/>
          </a:xfrm>
          <a:custGeom>
            <a:avLst/>
            <a:gdLst/>
            <a:ahLst/>
            <a:cxnLst/>
            <a:rect l="l" t="t" r="r" b="b"/>
            <a:pathLst>
              <a:path w="21600" h="16206" extrusionOk="0">
                <a:moveTo>
                  <a:pt x="21600" y="1188"/>
                </a:moveTo>
                <a:cubicBezTo>
                  <a:pt x="12618" y="21600"/>
                  <a:pt x="5418" y="21204"/>
                  <a:pt x="0" y="0"/>
                </a:cubicBezTo>
              </a:path>
            </a:pathLst>
          </a:custGeom>
          <a:noFill/>
          <a:ln w="50800" cap="flat" cmpd="sng">
            <a:solidFill>
              <a:srgbClr val="4F81BD"/>
            </a:solidFill>
            <a:prstDash val="solid"/>
            <a:round/>
            <a:headEnd type="none" w="sm" len="sm"/>
            <a:tailEnd type="none" w="sm" len="sm"/>
          </a:ln>
          <a:effectLst>
            <a:outerShdw blurRad="76200" dist="38100" dir="5400000" rotWithShape="0">
              <a:srgbClr val="000000">
                <a:alpha val="37647"/>
              </a:srgbClr>
            </a:outerShdw>
          </a:effectLst>
        </p:spPr>
        <p:txBody>
          <a:bodyPr spcFirstLastPara="1" wrap="square" lIns="34275" tIns="17150" rIns="34275" bIns="17150" anchor="t" anchorCtr="0">
            <a:noAutofit/>
          </a:bodyPr>
          <a:lstStyle/>
          <a:p>
            <a:pPr marL="0" marR="0" lvl="0" indent="0" algn="l" rtl="0">
              <a:lnSpc>
                <a:spcPct val="100000"/>
              </a:lnSpc>
              <a:spcBef>
                <a:spcPts val="0"/>
              </a:spcBef>
              <a:spcAft>
                <a:spcPts val="0"/>
              </a:spcAft>
              <a:buClr>
                <a:srgbClr val="000000"/>
              </a:buClr>
              <a:buSzPts val="1800"/>
              <a:buFont typeface="Helvetica Neue"/>
              <a:buNone/>
            </a:pPr>
            <a:endParaRPr sz="1800" b="0" i="0" u="none" strike="noStrike" cap="none">
              <a:solidFill>
                <a:srgbClr val="000000"/>
              </a:solidFill>
              <a:latin typeface="Helvetica Neue"/>
              <a:ea typeface="Helvetica Neue"/>
              <a:cs typeface="Helvetica Neue"/>
              <a:sym typeface="Helvetica Neue"/>
            </a:endParaRPr>
          </a:p>
        </p:txBody>
      </p:sp>
      <p:sp>
        <p:nvSpPr>
          <p:cNvPr id="871" name="Google Shape;871;p95"/>
          <p:cNvSpPr/>
          <p:nvPr/>
        </p:nvSpPr>
        <p:spPr>
          <a:xfrm>
            <a:off x="5247547" y="3423242"/>
            <a:ext cx="3403200" cy="1393800"/>
          </a:xfrm>
          <a:prstGeom prst="rect">
            <a:avLst/>
          </a:prstGeom>
          <a:solidFill>
            <a:srgbClr val="3F6797"/>
          </a:solidFill>
          <a:ln>
            <a:noFill/>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72" name="Google Shape;872;p95"/>
          <p:cNvSpPr/>
          <p:nvPr/>
        </p:nvSpPr>
        <p:spPr>
          <a:xfrm>
            <a:off x="5267325" y="4051522"/>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Roassal 2D Engine</a:t>
            </a:r>
            <a:endParaRPr sz="500">
              <a:latin typeface="Space Mono"/>
              <a:ea typeface="Space Mono"/>
              <a:cs typeface="Space Mono"/>
              <a:sym typeface="Space Mono"/>
            </a:endParaRPr>
          </a:p>
        </p:txBody>
      </p:sp>
      <p:sp>
        <p:nvSpPr>
          <p:cNvPr id="873" name="Google Shape;873;p95"/>
          <p:cNvSpPr/>
          <p:nvPr/>
        </p:nvSpPr>
        <p:spPr>
          <a:xfrm>
            <a:off x="5267325" y="4408738"/>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Woden 3D Engine</a:t>
            </a:r>
            <a:endParaRPr sz="500">
              <a:latin typeface="Space Mono"/>
              <a:ea typeface="Space Mono"/>
              <a:cs typeface="Space Mono"/>
              <a:sym typeface="Space Mono"/>
            </a:endParaRPr>
          </a:p>
        </p:txBody>
      </p:sp>
      <p:sp>
        <p:nvSpPr>
          <p:cNvPr id="874" name="Google Shape;874;p95"/>
          <p:cNvSpPr txBox="1"/>
          <p:nvPr/>
        </p:nvSpPr>
        <p:spPr>
          <a:xfrm>
            <a:off x="6662952" y="3424600"/>
            <a:ext cx="728400" cy="3000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FFFFFF"/>
              </a:buClr>
              <a:buSzPts val="1500"/>
              <a:buFont typeface="Helvetica Neue Light"/>
              <a:buNone/>
            </a:pPr>
            <a:r>
              <a:rPr lang="en-GB" sz="1500" i="0" u="none" strike="noStrike" cap="none">
                <a:solidFill>
                  <a:srgbClr val="FFFFFF"/>
                </a:solidFill>
                <a:latin typeface="Space Mono"/>
                <a:ea typeface="Space Mono"/>
                <a:cs typeface="Space Mono"/>
                <a:sym typeface="Space Mono"/>
              </a:rPr>
              <a:t>Pharo</a:t>
            </a:r>
            <a:endParaRPr sz="500">
              <a:latin typeface="Space Mono"/>
              <a:ea typeface="Space Mono"/>
              <a:cs typeface="Space Mono"/>
              <a:sym typeface="Space Mono"/>
            </a:endParaRPr>
          </a:p>
        </p:txBody>
      </p:sp>
      <p:sp>
        <p:nvSpPr>
          <p:cNvPr id="875" name="Google Shape;875;p95"/>
          <p:cNvSpPr/>
          <p:nvPr/>
        </p:nvSpPr>
        <p:spPr>
          <a:xfrm>
            <a:off x="5267325" y="3694306"/>
            <a:ext cx="3363600" cy="321300"/>
          </a:xfrm>
          <a:prstGeom prst="roundRect">
            <a:avLst>
              <a:gd name="adj" fmla="val 44474"/>
            </a:avLst>
          </a:prstGeom>
          <a:solidFill>
            <a:srgbClr val="FFFFFF"/>
          </a:solidFill>
          <a:ln w="50800" cap="flat" cmpd="sng">
            <a:solidFill>
              <a:srgbClr val="4F81BD"/>
            </a:solidFill>
            <a:prstDash val="solid"/>
            <a:round/>
            <a:headEnd type="none" w="sm" len="sm"/>
            <a:tailEnd type="none" w="sm" len="sm"/>
          </a:ln>
          <a:effectLst>
            <a:outerShdw blurRad="76200" dist="38100" dir="5400000" rotWithShape="0">
              <a:srgbClr val="000000">
                <a:alpha val="34900"/>
              </a:srgbClr>
            </a:outerShdw>
          </a:effectLst>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300"/>
              <a:buFont typeface="Helvetica Neue Light"/>
              <a:buNone/>
            </a:pPr>
            <a:r>
              <a:rPr lang="en-GB" sz="1300" i="0" u="none" strike="noStrike" cap="none">
                <a:solidFill>
                  <a:srgbClr val="000000"/>
                </a:solidFill>
                <a:latin typeface="Space Mono"/>
                <a:ea typeface="Space Mono"/>
                <a:cs typeface="Space Mono"/>
                <a:sym typeface="Space Mono"/>
              </a:rPr>
              <a:t>Smalltalk Compiler</a:t>
            </a:r>
            <a:endParaRPr sz="500">
              <a:latin typeface="Space Mono"/>
              <a:ea typeface="Space Mono"/>
              <a:cs typeface="Space Mono"/>
              <a:sym typeface="Space Mono"/>
            </a:endParaRPr>
          </a:p>
        </p:txBody>
      </p:sp>
      <p:sp>
        <p:nvSpPr>
          <p:cNvPr id="876" name="Google Shape;876;p95"/>
          <p:cNvSpPr txBox="1"/>
          <p:nvPr/>
        </p:nvSpPr>
        <p:spPr>
          <a:xfrm>
            <a:off x="5286704" y="753175"/>
            <a:ext cx="3171600" cy="9312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 RWCubeMatrix new.</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datapoints: data.</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axes: (#1 #2 #3).</a:t>
            </a:r>
            <a:endParaRPr sz="500">
              <a:latin typeface="Space Mono"/>
              <a:ea typeface="Space Mono"/>
              <a:cs typeface="Space Mono"/>
              <a:sym typeface="Space Mono"/>
            </a:endParaRPr>
          </a:p>
          <a:p>
            <a:pPr marL="0" marR="0" lvl="0" indent="0" algn="l" rtl="0">
              <a:lnSpc>
                <a:spcPct val="100000"/>
              </a:lnSpc>
              <a:spcBef>
                <a:spcPts val="0"/>
              </a:spcBef>
              <a:spcAft>
                <a:spcPts val="0"/>
              </a:spcAft>
              <a:buClr>
                <a:srgbClr val="000000"/>
              </a:buClr>
              <a:buSzPts val="1400"/>
              <a:buFont typeface="Helvetica Neue Light"/>
              <a:buNone/>
            </a:pPr>
            <a:r>
              <a:rPr lang="en-GB" sz="1400" i="0" u="none" strike="noStrike" cap="none">
                <a:solidFill>
                  <a:srgbClr val="000000"/>
                </a:solidFill>
                <a:latin typeface="Space Mono"/>
                <a:ea typeface="Space Mono"/>
                <a:cs typeface="Space Mono"/>
                <a:sym typeface="Space Mono"/>
              </a:rPr>
              <a:t>m run</a:t>
            </a:r>
            <a:endParaRPr sz="500">
              <a:latin typeface="Space Mono"/>
              <a:ea typeface="Space Mono"/>
              <a:cs typeface="Space Mono"/>
              <a:sym typeface="Space Mono"/>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9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Modelo de Referencia de Visualización</a:t>
            </a:r>
            <a:endParaRPr sz="2400" b="1"/>
          </a:p>
        </p:txBody>
      </p:sp>
      <p:sp>
        <p:nvSpPr>
          <p:cNvPr id="883" name="Google Shape;883;p96"/>
          <p:cNvSpPr/>
          <p:nvPr/>
        </p:nvSpPr>
        <p:spPr>
          <a:xfrm>
            <a:off x="805836" y="1866768"/>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Raw Data</a:t>
            </a:r>
            <a:endParaRPr sz="500">
              <a:solidFill>
                <a:schemeClr val="dk1"/>
              </a:solidFill>
              <a:latin typeface="Space Mono"/>
              <a:ea typeface="Space Mono"/>
              <a:cs typeface="Space Mono"/>
              <a:sym typeface="Space Mono"/>
            </a:endParaRPr>
          </a:p>
        </p:txBody>
      </p:sp>
      <p:sp>
        <p:nvSpPr>
          <p:cNvPr id="884" name="Google Shape;884;p96"/>
          <p:cNvSpPr/>
          <p:nvPr/>
        </p:nvSpPr>
        <p:spPr>
          <a:xfrm>
            <a:off x="2726711" y="18762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Data Tables</a:t>
            </a:r>
            <a:endParaRPr sz="500">
              <a:solidFill>
                <a:schemeClr val="dk1"/>
              </a:solidFill>
              <a:latin typeface="Space Mono"/>
              <a:ea typeface="Space Mono"/>
              <a:cs typeface="Space Mono"/>
              <a:sym typeface="Space Mono"/>
            </a:endParaRPr>
          </a:p>
        </p:txBody>
      </p:sp>
      <p:sp>
        <p:nvSpPr>
          <p:cNvPr id="885" name="Google Shape;885;p96"/>
          <p:cNvSpPr/>
          <p:nvPr/>
        </p:nvSpPr>
        <p:spPr>
          <a:xfrm>
            <a:off x="4647587" y="18762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Visual Structures</a:t>
            </a:r>
            <a:endParaRPr sz="500">
              <a:solidFill>
                <a:schemeClr val="dk1"/>
              </a:solidFill>
              <a:latin typeface="Space Mono"/>
              <a:ea typeface="Space Mono"/>
              <a:cs typeface="Space Mono"/>
              <a:sym typeface="Space Mono"/>
            </a:endParaRPr>
          </a:p>
        </p:txBody>
      </p:sp>
      <p:sp>
        <p:nvSpPr>
          <p:cNvPr id="886" name="Google Shape;886;p96"/>
          <p:cNvSpPr/>
          <p:nvPr/>
        </p:nvSpPr>
        <p:spPr>
          <a:xfrm>
            <a:off x="6568461" y="18762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Views</a:t>
            </a:r>
            <a:endParaRPr sz="500">
              <a:solidFill>
                <a:schemeClr val="dk1"/>
              </a:solidFill>
              <a:latin typeface="Space Mono"/>
              <a:ea typeface="Space Mono"/>
              <a:cs typeface="Space Mono"/>
              <a:sym typeface="Space Mono"/>
            </a:endParaRPr>
          </a:p>
        </p:txBody>
      </p:sp>
      <p:cxnSp>
        <p:nvCxnSpPr>
          <p:cNvPr id="887" name="Google Shape;887;p96"/>
          <p:cNvCxnSpPr/>
          <p:nvPr/>
        </p:nvCxnSpPr>
        <p:spPr>
          <a:xfrm>
            <a:off x="1939350" y="2199105"/>
            <a:ext cx="775178" cy="0"/>
          </a:xfrm>
          <a:prstGeom prst="straightConnector1">
            <a:avLst/>
          </a:prstGeom>
          <a:noFill/>
          <a:ln w="25400" cap="flat" cmpd="sng">
            <a:solidFill>
              <a:srgbClr val="000000"/>
            </a:solidFill>
            <a:prstDash val="solid"/>
            <a:round/>
            <a:headEnd type="none" w="sm" len="sm"/>
            <a:tailEnd type="triangle" w="med" len="med"/>
          </a:ln>
        </p:spPr>
      </p:cxnSp>
      <p:sp>
        <p:nvSpPr>
          <p:cNvPr id="888" name="Google Shape;888;p96"/>
          <p:cNvSpPr txBox="1"/>
          <p:nvPr/>
        </p:nvSpPr>
        <p:spPr>
          <a:xfrm>
            <a:off x="1768997" y="2607822"/>
            <a:ext cx="12477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Data Transformations</a:t>
            </a:r>
            <a:endParaRPr sz="500">
              <a:solidFill>
                <a:schemeClr val="dk1"/>
              </a:solidFill>
              <a:latin typeface="Space Mono"/>
              <a:ea typeface="Space Mono"/>
              <a:cs typeface="Space Mono"/>
              <a:sym typeface="Space Mono"/>
            </a:endParaRPr>
          </a:p>
        </p:txBody>
      </p:sp>
      <p:cxnSp>
        <p:nvCxnSpPr>
          <p:cNvPr id="889" name="Google Shape;889;p96"/>
          <p:cNvCxnSpPr/>
          <p:nvPr/>
        </p:nvCxnSpPr>
        <p:spPr>
          <a:xfrm>
            <a:off x="3870913" y="2199105"/>
            <a:ext cx="775178" cy="0"/>
          </a:xfrm>
          <a:prstGeom prst="straightConnector1">
            <a:avLst/>
          </a:prstGeom>
          <a:noFill/>
          <a:ln w="25400" cap="flat" cmpd="sng">
            <a:solidFill>
              <a:srgbClr val="000000"/>
            </a:solidFill>
            <a:prstDash val="solid"/>
            <a:round/>
            <a:headEnd type="none" w="sm" len="sm"/>
            <a:tailEnd type="triangle" w="med" len="med"/>
          </a:ln>
        </p:spPr>
      </p:cxnSp>
      <p:cxnSp>
        <p:nvCxnSpPr>
          <p:cNvPr id="890" name="Google Shape;890;p96"/>
          <p:cNvCxnSpPr/>
          <p:nvPr/>
        </p:nvCxnSpPr>
        <p:spPr>
          <a:xfrm>
            <a:off x="5802476" y="2199105"/>
            <a:ext cx="775178" cy="0"/>
          </a:xfrm>
          <a:prstGeom prst="straightConnector1">
            <a:avLst/>
          </a:prstGeom>
          <a:noFill/>
          <a:ln w="25400" cap="flat" cmpd="sng">
            <a:solidFill>
              <a:srgbClr val="000000"/>
            </a:solidFill>
            <a:prstDash val="solid"/>
            <a:round/>
            <a:headEnd type="none" w="sm" len="sm"/>
            <a:tailEnd type="triangle" w="med" len="med"/>
          </a:ln>
        </p:spPr>
      </p:cxnSp>
      <p:cxnSp>
        <p:nvCxnSpPr>
          <p:cNvPr id="891" name="Google Shape;891;p96"/>
          <p:cNvCxnSpPr/>
          <p:nvPr/>
        </p:nvCxnSpPr>
        <p:spPr>
          <a:xfrm>
            <a:off x="2349857" y="3218468"/>
            <a:ext cx="6264300" cy="0"/>
          </a:xfrm>
          <a:prstGeom prst="straightConnector1">
            <a:avLst/>
          </a:prstGeom>
          <a:noFill/>
          <a:ln w="25400" cap="flat" cmpd="sng">
            <a:solidFill>
              <a:srgbClr val="000000"/>
            </a:solidFill>
            <a:prstDash val="solid"/>
            <a:round/>
            <a:headEnd type="none" w="sm" len="sm"/>
            <a:tailEnd type="none" w="sm" len="sm"/>
          </a:ln>
        </p:spPr>
      </p:cxnSp>
      <p:sp>
        <p:nvSpPr>
          <p:cNvPr id="892" name="Google Shape;892;p96"/>
          <p:cNvSpPr/>
          <p:nvPr/>
        </p:nvSpPr>
        <p:spPr>
          <a:xfrm>
            <a:off x="8401958" y="1684581"/>
            <a:ext cx="422163" cy="933758"/>
          </a:xfrm>
          <a:custGeom>
            <a:avLst/>
            <a:gdLst/>
            <a:ahLst/>
            <a:cxnLst/>
            <a:rect l="l" t="t" r="r" b="b"/>
            <a:pathLst>
              <a:path w="21297" h="21600"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000000"/>
          </a:solidFill>
          <a:ln w="25400" cap="flat" cmpd="sng">
            <a:solidFill>
              <a:srgbClr val="000000"/>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893" name="Google Shape;893;p96"/>
          <p:cNvSpPr txBox="1"/>
          <p:nvPr/>
        </p:nvSpPr>
        <p:spPr>
          <a:xfrm>
            <a:off x="3759625" y="2607822"/>
            <a:ext cx="9930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Visual Mappings</a:t>
            </a:r>
            <a:endParaRPr sz="500">
              <a:solidFill>
                <a:schemeClr val="dk1"/>
              </a:solidFill>
              <a:latin typeface="Space Mono"/>
              <a:ea typeface="Space Mono"/>
              <a:cs typeface="Space Mono"/>
              <a:sym typeface="Space Mono"/>
            </a:endParaRPr>
          </a:p>
        </p:txBody>
      </p:sp>
      <p:sp>
        <p:nvSpPr>
          <p:cNvPr id="894" name="Google Shape;894;p96"/>
          <p:cNvSpPr txBox="1"/>
          <p:nvPr/>
        </p:nvSpPr>
        <p:spPr>
          <a:xfrm>
            <a:off x="5564948" y="2607822"/>
            <a:ext cx="12456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View Transformations</a:t>
            </a:r>
            <a:endParaRPr sz="500">
              <a:solidFill>
                <a:schemeClr val="dk1"/>
              </a:solidFill>
              <a:latin typeface="Space Mono"/>
              <a:ea typeface="Space Mono"/>
              <a:cs typeface="Space Mono"/>
              <a:sym typeface="Space Mono"/>
            </a:endParaRPr>
          </a:p>
        </p:txBody>
      </p:sp>
      <p:cxnSp>
        <p:nvCxnSpPr>
          <p:cNvPr id="895" name="Google Shape;895;p96"/>
          <p:cNvCxnSpPr/>
          <p:nvPr/>
        </p:nvCxnSpPr>
        <p:spPr>
          <a:xfrm>
            <a:off x="8613039" y="2820494"/>
            <a:ext cx="0" cy="395700"/>
          </a:xfrm>
          <a:prstGeom prst="straightConnector1">
            <a:avLst/>
          </a:prstGeom>
          <a:noFill/>
          <a:ln w="25400" cap="flat" cmpd="sng">
            <a:solidFill>
              <a:srgbClr val="000000"/>
            </a:solidFill>
            <a:prstDash val="solid"/>
            <a:round/>
            <a:headEnd type="none" w="sm" len="sm"/>
            <a:tailEnd type="none" w="sm" len="sm"/>
          </a:ln>
        </p:spPr>
      </p:cxnSp>
      <p:cxnSp>
        <p:nvCxnSpPr>
          <p:cNvPr id="896" name="Google Shape;896;p96"/>
          <p:cNvCxnSpPr/>
          <p:nvPr/>
        </p:nvCxnSpPr>
        <p:spPr>
          <a:xfrm rot="10800000">
            <a:off x="2348925" y="2967071"/>
            <a:ext cx="0" cy="255000"/>
          </a:xfrm>
          <a:prstGeom prst="straightConnector1">
            <a:avLst/>
          </a:prstGeom>
          <a:noFill/>
          <a:ln w="25400" cap="flat" cmpd="sng">
            <a:solidFill>
              <a:srgbClr val="000000"/>
            </a:solidFill>
            <a:prstDash val="solid"/>
            <a:round/>
            <a:headEnd type="none" w="sm" len="sm"/>
            <a:tailEnd type="triangle" w="med" len="med"/>
          </a:ln>
        </p:spPr>
      </p:cxnSp>
      <p:cxnSp>
        <p:nvCxnSpPr>
          <p:cNvPr id="897" name="Google Shape;897;p96"/>
          <p:cNvCxnSpPr/>
          <p:nvPr/>
        </p:nvCxnSpPr>
        <p:spPr>
          <a:xfrm rot="10800000">
            <a:off x="4293266" y="2967078"/>
            <a:ext cx="0" cy="257400"/>
          </a:xfrm>
          <a:prstGeom prst="straightConnector1">
            <a:avLst/>
          </a:prstGeom>
          <a:noFill/>
          <a:ln w="25400" cap="flat" cmpd="sng">
            <a:solidFill>
              <a:srgbClr val="000000"/>
            </a:solidFill>
            <a:prstDash val="solid"/>
            <a:round/>
            <a:headEnd type="none" w="sm" len="sm"/>
            <a:tailEnd type="triangle" w="med" len="med"/>
          </a:ln>
        </p:spPr>
      </p:cxnSp>
      <p:cxnSp>
        <p:nvCxnSpPr>
          <p:cNvPr id="898" name="Google Shape;898;p96"/>
          <p:cNvCxnSpPr/>
          <p:nvPr/>
        </p:nvCxnSpPr>
        <p:spPr>
          <a:xfrm rot="10800000">
            <a:off x="6164262" y="2967078"/>
            <a:ext cx="0" cy="257400"/>
          </a:xfrm>
          <a:prstGeom prst="straightConnector1">
            <a:avLst/>
          </a:prstGeom>
          <a:noFill/>
          <a:ln w="25400" cap="flat" cmpd="sng">
            <a:solidFill>
              <a:srgbClr val="000000"/>
            </a:solidFill>
            <a:prstDash val="solid"/>
            <a:round/>
            <a:headEnd type="none" w="sm" len="sm"/>
            <a:tailEnd type="triangle" w="med" len="med"/>
          </a:ln>
        </p:spPr>
      </p:cxnSp>
      <p:sp>
        <p:nvSpPr>
          <p:cNvPr id="899" name="Google Shape;899;p96"/>
          <p:cNvSpPr/>
          <p:nvPr/>
        </p:nvSpPr>
        <p:spPr>
          <a:xfrm rot="-2700000">
            <a:off x="461229" y="1426992"/>
            <a:ext cx="865015" cy="758100"/>
          </a:xfrm>
          <a:custGeom>
            <a:avLst/>
            <a:gdLst/>
            <a:ahLst/>
            <a:cxnLst/>
            <a:rect l="l" t="t" r="r" b="b"/>
            <a:pathLst>
              <a:path w="16416" h="19373" extrusionOk="0">
                <a:moveTo>
                  <a:pt x="1231" y="15702"/>
                </a:moveTo>
                <a:cubicBezTo>
                  <a:pt x="-1630" y="9813"/>
                  <a:pt x="740" y="1889"/>
                  <a:pt x="5832" y="314"/>
                </a:cubicBezTo>
                <a:cubicBezTo>
                  <a:pt x="14045" y="-2227"/>
                  <a:pt x="19970" y="11252"/>
                  <a:pt x="13967" y="19373"/>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00" name="Google Shape;900;p96"/>
          <p:cNvSpPr/>
          <p:nvPr/>
        </p:nvSpPr>
        <p:spPr>
          <a:xfrm rot="-2700000">
            <a:off x="2390987" y="1381628"/>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01" name="Google Shape;901;p96"/>
          <p:cNvSpPr/>
          <p:nvPr/>
        </p:nvSpPr>
        <p:spPr>
          <a:xfrm rot="-2700000">
            <a:off x="4308163" y="1391153"/>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02" name="Google Shape;902;p96"/>
          <p:cNvSpPr/>
          <p:nvPr/>
        </p:nvSpPr>
        <p:spPr>
          <a:xfrm rot="-2700000">
            <a:off x="6234863" y="1394505"/>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pic>
        <p:nvPicPr>
          <p:cNvPr id="907" name="Google Shape;907;p97" descr="Image"/>
          <p:cNvPicPr preferRelativeResize="0"/>
          <p:nvPr/>
        </p:nvPicPr>
        <p:blipFill rotWithShape="1">
          <a:blip r:embed="rId3">
            <a:alphaModFix/>
          </a:blip>
          <a:srcRect l="30456" t="33051" r="35087" b="17791"/>
          <a:stretch/>
        </p:blipFill>
        <p:spPr>
          <a:xfrm>
            <a:off x="3027313" y="2144493"/>
            <a:ext cx="3089360" cy="2479192"/>
          </a:xfrm>
          <a:prstGeom prst="rect">
            <a:avLst/>
          </a:prstGeom>
          <a:noFill/>
          <a:ln>
            <a:noFill/>
          </a:ln>
        </p:spPr>
      </p:pic>
      <p:sp>
        <p:nvSpPr>
          <p:cNvPr id="908" name="Google Shape;908;p97"/>
          <p:cNvSpPr/>
          <p:nvPr/>
        </p:nvSpPr>
        <p:spPr>
          <a:xfrm>
            <a:off x="723162" y="685668"/>
            <a:ext cx="1142706" cy="645624"/>
          </a:xfrm>
          <a:prstGeom prst="rect">
            <a:avLst/>
          </a:prstGeom>
          <a:solidFill>
            <a:srgbClr val="FD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Raw Data</a:t>
            </a:r>
            <a:endParaRPr sz="500">
              <a:solidFill>
                <a:schemeClr val="dk1"/>
              </a:solidFill>
              <a:latin typeface="Space Mono"/>
              <a:ea typeface="Space Mono"/>
              <a:cs typeface="Space Mono"/>
              <a:sym typeface="Space Mono"/>
            </a:endParaRPr>
          </a:p>
        </p:txBody>
      </p:sp>
      <p:sp>
        <p:nvSpPr>
          <p:cNvPr id="909" name="Google Shape;909;p97"/>
          <p:cNvSpPr/>
          <p:nvPr/>
        </p:nvSpPr>
        <p:spPr>
          <a:xfrm>
            <a:off x="2644037" y="695193"/>
            <a:ext cx="1142706" cy="645624"/>
          </a:xfrm>
          <a:prstGeom prst="rect">
            <a:avLst/>
          </a:prstGeom>
          <a:solidFill>
            <a:srgbClr val="FF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Data Tables</a:t>
            </a:r>
            <a:endParaRPr sz="500">
              <a:solidFill>
                <a:schemeClr val="dk1"/>
              </a:solidFill>
              <a:latin typeface="Space Mono"/>
              <a:ea typeface="Space Mono"/>
              <a:cs typeface="Space Mono"/>
              <a:sym typeface="Space Mono"/>
            </a:endParaRPr>
          </a:p>
        </p:txBody>
      </p:sp>
      <p:sp>
        <p:nvSpPr>
          <p:cNvPr id="910" name="Google Shape;910;p97"/>
          <p:cNvSpPr/>
          <p:nvPr/>
        </p:nvSpPr>
        <p:spPr>
          <a:xfrm>
            <a:off x="4564913" y="6951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Visual Structures</a:t>
            </a:r>
            <a:endParaRPr sz="500">
              <a:solidFill>
                <a:schemeClr val="dk1"/>
              </a:solidFill>
              <a:latin typeface="Space Mono"/>
              <a:ea typeface="Space Mono"/>
              <a:cs typeface="Space Mono"/>
              <a:sym typeface="Space Mono"/>
            </a:endParaRPr>
          </a:p>
        </p:txBody>
      </p:sp>
      <p:sp>
        <p:nvSpPr>
          <p:cNvPr id="911" name="Google Shape;911;p97"/>
          <p:cNvSpPr/>
          <p:nvPr/>
        </p:nvSpPr>
        <p:spPr>
          <a:xfrm>
            <a:off x="6485787" y="695193"/>
            <a:ext cx="1142706" cy="645624"/>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Views</a:t>
            </a:r>
            <a:endParaRPr sz="500">
              <a:solidFill>
                <a:schemeClr val="dk1"/>
              </a:solidFill>
              <a:latin typeface="Space Mono"/>
              <a:ea typeface="Space Mono"/>
              <a:cs typeface="Space Mono"/>
              <a:sym typeface="Space Mono"/>
            </a:endParaRPr>
          </a:p>
        </p:txBody>
      </p:sp>
      <p:cxnSp>
        <p:nvCxnSpPr>
          <p:cNvPr id="912" name="Google Shape;912;p97"/>
          <p:cNvCxnSpPr/>
          <p:nvPr/>
        </p:nvCxnSpPr>
        <p:spPr>
          <a:xfrm>
            <a:off x="1856676" y="1018005"/>
            <a:ext cx="775177" cy="0"/>
          </a:xfrm>
          <a:prstGeom prst="straightConnector1">
            <a:avLst/>
          </a:prstGeom>
          <a:noFill/>
          <a:ln w="28575" cap="flat" cmpd="sng">
            <a:solidFill>
              <a:schemeClr val="dk1"/>
            </a:solidFill>
            <a:prstDash val="solid"/>
            <a:round/>
            <a:headEnd type="none" w="sm" len="sm"/>
            <a:tailEnd type="triangle" w="med" len="med"/>
          </a:ln>
        </p:spPr>
      </p:cxnSp>
      <p:sp>
        <p:nvSpPr>
          <p:cNvPr id="913" name="Google Shape;913;p97"/>
          <p:cNvSpPr txBox="1"/>
          <p:nvPr/>
        </p:nvSpPr>
        <p:spPr>
          <a:xfrm>
            <a:off x="1686323" y="1426722"/>
            <a:ext cx="13464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3F6797"/>
              </a:buClr>
              <a:buSzPts val="1000"/>
              <a:buFont typeface="Helvetica Neue"/>
              <a:buNone/>
            </a:pPr>
            <a:r>
              <a:rPr lang="en-GB" sz="1000" i="0" u="none" strike="noStrike" cap="none">
                <a:solidFill>
                  <a:schemeClr val="dk1"/>
                </a:solidFill>
                <a:latin typeface="Space Mono"/>
                <a:ea typeface="Space Mono"/>
                <a:cs typeface="Space Mono"/>
                <a:sym typeface="Space Mono"/>
              </a:rPr>
              <a:t>Data Transformations</a:t>
            </a:r>
            <a:endParaRPr sz="500">
              <a:solidFill>
                <a:schemeClr val="dk1"/>
              </a:solidFill>
              <a:latin typeface="Space Mono"/>
              <a:ea typeface="Space Mono"/>
              <a:cs typeface="Space Mono"/>
              <a:sym typeface="Space Mono"/>
            </a:endParaRPr>
          </a:p>
        </p:txBody>
      </p:sp>
      <p:cxnSp>
        <p:nvCxnSpPr>
          <p:cNvPr id="914" name="Google Shape;914;p97"/>
          <p:cNvCxnSpPr/>
          <p:nvPr/>
        </p:nvCxnSpPr>
        <p:spPr>
          <a:xfrm>
            <a:off x="3788239" y="1018005"/>
            <a:ext cx="775178" cy="0"/>
          </a:xfrm>
          <a:prstGeom prst="straightConnector1">
            <a:avLst/>
          </a:prstGeom>
          <a:noFill/>
          <a:ln w="25400" cap="flat" cmpd="sng">
            <a:solidFill>
              <a:srgbClr val="000000"/>
            </a:solidFill>
            <a:prstDash val="solid"/>
            <a:round/>
            <a:headEnd type="none" w="sm" len="sm"/>
            <a:tailEnd type="triangle" w="med" len="med"/>
          </a:ln>
        </p:spPr>
      </p:cxnSp>
      <p:cxnSp>
        <p:nvCxnSpPr>
          <p:cNvPr id="915" name="Google Shape;915;p97"/>
          <p:cNvCxnSpPr/>
          <p:nvPr/>
        </p:nvCxnSpPr>
        <p:spPr>
          <a:xfrm>
            <a:off x="5719802" y="1018005"/>
            <a:ext cx="775178" cy="0"/>
          </a:xfrm>
          <a:prstGeom prst="straightConnector1">
            <a:avLst/>
          </a:prstGeom>
          <a:noFill/>
          <a:ln w="25400" cap="flat" cmpd="sng">
            <a:solidFill>
              <a:srgbClr val="000000"/>
            </a:solidFill>
            <a:prstDash val="solid"/>
            <a:round/>
            <a:headEnd type="none" w="sm" len="sm"/>
            <a:tailEnd type="triangle" w="med" len="med"/>
          </a:ln>
        </p:spPr>
      </p:cxnSp>
      <p:cxnSp>
        <p:nvCxnSpPr>
          <p:cNvPr id="916" name="Google Shape;916;p97"/>
          <p:cNvCxnSpPr/>
          <p:nvPr/>
        </p:nvCxnSpPr>
        <p:spPr>
          <a:xfrm>
            <a:off x="2267183" y="2037368"/>
            <a:ext cx="6264300" cy="0"/>
          </a:xfrm>
          <a:prstGeom prst="straightConnector1">
            <a:avLst/>
          </a:prstGeom>
          <a:noFill/>
          <a:ln w="25400" cap="flat" cmpd="sng">
            <a:solidFill>
              <a:srgbClr val="000000"/>
            </a:solidFill>
            <a:prstDash val="solid"/>
            <a:round/>
            <a:headEnd type="none" w="sm" len="sm"/>
            <a:tailEnd type="none" w="sm" len="sm"/>
          </a:ln>
        </p:spPr>
      </p:cxnSp>
      <p:sp>
        <p:nvSpPr>
          <p:cNvPr id="917" name="Google Shape;917;p97"/>
          <p:cNvSpPr/>
          <p:nvPr/>
        </p:nvSpPr>
        <p:spPr>
          <a:xfrm>
            <a:off x="8319283" y="503481"/>
            <a:ext cx="422164" cy="933757"/>
          </a:xfrm>
          <a:custGeom>
            <a:avLst/>
            <a:gdLst/>
            <a:ahLst/>
            <a:cxnLst/>
            <a:rect l="l" t="t" r="r" b="b"/>
            <a:pathLst>
              <a:path w="21297" h="21600"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000000"/>
          </a:solidFill>
          <a:ln w="25400" cap="flat" cmpd="sng">
            <a:solidFill>
              <a:srgbClr val="000000"/>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18" name="Google Shape;918;p97"/>
          <p:cNvSpPr txBox="1"/>
          <p:nvPr/>
        </p:nvSpPr>
        <p:spPr>
          <a:xfrm>
            <a:off x="3676951" y="1426722"/>
            <a:ext cx="9930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Visual Mappings</a:t>
            </a:r>
            <a:endParaRPr sz="500">
              <a:solidFill>
                <a:schemeClr val="dk1"/>
              </a:solidFill>
              <a:latin typeface="Space Mono"/>
              <a:ea typeface="Space Mono"/>
              <a:cs typeface="Space Mono"/>
              <a:sym typeface="Space Mono"/>
            </a:endParaRPr>
          </a:p>
        </p:txBody>
      </p:sp>
      <p:sp>
        <p:nvSpPr>
          <p:cNvPr id="919" name="Google Shape;919;p97"/>
          <p:cNvSpPr txBox="1"/>
          <p:nvPr/>
        </p:nvSpPr>
        <p:spPr>
          <a:xfrm>
            <a:off x="5482274" y="1426722"/>
            <a:ext cx="12456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View Transformations</a:t>
            </a:r>
            <a:endParaRPr sz="500">
              <a:solidFill>
                <a:schemeClr val="dk1"/>
              </a:solidFill>
              <a:latin typeface="Space Mono"/>
              <a:ea typeface="Space Mono"/>
              <a:cs typeface="Space Mono"/>
              <a:sym typeface="Space Mono"/>
            </a:endParaRPr>
          </a:p>
        </p:txBody>
      </p:sp>
      <p:cxnSp>
        <p:nvCxnSpPr>
          <p:cNvPr id="920" name="Google Shape;920;p97"/>
          <p:cNvCxnSpPr/>
          <p:nvPr/>
        </p:nvCxnSpPr>
        <p:spPr>
          <a:xfrm>
            <a:off x="8530365" y="1639394"/>
            <a:ext cx="0" cy="395700"/>
          </a:xfrm>
          <a:prstGeom prst="straightConnector1">
            <a:avLst/>
          </a:prstGeom>
          <a:noFill/>
          <a:ln w="25400" cap="flat" cmpd="sng">
            <a:solidFill>
              <a:srgbClr val="000000"/>
            </a:solidFill>
            <a:prstDash val="solid"/>
            <a:round/>
            <a:headEnd type="none" w="sm" len="sm"/>
            <a:tailEnd type="none" w="sm" len="sm"/>
          </a:ln>
        </p:spPr>
      </p:cxnSp>
      <p:cxnSp>
        <p:nvCxnSpPr>
          <p:cNvPr id="921" name="Google Shape;921;p97"/>
          <p:cNvCxnSpPr/>
          <p:nvPr/>
        </p:nvCxnSpPr>
        <p:spPr>
          <a:xfrm rot="10800000">
            <a:off x="2266251" y="1785971"/>
            <a:ext cx="0" cy="255000"/>
          </a:xfrm>
          <a:prstGeom prst="straightConnector1">
            <a:avLst/>
          </a:prstGeom>
          <a:noFill/>
          <a:ln w="25400" cap="flat" cmpd="sng">
            <a:solidFill>
              <a:srgbClr val="000000"/>
            </a:solidFill>
            <a:prstDash val="solid"/>
            <a:round/>
            <a:headEnd type="none" w="sm" len="sm"/>
            <a:tailEnd type="triangle" w="med" len="med"/>
          </a:ln>
        </p:spPr>
      </p:cxnSp>
      <p:cxnSp>
        <p:nvCxnSpPr>
          <p:cNvPr id="922" name="Google Shape;922;p97"/>
          <p:cNvCxnSpPr/>
          <p:nvPr/>
        </p:nvCxnSpPr>
        <p:spPr>
          <a:xfrm rot="10800000">
            <a:off x="4210592" y="1785978"/>
            <a:ext cx="0" cy="257400"/>
          </a:xfrm>
          <a:prstGeom prst="straightConnector1">
            <a:avLst/>
          </a:prstGeom>
          <a:noFill/>
          <a:ln w="25400" cap="flat" cmpd="sng">
            <a:solidFill>
              <a:srgbClr val="000000"/>
            </a:solidFill>
            <a:prstDash val="solid"/>
            <a:round/>
            <a:headEnd type="none" w="sm" len="sm"/>
            <a:tailEnd type="triangle" w="med" len="med"/>
          </a:ln>
        </p:spPr>
      </p:cxnSp>
      <p:cxnSp>
        <p:nvCxnSpPr>
          <p:cNvPr id="923" name="Google Shape;923;p97"/>
          <p:cNvCxnSpPr/>
          <p:nvPr/>
        </p:nvCxnSpPr>
        <p:spPr>
          <a:xfrm rot="10800000">
            <a:off x="6081588" y="1785978"/>
            <a:ext cx="0" cy="257400"/>
          </a:xfrm>
          <a:prstGeom prst="straightConnector1">
            <a:avLst/>
          </a:prstGeom>
          <a:noFill/>
          <a:ln w="25400" cap="flat" cmpd="sng">
            <a:solidFill>
              <a:srgbClr val="000000"/>
            </a:solidFill>
            <a:prstDash val="solid"/>
            <a:round/>
            <a:headEnd type="none" w="sm" len="sm"/>
            <a:tailEnd type="triangle" w="med" len="med"/>
          </a:ln>
        </p:spPr>
      </p:cxnSp>
      <p:sp>
        <p:nvSpPr>
          <p:cNvPr id="924" name="Google Shape;924;p97"/>
          <p:cNvSpPr/>
          <p:nvPr/>
        </p:nvSpPr>
        <p:spPr>
          <a:xfrm rot="-2700000">
            <a:off x="378555" y="245892"/>
            <a:ext cx="865015" cy="758100"/>
          </a:xfrm>
          <a:custGeom>
            <a:avLst/>
            <a:gdLst/>
            <a:ahLst/>
            <a:cxnLst/>
            <a:rect l="l" t="t" r="r" b="b"/>
            <a:pathLst>
              <a:path w="16416" h="19373" extrusionOk="0">
                <a:moveTo>
                  <a:pt x="1231" y="15702"/>
                </a:moveTo>
                <a:cubicBezTo>
                  <a:pt x="-1630" y="9813"/>
                  <a:pt x="740" y="1889"/>
                  <a:pt x="5832" y="314"/>
                </a:cubicBezTo>
                <a:cubicBezTo>
                  <a:pt x="14045" y="-2227"/>
                  <a:pt x="19970" y="11252"/>
                  <a:pt x="13967" y="19373"/>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25" name="Google Shape;925;p97"/>
          <p:cNvSpPr/>
          <p:nvPr/>
        </p:nvSpPr>
        <p:spPr>
          <a:xfrm rot="-2700000">
            <a:off x="2308313" y="200528"/>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26" name="Google Shape;926;p97"/>
          <p:cNvSpPr/>
          <p:nvPr/>
        </p:nvSpPr>
        <p:spPr>
          <a:xfrm rot="-2700000">
            <a:off x="4225489" y="210053"/>
            <a:ext cx="833965"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27" name="Google Shape;927;p97"/>
          <p:cNvSpPr/>
          <p:nvPr/>
        </p:nvSpPr>
        <p:spPr>
          <a:xfrm rot="-2700000">
            <a:off x="6152189" y="213405"/>
            <a:ext cx="833966" cy="772250"/>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pic>
        <p:nvPicPr>
          <p:cNvPr id="932" name="Google Shape;932;p98" title="AVAR_Video1">
            <a:hlinkClick r:id="rId3"/>
          </p:cNvPr>
          <p:cNvPicPr preferRelativeResize="0"/>
          <p:nvPr/>
        </p:nvPicPr>
        <p:blipFill>
          <a:blip r:embed="rId4">
            <a:alphaModFix/>
          </a:blip>
          <a:stretch>
            <a:fillRect/>
          </a:stretch>
        </p:blipFill>
        <p:spPr>
          <a:xfrm>
            <a:off x="42125" y="42125"/>
            <a:ext cx="9101875" cy="511980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2"/>
                                        </p:tgtEl>
                                        <p:attrNameLst>
                                          <p:attrName>style.visibility</p:attrName>
                                        </p:attrNameLst>
                                      </p:cBhvr>
                                      <p:to>
                                        <p:strVal val="visible"/>
                                      </p:to>
                                    </p:set>
                                    <p:animEffect transition="in" filter="fade">
                                      <p:cBhvr>
                                        <p:cTn id="7" dur="1000"/>
                                        <p:tgtEl>
                                          <p:spTgt spid="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cxnSp>
        <p:nvCxnSpPr>
          <p:cNvPr id="937" name="Google Shape;937;p99"/>
          <p:cNvCxnSpPr/>
          <p:nvPr/>
        </p:nvCxnSpPr>
        <p:spPr>
          <a:xfrm>
            <a:off x="2267183" y="2038227"/>
            <a:ext cx="6264300" cy="0"/>
          </a:xfrm>
          <a:prstGeom prst="straightConnector1">
            <a:avLst/>
          </a:prstGeom>
          <a:noFill/>
          <a:ln w="25400" cap="flat" cmpd="sng">
            <a:solidFill>
              <a:srgbClr val="000000"/>
            </a:solidFill>
            <a:prstDash val="solid"/>
            <a:round/>
            <a:headEnd type="none" w="sm" len="sm"/>
            <a:tailEnd type="none" w="sm" len="sm"/>
          </a:ln>
        </p:spPr>
      </p:cxnSp>
      <p:pic>
        <p:nvPicPr>
          <p:cNvPr id="938" name="Google Shape;938;p99" descr="Image"/>
          <p:cNvPicPr preferRelativeResize="0"/>
          <p:nvPr/>
        </p:nvPicPr>
        <p:blipFill rotWithShape="1">
          <a:blip r:embed="rId3">
            <a:alphaModFix/>
          </a:blip>
          <a:srcRect l="29408" t="31615" r="34457" b="19637"/>
          <a:stretch/>
        </p:blipFill>
        <p:spPr>
          <a:xfrm>
            <a:off x="3060614" y="2122234"/>
            <a:ext cx="3022663" cy="2293749"/>
          </a:xfrm>
          <a:prstGeom prst="rect">
            <a:avLst/>
          </a:prstGeom>
          <a:noFill/>
          <a:ln>
            <a:noFill/>
          </a:ln>
        </p:spPr>
      </p:pic>
      <p:sp>
        <p:nvSpPr>
          <p:cNvPr id="939" name="Google Shape;939;p99"/>
          <p:cNvSpPr/>
          <p:nvPr/>
        </p:nvSpPr>
        <p:spPr>
          <a:xfrm>
            <a:off x="723162" y="685668"/>
            <a:ext cx="1142700" cy="645600"/>
          </a:xfrm>
          <a:prstGeom prst="rect">
            <a:avLst/>
          </a:prstGeom>
          <a:solidFill>
            <a:srgbClr val="FD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Raw Data</a:t>
            </a:r>
            <a:endParaRPr sz="500">
              <a:solidFill>
                <a:schemeClr val="dk1"/>
              </a:solidFill>
              <a:latin typeface="Space Mono"/>
              <a:ea typeface="Space Mono"/>
              <a:cs typeface="Space Mono"/>
              <a:sym typeface="Space Mono"/>
            </a:endParaRPr>
          </a:p>
        </p:txBody>
      </p:sp>
      <p:sp>
        <p:nvSpPr>
          <p:cNvPr id="940" name="Google Shape;940;p99"/>
          <p:cNvSpPr/>
          <p:nvPr/>
        </p:nvSpPr>
        <p:spPr>
          <a:xfrm>
            <a:off x="2644037" y="695193"/>
            <a:ext cx="1142700" cy="645600"/>
          </a:xfrm>
          <a:prstGeom prst="rect">
            <a:avLst/>
          </a:prstGeom>
          <a:solidFill>
            <a:srgbClr val="FF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Data Tables</a:t>
            </a:r>
            <a:endParaRPr sz="500">
              <a:solidFill>
                <a:schemeClr val="dk1"/>
              </a:solidFill>
              <a:latin typeface="Space Mono"/>
              <a:ea typeface="Space Mono"/>
              <a:cs typeface="Space Mono"/>
              <a:sym typeface="Space Mono"/>
            </a:endParaRPr>
          </a:p>
        </p:txBody>
      </p:sp>
      <p:sp>
        <p:nvSpPr>
          <p:cNvPr id="941" name="Google Shape;941;p99"/>
          <p:cNvSpPr/>
          <p:nvPr/>
        </p:nvSpPr>
        <p:spPr>
          <a:xfrm>
            <a:off x="4564913" y="695193"/>
            <a:ext cx="1142700" cy="645600"/>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Visual Structures</a:t>
            </a:r>
            <a:endParaRPr sz="500">
              <a:solidFill>
                <a:schemeClr val="dk1"/>
              </a:solidFill>
              <a:latin typeface="Space Mono"/>
              <a:ea typeface="Space Mono"/>
              <a:cs typeface="Space Mono"/>
              <a:sym typeface="Space Mono"/>
            </a:endParaRPr>
          </a:p>
        </p:txBody>
      </p:sp>
      <p:sp>
        <p:nvSpPr>
          <p:cNvPr id="942" name="Google Shape;942;p99"/>
          <p:cNvSpPr/>
          <p:nvPr/>
        </p:nvSpPr>
        <p:spPr>
          <a:xfrm>
            <a:off x="6485787" y="695193"/>
            <a:ext cx="1142700" cy="645600"/>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Views</a:t>
            </a:r>
            <a:endParaRPr sz="500">
              <a:solidFill>
                <a:schemeClr val="dk1"/>
              </a:solidFill>
              <a:latin typeface="Space Mono"/>
              <a:ea typeface="Space Mono"/>
              <a:cs typeface="Space Mono"/>
              <a:sym typeface="Space Mono"/>
            </a:endParaRPr>
          </a:p>
        </p:txBody>
      </p:sp>
      <p:cxnSp>
        <p:nvCxnSpPr>
          <p:cNvPr id="943" name="Google Shape;943;p99"/>
          <p:cNvCxnSpPr/>
          <p:nvPr/>
        </p:nvCxnSpPr>
        <p:spPr>
          <a:xfrm>
            <a:off x="1856676" y="1018005"/>
            <a:ext cx="775200" cy="0"/>
          </a:xfrm>
          <a:prstGeom prst="straightConnector1">
            <a:avLst/>
          </a:prstGeom>
          <a:noFill/>
          <a:ln w="28575" cap="flat" cmpd="sng">
            <a:solidFill>
              <a:schemeClr val="dk1"/>
            </a:solidFill>
            <a:prstDash val="solid"/>
            <a:round/>
            <a:headEnd type="none" w="sm" len="sm"/>
            <a:tailEnd type="triangle" w="med" len="med"/>
          </a:ln>
        </p:spPr>
      </p:cxnSp>
      <p:sp>
        <p:nvSpPr>
          <p:cNvPr id="944" name="Google Shape;944;p99"/>
          <p:cNvSpPr txBox="1"/>
          <p:nvPr/>
        </p:nvSpPr>
        <p:spPr>
          <a:xfrm>
            <a:off x="1686323" y="1426722"/>
            <a:ext cx="13464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3F6797"/>
              </a:buClr>
              <a:buSzPts val="1000"/>
              <a:buFont typeface="Helvetica Neue"/>
              <a:buNone/>
            </a:pPr>
            <a:r>
              <a:rPr lang="en-GB" sz="1000" i="0" u="none" strike="noStrike" cap="none">
                <a:solidFill>
                  <a:schemeClr val="dk1"/>
                </a:solidFill>
                <a:latin typeface="Space Mono"/>
                <a:ea typeface="Space Mono"/>
                <a:cs typeface="Space Mono"/>
                <a:sym typeface="Space Mono"/>
              </a:rPr>
              <a:t>Data Transformations</a:t>
            </a:r>
            <a:endParaRPr sz="500">
              <a:solidFill>
                <a:schemeClr val="dk1"/>
              </a:solidFill>
              <a:latin typeface="Space Mono"/>
              <a:ea typeface="Space Mono"/>
              <a:cs typeface="Space Mono"/>
              <a:sym typeface="Space Mono"/>
            </a:endParaRPr>
          </a:p>
        </p:txBody>
      </p:sp>
      <p:cxnSp>
        <p:nvCxnSpPr>
          <p:cNvPr id="945" name="Google Shape;945;p99"/>
          <p:cNvCxnSpPr/>
          <p:nvPr/>
        </p:nvCxnSpPr>
        <p:spPr>
          <a:xfrm>
            <a:off x="3788239" y="1018005"/>
            <a:ext cx="775200" cy="0"/>
          </a:xfrm>
          <a:prstGeom prst="straightConnector1">
            <a:avLst/>
          </a:prstGeom>
          <a:noFill/>
          <a:ln w="25400" cap="flat" cmpd="sng">
            <a:solidFill>
              <a:srgbClr val="000000"/>
            </a:solidFill>
            <a:prstDash val="solid"/>
            <a:round/>
            <a:headEnd type="none" w="sm" len="sm"/>
            <a:tailEnd type="triangle" w="med" len="med"/>
          </a:ln>
        </p:spPr>
      </p:cxnSp>
      <p:cxnSp>
        <p:nvCxnSpPr>
          <p:cNvPr id="946" name="Google Shape;946;p99"/>
          <p:cNvCxnSpPr/>
          <p:nvPr/>
        </p:nvCxnSpPr>
        <p:spPr>
          <a:xfrm>
            <a:off x="5719802" y="1018005"/>
            <a:ext cx="775200" cy="0"/>
          </a:xfrm>
          <a:prstGeom prst="straightConnector1">
            <a:avLst/>
          </a:prstGeom>
          <a:noFill/>
          <a:ln w="25400" cap="flat" cmpd="sng">
            <a:solidFill>
              <a:srgbClr val="000000"/>
            </a:solidFill>
            <a:prstDash val="solid"/>
            <a:round/>
            <a:headEnd type="none" w="sm" len="sm"/>
            <a:tailEnd type="triangle" w="med" len="med"/>
          </a:ln>
        </p:spPr>
      </p:cxnSp>
      <p:sp>
        <p:nvSpPr>
          <p:cNvPr id="947" name="Google Shape;947;p99"/>
          <p:cNvSpPr/>
          <p:nvPr/>
        </p:nvSpPr>
        <p:spPr>
          <a:xfrm>
            <a:off x="8319283" y="503481"/>
            <a:ext cx="422160" cy="933768"/>
          </a:xfrm>
          <a:custGeom>
            <a:avLst/>
            <a:gdLst/>
            <a:ahLst/>
            <a:cxnLst/>
            <a:rect l="l" t="t" r="r" b="b"/>
            <a:pathLst>
              <a:path w="21297" h="21600"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000000"/>
          </a:solidFill>
          <a:ln w="25400" cap="flat" cmpd="sng">
            <a:solidFill>
              <a:srgbClr val="000000"/>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48" name="Google Shape;948;p99"/>
          <p:cNvSpPr txBox="1"/>
          <p:nvPr/>
        </p:nvSpPr>
        <p:spPr>
          <a:xfrm>
            <a:off x="3676951" y="1426722"/>
            <a:ext cx="9930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Visual Mappings</a:t>
            </a:r>
            <a:endParaRPr sz="500">
              <a:solidFill>
                <a:schemeClr val="dk1"/>
              </a:solidFill>
              <a:latin typeface="Space Mono"/>
              <a:ea typeface="Space Mono"/>
              <a:cs typeface="Space Mono"/>
              <a:sym typeface="Space Mono"/>
            </a:endParaRPr>
          </a:p>
        </p:txBody>
      </p:sp>
      <p:sp>
        <p:nvSpPr>
          <p:cNvPr id="949" name="Google Shape;949;p99"/>
          <p:cNvSpPr txBox="1"/>
          <p:nvPr/>
        </p:nvSpPr>
        <p:spPr>
          <a:xfrm>
            <a:off x="5482274" y="1426722"/>
            <a:ext cx="12456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View Transformations</a:t>
            </a:r>
            <a:endParaRPr sz="500">
              <a:solidFill>
                <a:schemeClr val="dk1"/>
              </a:solidFill>
              <a:latin typeface="Space Mono"/>
              <a:ea typeface="Space Mono"/>
              <a:cs typeface="Space Mono"/>
              <a:sym typeface="Space Mono"/>
            </a:endParaRPr>
          </a:p>
        </p:txBody>
      </p:sp>
      <p:cxnSp>
        <p:nvCxnSpPr>
          <p:cNvPr id="950" name="Google Shape;950;p99"/>
          <p:cNvCxnSpPr/>
          <p:nvPr/>
        </p:nvCxnSpPr>
        <p:spPr>
          <a:xfrm>
            <a:off x="8530365" y="1639394"/>
            <a:ext cx="0" cy="395700"/>
          </a:xfrm>
          <a:prstGeom prst="straightConnector1">
            <a:avLst/>
          </a:prstGeom>
          <a:noFill/>
          <a:ln w="25400" cap="flat" cmpd="sng">
            <a:solidFill>
              <a:srgbClr val="000000"/>
            </a:solidFill>
            <a:prstDash val="solid"/>
            <a:round/>
            <a:headEnd type="none" w="sm" len="sm"/>
            <a:tailEnd type="none" w="sm" len="sm"/>
          </a:ln>
        </p:spPr>
      </p:cxnSp>
      <p:cxnSp>
        <p:nvCxnSpPr>
          <p:cNvPr id="951" name="Google Shape;951;p99"/>
          <p:cNvCxnSpPr/>
          <p:nvPr/>
        </p:nvCxnSpPr>
        <p:spPr>
          <a:xfrm rot="10800000">
            <a:off x="2266251" y="1785971"/>
            <a:ext cx="0" cy="255000"/>
          </a:xfrm>
          <a:prstGeom prst="straightConnector1">
            <a:avLst/>
          </a:prstGeom>
          <a:noFill/>
          <a:ln w="25400" cap="flat" cmpd="sng">
            <a:solidFill>
              <a:srgbClr val="000000"/>
            </a:solidFill>
            <a:prstDash val="solid"/>
            <a:round/>
            <a:headEnd type="none" w="sm" len="sm"/>
            <a:tailEnd type="triangle" w="med" len="med"/>
          </a:ln>
        </p:spPr>
      </p:cxnSp>
      <p:cxnSp>
        <p:nvCxnSpPr>
          <p:cNvPr id="952" name="Google Shape;952;p99"/>
          <p:cNvCxnSpPr/>
          <p:nvPr/>
        </p:nvCxnSpPr>
        <p:spPr>
          <a:xfrm rot="10800000">
            <a:off x="4210592" y="1785978"/>
            <a:ext cx="0" cy="257400"/>
          </a:xfrm>
          <a:prstGeom prst="straightConnector1">
            <a:avLst/>
          </a:prstGeom>
          <a:noFill/>
          <a:ln w="25400" cap="flat" cmpd="sng">
            <a:solidFill>
              <a:srgbClr val="000000"/>
            </a:solidFill>
            <a:prstDash val="solid"/>
            <a:round/>
            <a:headEnd type="none" w="sm" len="sm"/>
            <a:tailEnd type="triangle" w="med" len="med"/>
          </a:ln>
        </p:spPr>
      </p:cxnSp>
      <p:cxnSp>
        <p:nvCxnSpPr>
          <p:cNvPr id="953" name="Google Shape;953;p99"/>
          <p:cNvCxnSpPr/>
          <p:nvPr/>
        </p:nvCxnSpPr>
        <p:spPr>
          <a:xfrm rot="10800000">
            <a:off x="6081588" y="1785978"/>
            <a:ext cx="0" cy="257400"/>
          </a:xfrm>
          <a:prstGeom prst="straightConnector1">
            <a:avLst/>
          </a:prstGeom>
          <a:noFill/>
          <a:ln w="25400" cap="flat" cmpd="sng">
            <a:solidFill>
              <a:srgbClr val="000000"/>
            </a:solidFill>
            <a:prstDash val="solid"/>
            <a:round/>
            <a:headEnd type="none" w="sm" len="sm"/>
            <a:tailEnd type="triangle" w="med" len="med"/>
          </a:ln>
        </p:spPr>
      </p:cxnSp>
      <p:sp>
        <p:nvSpPr>
          <p:cNvPr id="954" name="Google Shape;954;p99"/>
          <p:cNvSpPr/>
          <p:nvPr/>
        </p:nvSpPr>
        <p:spPr>
          <a:xfrm rot="-2700000">
            <a:off x="378551" y="245892"/>
            <a:ext cx="865018" cy="758090"/>
          </a:xfrm>
          <a:custGeom>
            <a:avLst/>
            <a:gdLst/>
            <a:ahLst/>
            <a:cxnLst/>
            <a:rect l="l" t="t" r="r" b="b"/>
            <a:pathLst>
              <a:path w="16416" h="19373" extrusionOk="0">
                <a:moveTo>
                  <a:pt x="1231" y="15702"/>
                </a:moveTo>
                <a:cubicBezTo>
                  <a:pt x="-1630" y="9813"/>
                  <a:pt x="740" y="1889"/>
                  <a:pt x="5832" y="314"/>
                </a:cubicBezTo>
                <a:cubicBezTo>
                  <a:pt x="14045" y="-2227"/>
                  <a:pt x="19970" y="11252"/>
                  <a:pt x="13967" y="19373"/>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55" name="Google Shape;955;p99"/>
          <p:cNvSpPr/>
          <p:nvPr/>
        </p:nvSpPr>
        <p:spPr>
          <a:xfrm rot="-2700000">
            <a:off x="2308308" y="200523"/>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56" name="Google Shape;956;p99"/>
          <p:cNvSpPr/>
          <p:nvPr/>
        </p:nvSpPr>
        <p:spPr>
          <a:xfrm rot="-2700000">
            <a:off x="4225484" y="210048"/>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57" name="Google Shape;957;p99"/>
          <p:cNvSpPr/>
          <p:nvPr/>
        </p:nvSpPr>
        <p:spPr>
          <a:xfrm rot="-2700000">
            <a:off x="6152184" y="213401"/>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pic>
        <p:nvPicPr>
          <p:cNvPr id="962" name="Google Shape;962;p100" title="AVAR Video2">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2"/>
                                        </p:tgtEl>
                                        <p:attrNameLst>
                                          <p:attrName>style.visibility</p:attrName>
                                        </p:attrNameLst>
                                      </p:cBhvr>
                                      <p:to>
                                        <p:strVal val="visible"/>
                                      </p:to>
                                    </p:set>
                                    <p:animEffect transition="in" filter="fade">
                                      <p:cBhvr>
                                        <p:cTn id="7" dur="1000"/>
                                        <p:tgtEl>
                                          <p:spTgt spid="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pic>
        <p:nvPicPr>
          <p:cNvPr id="967" name="Google Shape;967;p101" descr="Image"/>
          <p:cNvPicPr preferRelativeResize="0"/>
          <p:nvPr/>
        </p:nvPicPr>
        <p:blipFill rotWithShape="1">
          <a:blip r:embed="rId3">
            <a:alphaModFix/>
          </a:blip>
          <a:srcRect l="29870" t="32798" r="35234" b="20348"/>
          <a:stretch/>
        </p:blipFill>
        <p:spPr>
          <a:xfrm>
            <a:off x="3069098" y="2196628"/>
            <a:ext cx="2926425" cy="2210171"/>
          </a:xfrm>
          <a:prstGeom prst="rect">
            <a:avLst/>
          </a:prstGeom>
          <a:noFill/>
          <a:ln>
            <a:noFill/>
          </a:ln>
        </p:spPr>
      </p:pic>
      <p:sp>
        <p:nvSpPr>
          <p:cNvPr id="968" name="Google Shape;968;p101"/>
          <p:cNvSpPr/>
          <p:nvPr/>
        </p:nvSpPr>
        <p:spPr>
          <a:xfrm>
            <a:off x="723162" y="685668"/>
            <a:ext cx="1142700" cy="645600"/>
          </a:xfrm>
          <a:prstGeom prst="rect">
            <a:avLst/>
          </a:prstGeom>
          <a:solidFill>
            <a:srgbClr val="FD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Raw Data</a:t>
            </a:r>
            <a:endParaRPr sz="500">
              <a:solidFill>
                <a:schemeClr val="dk1"/>
              </a:solidFill>
              <a:latin typeface="Space Mono"/>
              <a:ea typeface="Space Mono"/>
              <a:cs typeface="Space Mono"/>
              <a:sym typeface="Space Mono"/>
            </a:endParaRPr>
          </a:p>
        </p:txBody>
      </p:sp>
      <p:sp>
        <p:nvSpPr>
          <p:cNvPr id="969" name="Google Shape;969;p101"/>
          <p:cNvSpPr/>
          <p:nvPr/>
        </p:nvSpPr>
        <p:spPr>
          <a:xfrm>
            <a:off x="2644037" y="695193"/>
            <a:ext cx="1142700" cy="645600"/>
          </a:xfrm>
          <a:prstGeom prst="rect">
            <a:avLst/>
          </a:prstGeom>
          <a:solidFill>
            <a:srgbClr val="FFFFFF"/>
          </a:solidFill>
          <a:ln w="28575" cap="flat" cmpd="sng">
            <a:solidFill>
              <a:schemeClr val="dk1"/>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376092"/>
              </a:buClr>
              <a:buSzPts val="1400"/>
              <a:buFont typeface="Helvetica Neue Light"/>
              <a:buNone/>
            </a:pPr>
            <a:r>
              <a:rPr lang="en-GB" sz="1400" i="0" u="none" strike="noStrike" cap="none">
                <a:solidFill>
                  <a:schemeClr val="dk1"/>
                </a:solidFill>
                <a:latin typeface="Space Mono"/>
                <a:ea typeface="Space Mono"/>
                <a:cs typeface="Space Mono"/>
                <a:sym typeface="Space Mono"/>
              </a:rPr>
              <a:t>Data Tables</a:t>
            </a:r>
            <a:endParaRPr sz="500">
              <a:solidFill>
                <a:schemeClr val="dk1"/>
              </a:solidFill>
              <a:latin typeface="Space Mono"/>
              <a:ea typeface="Space Mono"/>
              <a:cs typeface="Space Mono"/>
              <a:sym typeface="Space Mono"/>
            </a:endParaRPr>
          </a:p>
        </p:txBody>
      </p:sp>
      <p:sp>
        <p:nvSpPr>
          <p:cNvPr id="970" name="Google Shape;970;p101"/>
          <p:cNvSpPr/>
          <p:nvPr/>
        </p:nvSpPr>
        <p:spPr>
          <a:xfrm>
            <a:off x="4564913" y="695193"/>
            <a:ext cx="1142700" cy="645600"/>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Visual Structures</a:t>
            </a:r>
            <a:endParaRPr sz="500">
              <a:solidFill>
                <a:schemeClr val="dk1"/>
              </a:solidFill>
              <a:latin typeface="Space Mono"/>
              <a:ea typeface="Space Mono"/>
              <a:cs typeface="Space Mono"/>
              <a:sym typeface="Space Mono"/>
            </a:endParaRPr>
          </a:p>
        </p:txBody>
      </p:sp>
      <p:sp>
        <p:nvSpPr>
          <p:cNvPr id="971" name="Google Shape;971;p101"/>
          <p:cNvSpPr/>
          <p:nvPr/>
        </p:nvSpPr>
        <p:spPr>
          <a:xfrm>
            <a:off x="6485787" y="695193"/>
            <a:ext cx="1142700" cy="645600"/>
          </a:xfrm>
          <a:prstGeom prst="rect">
            <a:avLst/>
          </a:prstGeom>
          <a:solidFill>
            <a:srgbClr val="FFFFFF"/>
          </a:solidFill>
          <a:ln w="25400" cap="flat" cmpd="sng">
            <a:solidFill>
              <a:srgbClr val="000000"/>
            </a:solidFill>
            <a:prstDash val="solid"/>
            <a:miter lim="400000"/>
            <a:headEnd type="none" w="sm" len="sm"/>
            <a:tailEnd type="none" w="sm" len="sm"/>
          </a:ln>
        </p:spPr>
        <p:txBody>
          <a:bodyPr spcFirstLastPara="1" wrap="square" lIns="34275" tIns="34275" rIns="34275" bIns="34275" anchor="ctr" anchorCtr="0">
            <a:noAutofit/>
          </a:bodyPr>
          <a:lstStyle/>
          <a:p>
            <a:pPr marL="0" marR="0" lvl="0" indent="0" algn="ctr" rtl="0">
              <a:lnSpc>
                <a:spcPct val="100000"/>
              </a:lnSpc>
              <a:spcBef>
                <a:spcPts val="0"/>
              </a:spcBef>
              <a:spcAft>
                <a:spcPts val="0"/>
              </a:spcAft>
              <a:buClr>
                <a:srgbClr val="000000"/>
              </a:buClr>
              <a:buSzPts val="1400"/>
              <a:buFont typeface="Helvetica Neue Light"/>
              <a:buNone/>
            </a:pPr>
            <a:r>
              <a:rPr lang="en-GB" sz="1400" i="0" u="none" strike="noStrike" cap="none">
                <a:solidFill>
                  <a:schemeClr val="dk1"/>
                </a:solidFill>
                <a:latin typeface="Space Mono"/>
                <a:ea typeface="Space Mono"/>
                <a:cs typeface="Space Mono"/>
                <a:sym typeface="Space Mono"/>
              </a:rPr>
              <a:t>Views</a:t>
            </a:r>
            <a:endParaRPr sz="500">
              <a:solidFill>
                <a:schemeClr val="dk1"/>
              </a:solidFill>
              <a:latin typeface="Space Mono"/>
              <a:ea typeface="Space Mono"/>
              <a:cs typeface="Space Mono"/>
              <a:sym typeface="Space Mono"/>
            </a:endParaRPr>
          </a:p>
        </p:txBody>
      </p:sp>
      <p:cxnSp>
        <p:nvCxnSpPr>
          <p:cNvPr id="972" name="Google Shape;972;p101"/>
          <p:cNvCxnSpPr/>
          <p:nvPr/>
        </p:nvCxnSpPr>
        <p:spPr>
          <a:xfrm>
            <a:off x="1856676" y="1018005"/>
            <a:ext cx="775200" cy="0"/>
          </a:xfrm>
          <a:prstGeom prst="straightConnector1">
            <a:avLst/>
          </a:prstGeom>
          <a:noFill/>
          <a:ln w="28575" cap="flat" cmpd="sng">
            <a:solidFill>
              <a:schemeClr val="dk1"/>
            </a:solidFill>
            <a:prstDash val="solid"/>
            <a:round/>
            <a:headEnd type="none" w="sm" len="sm"/>
            <a:tailEnd type="triangle" w="med" len="med"/>
          </a:ln>
        </p:spPr>
      </p:cxnSp>
      <p:sp>
        <p:nvSpPr>
          <p:cNvPr id="973" name="Google Shape;973;p101"/>
          <p:cNvSpPr txBox="1"/>
          <p:nvPr/>
        </p:nvSpPr>
        <p:spPr>
          <a:xfrm>
            <a:off x="1686323" y="1426722"/>
            <a:ext cx="13464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3F6797"/>
              </a:buClr>
              <a:buSzPts val="1000"/>
              <a:buFont typeface="Helvetica Neue"/>
              <a:buNone/>
            </a:pPr>
            <a:r>
              <a:rPr lang="en-GB" sz="1000" i="0" u="none" strike="noStrike" cap="none">
                <a:solidFill>
                  <a:schemeClr val="dk1"/>
                </a:solidFill>
                <a:latin typeface="Space Mono"/>
                <a:ea typeface="Space Mono"/>
                <a:cs typeface="Space Mono"/>
                <a:sym typeface="Space Mono"/>
              </a:rPr>
              <a:t>Data Transformations</a:t>
            </a:r>
            <a:endParaRPr sz="500">
              <a:solidFill>
                <a:schemeClr val="dk1"/>
              </a:solidFill>
              <a:latin typeface="Space Mono"/>
              <a:ea typeface="Space Mono"/>
              <a:cs typeface="Space Mono"/>
              <a:sym typeface="Space Mono"/>
            </a:endParaRPr>
          </a:p>
        </p:txBody>
      </p:sp>
      <p:cxnSp>
        <p:nvCxnSpPr>
          <p:cNvPr id="974" name="Google Shape;974;p101"/>
          <p:cNvCxnSpPr/>
          <p:nvPr/>
        </p:nvCxnSpPr>
        <p:spPr>
          <a:xfrm>
            <a:off x="3788239" y="1018005"/>
            <a:ext cx="775200" cy="0"/>
          </a:xfrm>
          <a:prstGeom prst="straightConnector1">
            <a:avLst/>
          </a:prstGeom>
          <a:noFill/>
          <a:ln w="25400" cap="flat" cmpd="sng">
            <a:solidFill>
              <a:srgbClr val="000000"/>
            </a:solidFill>
            <a:prstDash val="solid"/>
            <a:round/>
            <a:headEnd type="none" w="sm" len="sm"/>
            <a:tailEnd type="triangle" w="med" len="med"/>
          </a:ln>
        </p:spPr>
      </p:cxnSp>
      <p:cxnSp>
        <p:nvCxnSpPr>
          <p:cNvPr id="975" name="Google Shape;975;p101"/>
          <p:cNvCxnSpPr/>
          <p:nvPr/>
        </p:nvCxnSpPr>
        <p:spPr>
          <a:xfrm>
            <a:off x="5719802" y="1018005"/>
            <a:ext cx="775200" cy="0"/>
          </a:xfrm>
          <a:prstGeom prst="straightConnector1">
            <a:avLst/>
          </a:prstGeom>
          <a:noFill/>
          <a:ln w="25400" cap="flat" cmpd="sng">
            <a:solidFill>
              <a:srgbClr val="000000"/>
            </a:solidFill>
            <a:prstDash val="solid"/>
            <a:round/>
            <a:headEnd type="none" w="sm" len="sm"/>
            <a:tailEnd type="triangle" w="med" len="med"/>
          </a:ln>
        </p:spPr>
      </p:cxnSp>
      <p:sp>
        <p:nvSpPr>
          <p:cNvPr id="976" name="Google Shape;976;p101"/>
          <p:cNvSpPr/>
          <p:nvPr/>
        </p:nvSpPr>
        <p:spPr>
          <a:xfrm>
            <a:off x="8319283" y="503481"/>
            <a:ext cx="422160" cy="933768"/>
          </a:xfrm>
          <a:custGeom>
            <a:avLst/>
            <a:gdLst/>
            <a:ahLst/>
            <a:cxnLst/>
            <a:rect l="l" t="t" r="r" b="b"/>
            <a:pathLst>
              <a:path w="21297" h="21600"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000000"/>
          </a:solidFill>
          <a:ln w="25400" cap="flat" cmpd="sng">
            <a:solidFill>
              <a:srgbClr val="000000"/>
            </a:solidFill>
            <a:prstDash val="solid"/>
            <a:round/>
            <a:headEnd type="none" w="sm" len="sm"/>
            <a:tailEnd type="none" w="sm" len="sm"/>
          </a:ln>
        </p:spPr>
        <p:txBody>
          <a:bodyPr spcFirstLastPara="1" wrap="square" lIns="34275" tIns="34275" rIns="34275" bIns="34275" anchor="ctr"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77" name="Google Shape;977;p101"/>
          <p:cNvSpPr txBox="1"/>
          <p:nvPr/>
        </p:nvSpPr>
        <p:spPr>
          <a:xfrm>
            <a:off x="3676951" y="1426722"/>
            <a:ext cx="9930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Visual Mappings</a:t>
            </a:r>
            <a:endParaRPr sz="500">
              <a:solidFill>
                <a:schemeClr val="dk1"/>
              </a:solidFill>
              <a:latin typeface="Space Mono"/>
              <a:ea typeface="Space Mono"/>
              <a:cs typeface="Space Mono"/>
              <a:sym typeface="Space Mono"/>
            </a:endParaRPr>
          </a:p>
        </p:txBody>
      </p:sp>
      <p:sp>
        <p:nvSpPr>
          <p:cNvPr id="978" name="Google Shape;978;p101"/>
          <p:cNvSpPr txBox="1"/>
          <p:nvPr/>
        </p:nvSpPr>
        <p:spPr>
          <a:xfrm>
            <a:off x="5482274" y="1426722"/>
            <a:ext cx="1245600" cy="3771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000"/>
              <a:buFont typeface="Helvetica Neue Light"/>
              <a:buNone/>
            </a:pPr>
            <a:r>
              <a:rPr lang="en-GB" sz="1000" i="0" u="none" strike="noStrike" cap="none">
                <a:solidFill>
                  <a:schemeClr val="dk1"/>
                </a:solidFill>
                <a:latin typeface="Space Mono"/>
                <a:ea typeface="Space Mono"/>
                <a:cs typeface="Space Mono"/>
                <a:sym typeface="Space Mono"/>
              </a:rPr>
              <a:t>View Transformations</a:t>
            </a:r>
            <a:endParaRPr sz="500">
              <a:solidFill>
                <a:schemeClr val="dk1"/>
              </a:solidFill>
              <a:latin typeface="Space Mono"/>
              <a:ea typeface="Space Mono"/>
              <a:cs typeface="Space Mono"/>
              <a:sym typeface="Space Mono"/>
            </a:endParaRPr>
          </a:p>
        </p:txBody>
      </p:sp>
      <p:cxnSp>
        <p:nvCxnSpPr>
          <p:cNvPr id="979" name="Google Shape;979;p101"/>
          <p:cNvCxnSpPr/>
          <p:nvPr/>
        </p:nvCxnSpPr>
        <p:spPr>
          <a:xfrm>
            <a:off x="8530365" y="1639394"/>
            <a:ext cx="0" cy="395700"/>
          </a:xfrm>
          <a:prstGeom prst="straightConnector1">
            <a:avLst/>
          </a:prstGeom>
          <a:noFill/>
          <a:ln w="25400" cap="flat" cmpd="sng">
            <a:solidFill>
              <a:srgbClr val="000000"/>
            </a:solidFill>
            <a:prstDash val="solid"/>
            <a:round/>
            <a:headEnd type="none" w="sm" len="sm"/>
            <a:tailEnd type="none" w="sm" len="sm"/>
          </a:ln>
        </p:spPr>
      </p:cxnSp>
      <p:cxnSp>
        <p:nvCxnSpPr>
          <p:cNvPr id="980" name="Google Shape;980;p101"/>
          <p:cNvCxnSpPr/>
          <p:nvPr/>
        </p:nvCxnSpPr>
        <p:spPr>
          <a:xfrm rot="10800000">
            <a:off x="2266251" y="1785971"/>
            <a:ext cx="0" cy="255000"/>
          </a:xfrm>
          <a:prstGeom prst="straightConnector1">
            <a:avLst/>
          </a:prstGeom>
          <a:noFill/>
          <a:ln w="25400" cap="flat" cmpd="sng">
            <a:solidFill>
              <a:srgbClr val="000000"/>
            </a:solidFill>
            <a:prstDash val="solid"/>
            <a:round/>
            <a:headEnd type="none" w="sm" len="sm"/>
            <a:tailEnd type="triangle" w="med" len="med"/>
          </a:ln>
        </p:spPr>
      </p:cxnSp>
      <p:cxnSp>
        <p:nvCxnSpPr>
          <p:cNvPr id="981" name="Google Shape;981;p101"/>
          <p:cNvCxnSpPr/>
          <p:nvPr/>
        </p:nvCxnSpPr>
        <p:spPr>
          <a:xfrm rot="10800000">
            <a:off x="4210592" y="1785978"/>
            <a:ext cx="0" cy="257400"/>
          </a:xfrm>
          <a:prstGeom prst="straightConnector1">
            <a:avLst/>
          </a:prstGeom>
          <a:noFill/>
          <a:ln w="25400" cap="flat" cmpd="sng">
            <a:solidFill>
              <a:srgbClr val="000000"/>
            </a:solidFill>
            <a:prstDash val="solid"/>
            <a:round/>
            <a:headEnd type="none" w="sm" len="sm"/>
            <a:tailEnd type="triangle" w="med" len="med"/>
          </a:ln>
        </p:spPr>
      </p:cxnSp>
      <p:cxnSp>
        <p:nvCxnSpPr>
          <p:cNvPr id="982" name="Google Shape;982;p101"/>
          <p:cNvCxnSpPr/>
          <p:nvPr/>
        </p:nvCxnSpPr>
        <p:spPr>
          <a:xfrm rot="10800000">
            <a:off x="6081588" y="1785978"/>
            <a:ext cx="0" cy="257400"/>
          </a:xfrm>
          <a:prstGeom prst="straightConnector1">
            <a:avLst/>
          </a:prstGeom>
          <a:noFill/>
          <a:ln w="25400" cap="flat" cmpd="sng">
            <a:solidFill>
              <a:srgbClr val="000000"/>
            </a:solidFill>
            <a:prstDash val="solid"/>
            <a:round/>
            <a:headEnd type="none" w="sm" len="sm"/>
            <a:tailEnd type="triangle" w="med" len="med"/>
          </a:ln>
        </p:spPr>
      </p:cxnSp>
      <p:sp>
        <p:nvSpPr>
          <p:cNvPr id="983" name="Google Shape;983;p101"/>
          <p:cNvSpPr/>
          <p:nvPr/>
        </p:nvSpPr>
        <p:spPr>
          <a:xfrm rot="-2700000">
            <a:off x="378551" y="245892"/>
            <a:ext cx="865018" cy="758090"/>
          </a:xfrm>
          <a:custGeom>
            <a:avLst/>
            <a:gdLst/>
            <a:ahLst/>
            <a:cxnLst/>
            <a:rect l="l" t="t" r="r" b="b"/>
            <a:pathLst>
              <a:path w="16416" h="19373" extrusionOk="0">
                <a:moveTo>
                  <a:pt x="1231" y="15702"/>
                </a:moveTo>
                <a:cubicBezTo>
                  <a:pt x="-1630" y="9813"/>
                  <a:pt x="740" y="1889"/>
                  <a:pt x="5832" y="314"/>
                </a:cubicBezTo>
                <a:cubicBezTo>
                  <a:pt x="14045" y="-2227"/>
                  <a:pt x="19970" y="11252"/>
                  <a:pt x="13967" y="19373"/>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84" name="Google Shape;984;p101"/>
          <p:cNvSpPr/>
          <p:nvPr/>
        </p:nvSpPr>
        <p:spPr>
          <a:xfrm rot="-2700000">
            <a:off x="2308308" y="200523"/>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chemeClr val="dk1"/>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85" name="Google Shape;985;p101"/>
          <p:cNvSpPr/>
          <p:nvPr/>
        </p:nvSpPr>
        <p:spPr>
          <a:xfrm rot="-2700000">
            <a:off x="4225484" y="210048"/>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8575"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sp>
        <p:nvSpPr>
          <p:cNvPr id="986" name="Google Shape;986;p101"/>
          <p:cNvSpPr/>
          <p:nvPr/>
        </p:nvSpPr>
        <p:spPr>
          <a:xfrm rot="-2700000">
            <a:off x="6152184" y="213401"/>
            <a:ext cx="833982" cy="772242"/>
          </a:xfrm>
          <a:custGeom>
            <a:avLst/>
            <a:gdLst/>
            <a:ahLst/>
            <a:cxnLst/>
            <a:rect l="l" t="t" r="r" b="b"/>
            <a:pathLst>
              <a:path w="15949" h="18437" extrusionOk="0">
                <a:moveTo>
                  <a:pt x="1575" y="14347"/>
                </a:moveTo>
                <a:cubicBezTo>
                  <a:pt x="-1487" y="9670"/>
                  <a:pt x="110" y="2616"/>
                  <a:pt x="4680" y="631"/>
                </a:cubicBezTo>
                <a:cubicBezTo>
                  <a:pt x="13416" y="-3163"/>
                  <a:pt x="20113" y="11090"/>
                  <a:pt x="12877" y="18437"/>
                </a:cubicBezTo>
              </a:path>
            </a:pathLst>
          </a:custGeom>
          <a:noFill/>
          <a:ln w="25400" cap="flat" cmpd="sng">
            <a:solidFill>
              <a:srgbClr val="000000"/>
            </a:solidFill>
            <a:prstDash val="solid"/>
            <a:round/>
            <a:headEnd type="none" w="sm" len="sm"/>
            <a:tailEnd type="none" w="sm" len="sm"/>
          </a:ln>
        </p:spPr>
        <p:txBody>
          <a:bodyPr spcFirstLastPara="1" wrap="square" lIns="34275" tIns="34275" rIns="34275" bIns="34275" anchor="t" anchorCtr="0">
            <a:noAutofit/>
          </a:bodyPr>
          <a:lstStyle/>
          <a:p>
            <a:pPr marL="0" marR="0" lvl="0" indent="0" algn="l" rtl="0">
              <a:lnSpc>
                <a:spcPct val="100000"/>
              </a:lnSpc>
              <a:spcBef>
                <a:spcPts val="0"/>
              </a:spcBef>
              <a:spcAft>
                <a:spcPts val="0"/>
              </a:spcAft>
              <a:buClr>
                <a:srgbClr val="000000"/>
              </a:buClr>
              <a:buSzPts val="1400"/>
              <a:buFont typeface="Calibri"/>
              <a:buNone/>
            </a:pPr>
            <a:endParaRPr sz="1400" b="0" i="0" u="none" strike="noStrike" cap="none">
              <a:solidFill>
                <a:srgbClr val="000000"/>
              </a:solidFill>
              <a:latin typeface="Calibri"/>
              <a:ea typeface="Calibri"/>
              <a:cs typeface="Calibri"/>
              <a:sym typeface="Calibri"/>
            </a:endParaRPr>
          </a:p>
        </p:txBody>
      </p:sp>
      <p:cxnSp>
        <p:nvCxnSpPr>
          <p:cNvPr id="987" name="Google Shape;987;p101"/>
          <p:cNvCxnSpPr/>
          <p:nvPr/>
        </p:nvCxnSpPr>
        <p:spPr>
          <a:xfrm>
            <a:off x="2267183" y="2038227"/>
            <a:ext cx="6264300" cy="0"/>
          </a:xfrm>
          <a:prstGeom prst="straightConnector1">
            <a:avLst/>
          </a:prstGeom>
          <a:noFill/>
          <a:ln w="25400" cap="flat" cmpd="sng">
            <a:solidFill>
              <a:srgbClr val="000000"/>
            </a:solidFill>
            <a:prstDash val="solid"/>
            <a:round/>
            <a:headEnd type="none" w="sm" len="sm"/>
            <a:tailEnd type="none" w="sm" len="sm"/>
          </a:ln>
        </p:spPr>
      </p:cxn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pic>
        <p:nvPicPr>
          <p:cNvPr id="992" name="Google Shape;992;p102" title="AVAR Video3">
            <a:hlinkClick r:id="rId3"/>
          </p:cNvPr>
          <p:cNvPicPr preferRelativeResize="0"/>
          <p:nvPr/>
        </p:nvPicPr>
        <p:blipFill>
          <a:blip r:embed="rId4">
            <a:alphaModFix/>
          </a:blip>
          <a:stretch>
            <a:fillRect/>
          </a:stretch>
        </p:blipFill>
        <p:spPr>
          <a:xfrm>
            <a:off x="0" y="0"/>
            <a:ext cx="9213725" cy="51827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2"/>
                                        </p:tgtEl>
                                        <p:attrNameLst>
                                          <p:attrName>style.visibility</p:attrName>
                                        </p:attrNameLst>
                                      </p:cBhvr>
                                      <p:to>
                                        <p:strVal val="visible"/>
                                      </p:to>
                                    </p:set>
                                    <p:animEffect transition="in" filter="fade">
                                      <p:cBhvr>
                                        <p:cTn id="7" dur="1000"/>
                                        <p:tgtEl>
                                          <p:spTgt spid="9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pic>
        <p:nvPicPr>
          <p:cNvPr id="997" name="Google Shape;997;p103" title="AVAR VideoM">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7"/>
                                        </p:tgtEl>
                                        <p:attrNameLst>
                                          <p:attrName>style.visibility</p:attrName>
                                        </p:attrNameLst>
                                      </p:cBhvr>
                                      <p:to>
                                        <p:strVal val="visible"/>
                                      </p:to>
                                    </p:set>
                                    <p:animEffect transition="in" filter="fade">
                                      <p:cBhvr>
                                        <p:cTn id="7" dur="1000"/>
                                        <p:tgtEl>
                                          <p:spTgt spid="9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04"/>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Estudio Exploratorio con Usuarios</a:t>
            </a:r>
            <a:endParaRPr sz="2400" b="1"/>
          </a:p>
        </p:txBody>
      </p:sp>
      <p:pic>
        <p:nvPicPr>
          <p:cNvPr id="1004" name="Google Shape;1004;p104" descr="study_DIC20.pdf"/>
          <p:cNvPicPr preferRelativeResize="0"/>
          <p:nvPr/>
        </p:nvPicPr>
        <p:blipFill rotWithShape="1">
          <a:blip r:embed="rId3">
            <a:alphaModFix/>
          </a:blip>
          <a:srcRect/>
          <a:stretch/>
        </p:blipFill>
        <p:spPr>
          <a:xfrm>
            <a:off x="5933299" y="831111"/>
            <a:ext cx="2782851" cy="3884871"/>
          </a:xfrm>
          <a:prstGeom prst="rect">
            <a:avLst/>
          </a:prstGeom>
          <a:noFill/>
          <a:ln>
            <a:noFill/>
          </a:ln>
        </p:spPr>
      </p:pic>
      <p:graphicFrame>
        <p:nvGraphicFramePr>
          <p:cNvPr id="1005" name="Google Shape;1005;p104"/>
          <p:cNvGraphicFramePr/>
          <p:nvPr/>
        </p:nvGraphicFramePr>
        <p:xfrm>
          <a:off x="393700" y="1135911"/>
          <a:ext cx="3000000" cy="3000000"/>
        </p:xfrm>
        <a:graphic>
          <a:graphicData uri="http://schemas.openxmlformats.org/drawingml/2006/table">
            <a:tbl>
              <a:tblPr bandRow="1">
                <a:noFill/>
                <a:tableStyleId>{644D82D1-A5CC-4578-84F6-CFC42621E0DF}</a:tableStyleId>
              </a:tblPr>
              <a:tblGrid>
                <a:gridCol w="1258175">
                  <a:extLst>
                    <a:ext uri="{9D8B030D-6E8A-4147-A177-3AD203B41FA5}">
                      <a16:colId xmlns:a16="http://schemas.microsoft.com/office/drawing/2014/main" val="20000"/>
                    </a:ext>
                  </a:extLst>
                </a:gridCol>
                <a:gridCol w="4233800">
                  <a:extLst>
                    <a:ext uri="{9D8B030D-6E8A-4147-A177-3AD203B41FA5}">
                      <a16:colId xmlns:a16="http://schemas.microsoft.com/office/drawing/2014/main" val="20001"/>
                    </a:ext>
                  </a:extLst>
                </a:gridCol>
              </a:tblGrid>
              <a:tr h="363650">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Participantes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7 programadores expertos en Smalltalk</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0"/>
                  </a:ext>
                </a:extLst>
              </a:tr>
              <a:tr h="481900">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Tarea</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Construir una visualización del conjunto de datos usando la técnica de cubos y tiempo </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extLst>
                  <a:ext uri="{0D108BD9-81ED-4DB2-BD59-A6C34878D82A}">
                    <a16:rowId xmlns:a16="http://schemas.microsoft.com/office/drawing/2014/main" val="10001"/>
                  </a:ext>
                </a:extLst>
              </a:tr>
              <a:tr h="442625">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Datos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Conjunto de datos de vinos (~1’000 registros)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2"/>
                  </a:ext>
                </a:extLst>
              </a:tr>
              <a:tr h="452475">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Medio</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Microsoft HoloLens, Teclado Apple Magic  Bluetooth</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E8ECF4"/>
                    </a:solidFill>
                  </a:tcPr>
                </a:tc>
                <a:extLst>
                  <a:ext uri="{0D108BD9-81ED-4DB2-BD59-A6C34878D82A}">
                    <a16:rowId xmlns:a16="http://schemas.microsoft.com/office/drawing/2014/main" val="10003"/>
                  </a:ext>
                </a:extLst>
              </a:tr>
              <a:tr h="1091500">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Análisis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chemeClr val="dk1"/>
                        </a:buClr>
                        <a:buSzPts val="1400"/>
                        <a:buFont typeface="Helvetica Neue"/>
                        <a:buNone/>
                      </a:pPr>
                      <a:r>
                        <a:rPr lang="en-GB" sz="1200" u="none" strike="noStrike" cap="none">
                          <a:latin typeface="Space Mono"/>
                          <a:ea typeface="Space Mono"/>
                          <a:cs typeface="Space Mono"/>
                          <a:sym typeface="Space Mono"/>
                        </a:rPr>
                        <a:t>Grabación en video, registro de interacciones, y cuestionario con impresiones.</a:t>
                      </a:r>
                      <a:endParaRPr sz="300">
                        <a:latin typeface="Space Mono"/>
                        <a:ea typeface="Space Mono"/>
                        <a:cs typeface="Space Mono"/>
                        <a:sym typeface="Space Mono"/>
                      </a:endParaRPr>
                    </a:p>
                  </a:txBody>
                  <a:tcPr marL="0" marR="0" marT="0" marB="0">
                    <a:lnL w="25400" cap="flat" cmpd="sng">
                      <a:solidFill>
                        <a:srgbClr val="FFFFFF"/>
                      </a:solidFill>
                      <a:prstDash val="solid"/>
                      <a:round/>
                      <a:headEnd type="none" w="sm" len="sm"/>
                      <a:tailEnd type="none" w="sm" len="sm"/>
                    </a:lnL>
                    <a:lnR w="25400"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9"/>
        <p:cNvGrpSpPr/>
        <p:nvPr/>
      </p:nvGrpSpPr>
      <p:grpSpPr>
        <a:xfrm>
          <a:off x="0" y="0"/>
          <a:ext cx="0" cy="0"/>
          <a:chOff x="0" y="0"/>
          <a:chExt cx="0" cy="0"/>
        </a:xfrm>
      </p:grpSpPr>
      <p:pic>
        <p:nvPicPr>
          <p:cNvPr id="1010" name="Google Shape;1010;p105" descr="study_DIC20.pdf"/>
          <p:cNvPicPr preferRelativeResize="0"/>
          <p:nvPr/>
        </p:nvPicPr>
        <p:blipFill rotWithShape="1">
          <a:blip r:embed="rId3">
            <a:alphaModFix/>
          </a:blip>
          <a:srcRect/>
          <a:stretch/>
        </p:blipFill>
        <p:spPr>
          <a:xfrm>
            <a:off x="566738" y="-6037101"/>
            <a:ext cx="8010405" cy="11182548"/>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106"/>
          <p:cNvSpPr txBox="1">
            <a:spLocks noGrp="1"/>
          </p:cNvSpPr>
          <p:nvPr>
            <p:ph type="title"/>
          </p:nvPr>
        </p:nvSpPr>
        <p:spPr>
          <a:xfrm>
            <a:off x="311700" y="445025"/>
            <a:ext cx="8520600" cy="572700"/>
          </a:xfrm>
          <a:prstGeom prst="rect">
            <a:avLst/>
          </a:prstGeom>
          <a:noFill/>
          <a:ln>
            <a:noFill/>
          </a:ln>
        </p:spPr>
        <p:txBody>
          <a:bodyPr spcFirstLastPara="1" wrap="square" lIns="34275" tIns="34275" rIns="34275" bIns="34275" anchor="ctr" anchorCtr="0">
            <a:normAutofit/>
          </a:bodyPr>
          <a:lstStyle/>
          <a:p>
            <a:pPr marL="0" lvl="0" indent="0" algn="l" rtl="0">
              <a:lnSpc>
                <a:spcPct val="100000"/>
              </a:lnSpc>
              <a:spcBef>
                <a:spcPts val="0"/>
              </a:spcBef>
              <a:spcAft>
                <a:spcPts val="0"/>
              </a:spcAft>
              <a:buClr>
                <a:srgbClr val="376092"/>
              </a:buClr>
              <a:buSzPts val="2400"/>
              <a:buFont typeface="Helvetica Neue Light"/>
              <a:buNone/>
            </a:pPr>
            <a:r>
              <a:rPr lang="en-GB" sz="2400" b="1"/>
              <a:t>Conclusión</a:t>
            </a:r>
            <a:endParaRPr sz="2400" b="1"/>
          </a:p>
        </p:txBody>
      </p:sp>
      <p:sp>
        <p:nvSpPr>
          <p:cNvPr id="1016" name="Google Shape;1016;p106"/>
          <p:cNvSpPr txBox="1">
            <a:spLocks noGrp="1"/>
          </p:cNvSpPr>
          <p:nvPr>
            <p:ph type="body" idx="4294967295"/>
          </p:nvPr>
        </p:nvSpPr>
        <p:spPr>
          <a:xfrm>
            <a:off x="247650" y="1331650"/>
            <a:ext cx="7401000" cy="2945100"/>
          </a:xfrm>
          <a:prstGeom prst="rect">
            <a:avLst/>
          </a:prstGeom>
          <a:noFill/>
          <a:ln>
            <a:noFill/>
          </a:ln>
        </p:spPr>
        <p:txBody>
          <a:bodyPr spcFirstLastPara="1" wrap="square" lIns="34275" tIns="34275" rIns="34275" bIns="34275" anchor="t" anchorCtr="0">
            <a:noAutofit/>
          </a:bodyPr>
          <a:lstStyle/>
          <a:p>
            <a:pPr marL="254000" lvl="0" indent="-241300" algn="l" rtl="0">
              <a:lnSpc>
                <a:spcPct val="100000"/>
              </a:lnSpc>
              <a:spcBef>
                <a:spcPts val="0"/>
              </a:spcBef>
              <a:spcAft>
                <a:spcPts val="0"/>
              </a:spcAft>
              <a:buSzPts val="1600"/>
              <a:buChar char="●"/>
            </a:pPr>
            <a:r>
              <a:rPr lang="en-GB" sz="1600"/>
              <a:t>Los usuarios se beneficiaron de la </a:t>
            </a:r>
            <a:r>
              <a:rPr lang="en-GB" sz="1600" b="1"/>
              <a:t>expresividad</a:t>
            </a:r>
            <a:r>
              <a:rPr lang="en-GB" sz="1600"/>
              <a:t> de la herramienta en ejemplos y funciones para crear y modificar visualizaciones </a:t>
            </a:r>
            <a:endParaRPr sz="1600"/>
          </a:p>
          <a:p>
            <a:pPr marL="254000" lvl="0" indent="-241300" algn="l" rtl="0">
              <a:lnSpc>
                <a:spcPct val="100000"/>
              </a:lnSpc>
              <a:spcBef>
                <a:spcPts val="500"/>
              </a:spcBef>
              <a:spcAft>
                <a:spcPts val="0"/>
              </a:spcAft>
              <a:buSzPts val="1600"/>
              <a:buChar char="●"/>
            </a:pPr>
            <a:r>
              <a:rPr lang="en-GB" sz="1600"/>
              <a:t>La herramienta </a:t>
            </a:r>
            <a:r>
              <a:rPr lang="en-GB" sz="1600" b="1"/>
              <a:t>comprehensiva</a:t>
            </a:r>
            <a:r>
              <a:rPr lang="en-GB" sz="1600"/>
              <a:t> permitió a los usuarios mantener la inmersión en realidad aumentada en largas sesiones (&gt;1.5 hrs.)  </a:t>
            </a:r>
            <a:endParaRPr sz="1600"/>
          </a:p>
          <a:p>
            <a:pPr marL="254000" lvl="0" indent="-241300" algn="l" rtl="0">
              <a:lnSpc>
                <a:spcPct val="100000"/>
              </a:lnSpc>
              <a:spcBef>
                <a:spcPts val="500"/>
              </a:spcBef>
              <a:spcAft>
                <a:spcPts val="0"/>
              </a:spcAft>
              <a:buSzPts val="1600"/>
              <a:buChar char="●"/>
            </a:pPr>
            <a:r>
              <a:rPr lang="en-GB" sz="1600"/>
              <a:t>Las sesiones fueron altamente interactivas gracias a la facilidad de aplicar cambios </a:t>
            </a:r>
            <a:r>
              <a:rPr lang="en-GB" sz="1600" b="1"/>
              <a:t>en tiempo real</a:t>
            </a:r>
            <a:r>
              <a:rPr lang="en-GB" sz="1600"/>
              <a:t>  </a:t>
            </a:r>
            <a:endParaRPr sz="16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pic>
        <p:nvPicPr>
          <p:cNvPr id="1021" name="Google Shape;1021;p107" descr="Image"/>
          <p:cNvPicPr preferRelativeResize="0"/>
          <p:nvPr/>
        </p:nvPicPr>
        <p:blipFill rotWithShape="1">
          <a:blip r:embed="rId3">
            <a:alphaModFix/>
          </a:blip>
          <a:srcRect/>
          <a:stretch/>
        </p:blipFill>
        <p:spPr>
          <a:xfrm>
            <a:off x="887300" y="198975"/>
            <a:ext cx="7369399" cy="4639024"/>
          </a:xfrm>
          <a:prstGeom prst="rect">
            <a:avLst/>
          </a:prstGeom>
          <a:noFill/>
          <a:ln>
            <a:noFill/>
          </a:ln>
        </p:spPr>
      </p:pic>
      <p:sp>
        <p:nvSpPr>
          <p:cNvPr id="1022" name="Google Shape;1022;p107"/>
          <p:cNvSpPr txBox="1"/>
          <p:nvPr/>
        </p:nvSpPr>
        <p:spPr>
          <a:xfrm>
            <a:off x="1687422" y="4788535"/>
            <a:ext cx="5946300" cy="315600"/>
          </a:xfrm>
          <a:prstGeom prst="rect">
            <a:avLst/>
          </a:prstGeom>
          <a:noFill/>
          <a:ln>
            <a:noFill/>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51990"/>
              </a:buClr>
              <a:buSzPts val="2300"/>
              <a:buFont typeface="Calibri"/>
              <a:buNone/>
            </a:pPr>
            <a:r>
              <a:rPr lang="en-GB" sz="1600" i="0" u="none" strike="noStrike" cap="none">
                <a:solidFill>
                  <a:schemeClr val="dk1"/>
                </a:solidFill>
                <a:latin typeface="Space Mono"/>
                <a:ea typeface="Space Mono"/>
                <a:cs typeface="Space Mono"/>
                <a:sym typeface="Space Mono"/>
              </a:rPr>
              <a:t>http://creativecommons.org/licenses/by-sa/4.0/ </a:t>
            </a:r>
            <a:endParaRPr sz="1600" i="0" u="none" strike="noStrike" cap="none">
              <a:solidFill>
                <a:schemeClr val="dk1"/>
              </a:solidFill>
              <a:latin typeface="Space Mono"/>
              <a:ea typeface="Space Mono"/>
              <a:cs typeface="Space Mono"/>
              <a:sym typeface="Space Mono"/>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Cierre del caso AVAR</a:t>
            </a:r>
          </a:p>
        </p:txBody>
      </p:sp>
      <p:sp>
        <p:nvSpPr>
          <p:cNvPr id="3" name="Text Placeholder 2"/>
          <p:cNvSpPr>
            <a:spLocks noGrp="1"/>
          </p:cNvSpPr>
          <p:nvPr>
            <p:ph type="body" idx="1"/>
          </p:nvPr>
        </p:nvSpPr>
        <p:spPr/>
        <p:txBody>
          <a:bodyPr/>
          <a:lstStyle/>
          <a:p>
            <a:r>
              <a:t>AVAR muestra que se puede crear y modificar visualizaciones situadas en AR en tiempo real, sin salir de la inmersión</a:t>
            </a:r>
          </a:p>
          <a:p>
            <a:r>
              <a:t>Lo que funcionó: expresividad (ejemplos y funciones) y sesiones largas (&gt;1,5 hrs.) e interactivas</a:t>
            </a:r>
          </a:p>
          <a:p>
            <a:r>
              <a:t>Limitación: estudio pequeño (7 usuarios) y herramienta de nicho (HoloLens + Pharo)</a:t>
            </a:r>
          </a:p>
          <a:p>
            <a:r>
              <a:t>Idea para llevarse: la visualización situada es útil cuando la información se ve en el lugar y el momento donde se necesita</a:t>
            </a:r>
          </a:p>
          <a:p>
            <a:r>
              <a:t>Pregunta para discutir: ¿qué otra tarea se beneficiaría de ver datos directamente sobre el entorno?</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Aplicación a nuestro proyecto: Percepción a Escala Real</a:t>
            </a:r>
          </a:p>
        </p:txBody>
      </p:sp>
      <p:sp>
        <p:nvSpPr>
          <p:cNvPr id="3" name="Text Placeholder 2"/>
          <p:cNvSpPr>
            <a:spLocks noGrp="1"/>
          </p:cNvSpPr>
          <p:nvPr>
            <p:ph type="body" idx="1"/>
          </p:nvPr>
        </p:nvSpPr>
        <p:spPr/>
        <p:txBody>
          <a:bodyPr/>
          <a:lstStyle/>
          <a:p>
            <a:r>
              <a:t>Nuestro simulador VR (Quest 3 + Unity) enseña a juzgar el tamaño del vehículo y las distancias a obstáculos</a:t>
            </a:r>
          </a:p>
          <a:p>
            <a:r>
              <a:t>Visualización situada: el HUD de distancia y las etiquetas se muestran sobre el propio vehículo y el obstáculo, donde el usuario mira</a:t>
            </a:r>
          </a:p>
          <a:p>
            <a:r>
              <a:t>Módulo de distancia por raycasting: calcula la distancia a las esquinas y la muestra en vivo (HUD y audio)</a:t>
            </a:r>
          </a:p>
          <a:p>
            <a:r>
              <a:t>Como en AVAR, la información cambia en tiempo real según la acción del usuario</a:t>
            </a:r>
          </a:p>
          <a:p>
            <a:r>
              <a:t>Cuidado (lección de la clase): demasiadas etiquetas saturan la vista, así que hay que filtrar y mostrar solo lo relevante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7C8AFF"/>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5180</Words>
  <Application>Microsoft Macintosh PowerPoint</Application>
  <PresentationFormat>On-screen Show (16:9)</PresentationFormat>
  <Paragraphs>631</Paragraphs>
  <Slides>80</Slides>
  <Notes>80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80</vt:i4>
      </vt:variant>
    </vt:vector>
  </HeadingPairs>
  <TitlesOfParts>
    <vt:vector size="87" baseType="lpstr">
      <vt:lpstr>Times</vt:lpstr>
      <vt:lpstr>Calibri</vt:lpstr>
      <vt:lpstr>Helvetica Neue</vt:lpstr>
      <vt:lpstr>Space Mono</vt:lpstr>
      <vt:lpstr>Helvetica Neue Light</vt:lpstr>
      <vt:lpstr>Arial</vt:lpstr>
      <vt:lpstr>Simple Light</vt:lpstr>
      <vt:lpstr>PowerPoint Presentation</vt:lpstr>
      <vt:lpstr>PowerPoint Presentation</vt:lpstr>
      <vt:lpstr>PowerPoint Presentation</vt:lpstr>
      <vt:lpstr>Clasificación de las plantas</vt:lpstr>
      <vt:lpstr>Visualización de AR no situada</vt:lpstr>
      <vt:lpstr>Visualización de datos hidrológicos</vt:lpstr>
      <vt:lpstr>PowerPoint Presentation</vt:lpstr>
      <vt:lpstr>Resaltar objetos y piezas</vt:lpstr>
      <vt:lpstr>Administrar la vista</vt:lpstr>
      <vt:lpstr>Calidad de las etiquetas internas</vt:lpstr>
      <vt:lpstr>Visualización del nivel de error</vt:lpstr>
      <vt:lpstr>Visualización del nivel de error</vt:lpstr>
      <vt:lpstr>Legibilidad de las etiquetas</vt:lpstr>
      <vt:lpstr>Discriminación automática del fondo</vt:lpstr>
      <vt:lpstr>Saliencia para la gestión de la vista</vt:lpstr>
      <vt:lpstr>Detección de puntos de interés para la gestión de vistas</vt:lpstr>
      <vt:lpstr>Colocación de etiquetas temporalmente incoherentes</vt:lpstr>
      <vt:lpstr>Cruce de las líneas guía</vt:lpstr>
      <vt:lpstr>Colocación de etiquetas temporalmente coherente</vt:lpstr>
      <vt:lpstr>Hacer visible lo invisible</vt:lpstr>
      <vt:lpstr>Transparencia</vt:lpstr>
      <vt:lpstr>Ghosting</vt:lpstr>
      <vt:lpstr>Ghosting Car</vt:lpstr>
      <vt:lpstr>Fantasmas transparentes</vt:lpstr>
      <vt:lpstr>Problemas con la fusión simple</vt:lpstr>
      <vt:lpstr>Recortes</vt:lpstr>
      <vt:lpstr>Vistas de los cortes</vt:lpstr>
      <vt:lpstr>Formas de recorte</vt:lpstr>
      <vt:lpstr>Problemas de corte</vt:lpstr>
      <vt:lpstr>Conservas discretas frente a continuas</vt:lpstr>
      <vt:lpstr>Problemas con la preservación del contexto</vt:lpstr>
      <vt:lpstr>Visualización: Fantasmas basados en imágenes</vt:lpstr>
      <vt:lpstr>Motivación</vt:lpstr>
      <vt:lpstr>Motivación</vt:lpstr>
      <vt:lpstr>Explosiones de texturas en vídeo</vt:lpstr>
      <vt:lpstr>Mundo curvo</vt:lpstr>
      <vt:lpstr>Filtrado espacial: Lentes mágicas</vt:lpstr>
      <vt:lpstr>Túnel de rayos X</vt:lpstr>
      <vt:lpstr>Lente de rayos X Hígado</vt:lpstr>
      <vt:lpstr>Filtrado basado en el conocimiento</vt:lpstr>
      <vt:lpstr>Filtrado por contexto desde el gráfico de la escena</vt:lpstr>
      <vt:lpstr>Agrupación jerárquica de etiquetas</vt:lpstr>
      <vt:lpstr>PowerPoint Presentation</vt:lpstr>
      <vt:lpstr>¿Qué es la analítica inmersiva?</vt:lpstr>
      <vt:lpstr>La AI ofrece varias oportunidades </vt:lpstr>
      <vt:lpstr>¿Cuándo son útiles las técnicas de análisis inmersivo?</vt:lpstr>
      <vt:lpstr>¿Es hora de reconsiderar el valor del 3D para la visualización de la información?</vt:lpstr>
      <vt:lpstr>Hay varias razones para adoptar la analítica inmersiva </vt:lpstr>
      <vt:lpstr>En resumen</vt:lpstr>
      <vt:lpstr>Ejemplos</vt:lpstr>
      <vt:lpstr>PowerPoint Presentation</vt:lpstr>
      <vt:lpstr>Ejemplos</vt:lpstr>
      <vt:lpstr>Ejemplos</vt:lpstr>
      <vt:lpstr>Ejemplos</vt:lpstr>
      <vt:lpstr>PowerPoint Presentation</vt:lpstr>
      <vt:lpstr>Problema</vt:lpstr>
      <vt:lpstr>Herramientas Existentes de Visualización Situada</vt:lpstr>
      <vt:lpstr>Herramientas Existentes de Visualización Situada</vt:lpstr>
      <vt:lpstr>Arquitectura Propuesta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Modelo de Referencia de Visualización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Estudio Exploratorio con Usuarios</vt:lpstr>
      <vt:lpstr>PowerPoint Presentation</vt:lpstr>
      <vt:lpstr>Conclusión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Leonel Merino</cp:lastModifiedBy>
  <cp:revision>1</cp:revision>
  <dcterms:modified xsi:type="dcterms:W3CDTF">2026-08-24T21:24:56Z</dcterms:modified>
</cp:coreProperties>
</file>